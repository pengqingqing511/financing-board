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9"/>
  </p:handoutMasterIdLst>
  <p:sldIdLst>
    <p:sldId id="256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334" r:id="rId36"/>
    <p:sldId id="295" r:id="rId37"/>
    <p:sldId id="296" r:id="rId38"/>
    <p:sldId id="297" r:id="rId39"/>
    <p:sldId id="298" r:id="rId40"/>
    <p:sldId id="331" r:id="rId41"/>
    <p:sldId id="301" r:id="rId42"/>
    <p:sldId id="302" r:id="rId43"/>
    <p:sldId id="303" r:id="rId44"/>
    <p:sldId id="333" r:id="rId45"/>
    <p:sldId id="305" r:id="rId46"/>
    <p:sldId id="306" r:id="rId47"/>
    <p:sldId id="332" r:id="rId48"/>
    <p:sldId id="309" r:id="rId49"/>
    <p:sldId id="310" r:id="rId50"/>
    <p:sldId id="311" r:id="rId51"/>
    <p:sldId id="312" r:id="rId52"/>
    <p:sldId id="335" r:id="rId53"/>
    <p:sldId id="314" r:id="rId54"/>
    <p:sldId id="315" r:id="rId55"/>
    <p:sldId id="336" r:id="rId56"/>
    <p:sldId id="338" r:id="rId57"/>
    <p:sldId id="317" r:id="rId58"/>
    <p:sldId id="318" r:id="rId59"/>
    <p:sldId id="319" r:id="rId60"/>
    <p:sldId id="320" r:id="rId61"/>
    <p:sldId id="321" r:id="rId62"/>
    <p:sldId id="337" r:id="rId63"/>
    <p:sldId id="323" r:id="rId64"/>
    <p:sldId id="324" r:id="rId65"/>
    <p:sldId id="339" r:id="rId66"/>
    <p:sldId id="340" r:id="rId67"/>
    <p:sldId id="341" r:id="rId6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37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  <p:cmAuthor id="2" name="lenovo" initials="l" lastIdx="7" clrIdx="1"/>
  <p:cmAuthor id="3" name="admin" initials="admin" lastIdx="1" clrIdx="2"/>
  <p:cmAuthor id="0" name="koalafeng" initials="k" lastIdx="1" clrIdx="0"/>
  <p:cmAuthor id="4" name="Windows 用户" initials="W用" lastIdx="1" clrIdx="3"/>
  <p:cmAuthor id="5" name="Microsoft Office User" initials="Office" lastIdx="1" clrIdx="4"/>
  <p:cmAuthor id="6" name="李文塔" initials="李文塔" lastIdx="5" clrIdx="5"/>
  <p:cmAuthor id="7" name="苏启瞳" initials="苏启瞳" lastIdx="1" clrIdx="6"/>
  <p:cmAuthor id="8" name="贺远" initials="贺远" lastIdx="1" clrIdx="7"/>
  <p:cmAuthor id="9" name="杨冬韵" initials="杨冬韵" lastIdx="1" clrIdx="8"/>
  <p:cmAuthor id="10" name="vitokowk" initials="v" lastIdx="1" clrIdx="0"/>
  <p:cmAuthor id="11" name="xurunmeng" initials="xrm" lastIdx="1" clrIdx="10"/>
  <p:cmAuthor id="13" name="86135" initials="8" lastIdx="1" clrIdx="12"/>
  <p:cmAuthor id="14" name="linjiajie" initials="l" lastIdx="1" clrIdx="13"/>
  <p:cmAuthor id="15" name="wanglei3" initials="w" lastIdx="1" clrIdx="14"/>
  <p:cmAuthor id="16" name="未知用户22" initials="未知用户22" lastIdx="1" clrIdx="0"/>
  <p:cmAuthor id="18" name="LuMeyer" initials="L" lastIdx="2" clrIdx="0"/>
  <p:cmAuthor id="21" name="hanwei" initials="h" lastIdx="1" clrIdx="15"/>
  <p:cmAuthor id="25" name="xiaosenren" initials="x" lastIdx="2" clrIdx="24"/>
  <p:cmAuthor id="27" name="liyunjian" initials="l" lastIdx="1" clrIdx="26"/>
  <p:cmAuthor id="31" name="za-jijingting" initials="z" lastIdx="1" clrIdx="30"/>
  <p:cmAuthor id="32" name="Sicheng Wang" initials="SW" lastIdx="21" clrIdx="31"/>
  <p:cmAuthor id="75" name="作者" initials="A" lastIdx="0" clrIdx="24"/>
  <p:cmAuthor id="33" name="za-chuweiguo" initials="z" lastIdx="1" clrIdx="32"/>
  <p:cmAuthor id="76" name="Wurui (Ray)" initials="W(" lastIdx="1" clrIdx="25"/>
  <p:cmAuthor id="77" name="家华 胡" initials="家华" lastIdx="1" clrIdx="33"/>
  <p:cmAuthor id="12" name="songshiqi" initials="s" lastIdx="0" clrIdx="11"/>
  <p:cmAuthor id="28" name="xuyang liu" initials="xl" lastIdx="0" clrIdx="27"/>
  <p:cmAuthor id="209818959" name="Hadean" initials="H" lastIdx="1" clrIdx="2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01"/>
        <p:guide pos="378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3" Type="http://schemas.openxmlformats.org/officeDocument/2006/relationships/commentAuthors" Target="commentAuthors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4.xml"/><Relationship Id="rId69" Type="http://schemas.openxmlformats.org/officeDocument/2006/relationships/handoutMaster" Target="handoutMasters/handoutMaster1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0"/>
            <a:ext cx="11753850" cy="6855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627" y="4432"/>
            <a:ext cx="6874592" cy="6858000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60325" y="635"/>
            <a:ext cx="4784090" cy="6737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3" name="任意多边形 12"/>
          <p:cNvSpPr/>
          <p:nvPr/>
        </p:nvSpPr>
        <p:spPr>
          <a:xfrm rot="16200000">
            <a:off x="3753139" y="1315726"/>
            <a:ext cx="6858000" cy="422655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6656">
                <a:moveTo>
                  <a:pt x="10800" y="4693"/>
                </a:moveTo>
                <a:lnTo>
                  <a:pt x="10800" y="6656"/>
                </a:lnTo>
                <a:lnTo>
                  <a:pt x="5401" y="3566"/>
                </a:lnTo>
                <a:lnTo>
                  <a:pt x="0" y="6656"/>
                </a:lnTo>
                <a:lnTo>
                  <a:pt x="0" y="3090"/>
                </a:lnTo>
                <a:lnTo>
                  <a:pt x="5401" y="0"/>
                </a:lnTo>
                <a:lnTo>
                  <a:pt x="10800" y="3090"/>
                </a:lnTo>
                <a:lnTo>
                  <a:pt x="10800" y="4693"/>
                </a:lnTo>
                <a:close/>
              </a:path>
            </a:pathLst>
          </a:custGeom>
          <a:gradFill>
            <a:gsLst>
              <a:gs pos="0">
                <a:srgbClr val="BCBEC0">
                  <a:alpha val="17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4" name="等腰三角形 13"/>
          <p:cNvSpPr/>
          <p:nvPr/>
        </p:nvSpPr>
        <p:spPr>
          <a:xfrm>
            <a:off x="6086770" y="4535170"/>
            <a:ext cx="2726690" cy="2322830"/>
          </a:xfrm>
          <a:prstGeom prst="triangle">
            <a:avLst/>
          </a:pr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8" name="等腰三角形 17"/>
          <p:cNvSpPr/>
          <p:nvPr/>
        </p:nvSpPr>
        <p:spPr>
          <a:xfrm flipV="1">
            <a:off x="6086770" y="0"/>
            <a:ext cx="2726690" cy="2322830"/>
          </a:xfrm>
          <a:prstGeom prst="triangle">
            <a:avLst/>
          </a:pr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9" name="任意多边形 18"/>
          <p:cNvSpPr/>
          <p:nvPr/>
        </p:nvSpPr>
        <p:spPr>
          <a:xfrm rot="16200000">
            <a:off x="4932017" y="1824678"/>
            <a:ext cx="6858000" cy="3208645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5053">
                <a:moveTo>
                  <a:pt x="0" y="3090"/>
                </a:moveTo>
                <a:lnTo>
                  <a:pt x="5401" y="0"/>
                </a:lnTo>
                <a:lnTo>
                  <a:pt x="10800" y="3090"/>
                </a:lnTo>
                <a:lnTo>
                  <a:pt x="10800" y="5053"/>
                </a:lnTo>
                <a:lnTo>
                  <a:pt x="5401" y="1963"/>
                </a:lnTo>
                <a:lnTo>
                  <a:pt x="0" y="5053"/>
                </a:lnTo>
                <a:lnTo>
                  <a:pt x="0" y="30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20" name="任意多边形 19"/>
          <p:cNvSpPr/>
          <p:nvPr/>
        </p:nvSpPr>
        <p:spPr>
          <a:xfrm rot="16200000">
            <a:off x="4788507" y="1824678"/>
            <a:ext cx="6858000" cy="3208645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5053">
                <a:moveTo>
                  <a:pt x="0" y="3090"/>
                </a:moveTo>
                <a:lnTo>
                  <a:pt x="5401" y="0"/>
                </a:lnTo>
                <a:lnTo>
                  <a:pt x="10800" y="3090"/>
                </a:lnTo>
                <a:lnTo>
                  <a:pt x="10800" y="5053"/>
                </a:lnTo>
                <a:lnTo>
                  <a:pt x="5401" y="1963"/>
                </a:lnTo>
                <a:lnTo>
                  <a:pt x="0" y="5053"/>
                </a:lnTo>
                <a:lnTo>
                  <a:pt x="0" y="3090"/>
                </a:lnTo>
                <a:close/>
              </a:path>
            </a:pathLst>
          </a:cu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21" name="任意多边形 20"/>
          <p:cNvSpPr/>
          <p:nvPr/>
        </p:nvSpPr>
        <p:spPr>
          <a:xfrm rot="16200000">
            <a:off x="6574398" y="142554"/>
            <a:ext cx="2142210" cy="185710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3374" h="2925">
                <a:moveTo>
                  <a:pt x="1693" y="0"/>
                </a:moveTo>
                <a:lnTo>
                  <a:pt x="3374" y="962"/>
                </a:lnTo>
                <a:lnTo>
                  <a:pt x="3374" y="2925"/>
                </a:lnTo>
                <a:lnTo>
                  <a:pt x="0" y="994"/>
                </a:lnTo>
                <a:lnTo>
                  <a:pt x="1693" y="0"/>
                </a:lnTo>
                <a:close/>
              </a:path>
            </a:pathLst>
          </a:custGeom>
          <a:gradFill>
            <a:gsLst>
              <a:gs pos="68000">
                <a:schemeClr val="tx1"/>
              </a:gs>
              <a:gs pos="57000">
                <a:schemeClr val="tx1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22" name="任意多边形 21"/>
          <p:cNvSpPr/>
          <p:nvPr/>
        </p:nvSpPr>
        <p:spPr>
          <a:xfrm rot="5400000" flipV="1">
            <a:off x="6577573" y="4854889"/>
            <a:ext cx="2142210" cy="185710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3374" h="2925">
                <a:moveTo>
                  <a:pt x="1693" y="0"/>
                </a:moveTo>
                <a:lnTo>
                  <a:pt x="3374" y="962"/>
                </a:lnTo>
                <a:lnTo>
                  <a:pt x="3374" y="2925"/>
                </a:lnTo>
                <a:lnTo>
                  <a:pt x="0" y="994"/>
                </a:lnTo>
                <a:lnTo>
                  <a:pt x="1693" y="0"/>
                </a:lnTo>
                <a:close/>
              </a:path>
            </a:pathLst>
          </a:custGeom>
          <a:gradFill>
            <a:gsLst>
              <a:gs pos="68000">
                <a:schemeClr val="tx1"/>
              </a:gs>
              <a:gs pos="57000">
                <a:schemeClr val="tx1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23" name="副标题 14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13080" y="1436370"/>
            <a:ext cx="4098925" cy="1624330"/>
          </a:xfrm>
          <a:prstGeom prst="rect">
            <a:avLst/>
          </a:prstGeom>
          <a:effectLst/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汉仪雅酷黑-95J" panose="00020600040101010101" charset="-122"/>
                <a:ea typeface="汉仪雅酷黑-95J" panose="00020600040101010101" charset="-122"/>
                <a:cs typeface="汉仪雅酷黑-95J" panose="00020600040101010101" charset="-122"/>
                <a:sym typeface="+mn-ea"/>
              </a:rPr>
              <a:t> </a:t>
            </a:r>
            <a:endParaRPr kumimoji="0" lang="en-US" altLang="zh-CN" sz="2800" b="0" i="0" u="none" strike="noStrike" kern="1200" cap="none" spc="150" normalizeH="0" baseline="0" noProof="1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雅酷黑-95J" panose="00020600040101010101" charset="-122"/>
              <a:ea typeface="汉仪雅酷黑-95J" panose="00020600040101010101" charset="-122"/>
              <a:cs typeface="汉仪雅酷黑-95J" panose="00020600040101010101" charset="-122"/>
              <a:sym typeface="+mn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4682"/>
            <a:ext cx="2504128" cy="51069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直角三角形 30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32" name="直角三角形 31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297" y="5317"/>
            <a:ext cx="2504128" cy="51069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77888" y="2370207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297" y="237"/>
            <a:ext cx="2504128" cy="51069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258" y="83427"/>
            <a:ext cx="2504128" cy="510696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298174" y="7081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540" y="0"/>
            <a:ext cx="11753850" cy="6855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627" y="4432"/>
            <a:ext cx="6874592" cy="6858000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3368737" y="0"/>
            <a:ext cx="4093845" cy="6865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1" name="任意多边形 10"/>
          <p:cNvSpPr/>
          <p:nvPr/>
        </p:nvSpPr>
        <p:spPr>
          <a:xfrm rot="16200000">
            <a:off x="3753139" y="1315726"/>
            <a:ext cx="6858000" cy="422655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6656">
                <a:moveTo>
                  <a:pt x="10800" y="4693"/>
                </a:moveTo>
                <a:lnTo>
                  <a:pt x="10800" y="6656"/>
                </a:lnTo>
                <a:lnTo>
                  <a:pt x="5401" y="3566"/>
                </a:lnTo>
                <a:lnTo>
                  <a:pt x="0" y="6656"/>
                </a:lnTo>
                <a:lnTo>
                  <a:pt x="0" y="3090"/>
                </a:lnTo>
                <a:lnTo>
                  <a:pt x="5401" y="0"/>
                </a:lnTo>
                <a:lnTo>
                  <a:pt x="10800" y="3090"/>
                </a:lnTo>
                <a:lnTo>
                  <a:pt x="10800" y="4693"/>
                </a:lnTo>
                <a:close/>
              </a:path>
            </a:pathLst>
          </a:custGeom>
          <a:gradFill>
            <a:gsLst>
              <a:gs pos="0">
                <a:srgbClr val="BCBEC0">
                  <a:alpha val="17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6086770" y="4535170"/>
            <a:ext cx="2726690" cy="2322830"/>
          </a:xfrm>
          <a:prstGeom prst="triangle">
            <a:avLst/>
          </a:pr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9" name="等腰三角形 8"/>
          <p:cNvSpPr/>
          <p:nvPr/>
        </p:nvSpPr>
        <p:spPr>
          <a:xfrm flipV="1">
            <a:off x="6086770" y="0"/>
            <a:ext cx="2726690" cy="2322830"/>
          </a:xfrm>
          <a:prstGeom prst="triangle">
            <a:avLst/>
          </a:pr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7" name="任意多边形 6"/>
          <p:cNvSpPr/>
          <p:nvPr/>
        </p:nvSpPr>
        <p:spPr>
          <a:xfrm rot="16200000">
            <a:off x="4932017" y="1824678"/>
            <a:ext cx="6858000" cy="3208645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5053">
                <a:moveTo>
                  <a:pt x="0" y="3090"/>
                </a:moveTo>
                <a:lnTo>
                  <a:pt x="5401" y="0"/>
                </a:lnTo>
                <a:lnTo>
                  <a:pt x="10800" y="3090"/>
                </a:lnTo>
                <a:lnTo>
                  <a:pt x="10800" y="5053"/>
                </a:lnTo>
                <a:lnTo>
                  <a:pt x="5401" y="1963"/>
                </a:lnTo>
                <a:lnTo>
                  <a:pt x="0" y="5053"/>
                </a:lnTo>
                <a:lnTo>
                  <a:pt x="0" y="30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6" name="任意多边形 5"/>
          <p:cNvSpPr/>
          <p:nvPr/>
        </p:nvSpPr>
        <p:spPr>
          <a:xfrm rot="16200000">
            <a:off x="4788507" y="1824678"/>
            <a:ext cx="6858000" cy="3208645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5053">
                <a:moveTo>
                  <a:pt x="0" y="3090"/>
                </a:moveTo>
                <a:lnTo>
                  <a:pt x="5401" y="0"/>
                </a:lnTo>
                <a:lnTo>
                  <a:pt x="10800" y="3090"/>
                </a:lnTo>
                <a:lnTo>
                  <a:pt x="10800" y="5053"/>
                </a:lnTo>
                <a:lnTo>
                  <a:pt x="5401" y="1963"/>
                </a:lnTo>
                <a:lnTo>
                  <a:pt x="0" y="5053"/>
                </a:lnTo>
                <a:lnTo>
                  <a:pt x="0" y="3090"/>
                </a:lnTo>
                <a:close/>
              </a:path>
            </a:pathLst>
          </a:cu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任意多边形 14"/>
          <p:cNvSpPr/>
          <p:nvPr/>
        </p:nvSpPr>
        <p:spPr>
          <a:xfrm rot="16200000">
            <a:off x="6574398" y="142554"/>
            <a:ext cx="2142210" cy="185710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3374" h="2925">
                <a:moveTo>
                  <a:pt x="1693" y="0"/>
                </a:moveTo>
                <a:lnTo>
                  <a:pt x="3374" y="962"/>
                </a:lnTo>
                <a:lnTo>
                  <a:pt x="3374" y="2925"/>
                </a:lnTo>
                <a:lnTo>
                  <a:pt x="0" y="994"/>
                </a:lnTo>
                <a:lnTo>
                  <a:pt x="1693" y="0"/>
                </a:lnTo>
                <a:close/>
              </a:path>
            </a:pathLst>
          </a:custGeom>
          <a:gradFill>
            <a:gsLst>
              <a:gs pos="68000">
                <a:schemeClr val="tx1"/>
              </a:gs>
              <a:gs pos="57000">
                <a:schemeClr val="tx1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21" name="任意多边形 20"/>
          <p:cNvSpPr/>
          <p:nvPr/>
        </p:nvSpPr>
        <p:spPr>
          <a:xfrm rot="5400000" flipV="1">
            <a:off x="6577573" y="4854889"/>
            <a:ext cx="2142210" cy="185710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3374" h="2925">
                <a:moveTo>
                  <a:pt x="1693" y="0"/>
                </a:moveTo>
                <a:lnTo>
                  <a:pt x="3374" y="962"/>
                </a:lnTo>
                <a:lnTo>
                  <a:pt x="3374" y="2925"/>
                </a:lnTo>
                <a:lnTo>
                  <a:pt x="0" y="994"/>
                </a:lnTo>
                <a:lnTo>
                  <a:pt x="1693" y="0"/>
                </a:lnTo>
                <a:close/>
              </a:path>
            </a:pathLst>
          </a:custGeom>
          <a:gradFill>
            <a:gsLst>
              <a:gs pos="68000">
                <a:schemeClr val="tx1"/>
              </a:gs>
              <a:gs pos="57000">
                <a:schemeClr val="tx1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8" name="副标题 14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913948" y="3822644"/>
            <a:ext cx="2974079" cy="749740"/>
          </a:xfrm>
          <a:prstGeom prst="rect">
            <a:avLst/>
          </a:prstGeom>
          <a:effectLst/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400" b="0" i="0" u="none" strike="noStrike" kern="1200" cap="none" spc="150" normalizeH="0" baseline="0" noProof="1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95J" panose="00020600040101010101" charset="-122"/>
                <a:sym typeface="+mn-ea"/>
              </a:rPr>
              <a:t>THANKS   </a:t>
            </a:r>
            <a:endParaRPr kumimoji="0" lang="en-US" altLang="zh-CN" sz="4400" b="0" i="0" u="none" strike="noStrike" kern="1200" cap="none" spc="150" normalizeH="0" baseline="0" noProof="1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95J" panose="00020600040101010101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26660" y="2909818"/>
            <a:ext cx="2991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谢  谢！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38" y="371394"/>
            <a:ext cx="2504128" cy="51069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2_目录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文本占位符 9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459258" y="4003463"/>
            <a:ext cx="507002" cy="622325"/>
          </a:xfrm>
          <a:prstGeom prst="rect">
            <a:avLst/>
          </a:prstGeom>
        </p:spPr>
        <p:txBody>
          <a:bodyPr/>
          <a:lstStyle>
            <a:lvl1pPr marL="228600" marR="0" indent="-228600" algn="l" defTabSz="91440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None/>
              <a:defRPr lang="zh-CN" sz="2100">
                <a:solidFill>
                  <a:schemeClr val="accent1"/>
                </a:solidFill>
                <a:latin typeface="Source Han Sans CN Medium"/>
                <a:cs typeface="Source Han Sans CN Medium"/>
              </a:defRPr>
            </a:lvl1pPr>
          </a:lstStyle>
          <a:p>
            <a:pPr>
              <a:lnSpc>
                <a:spcPct val="160000"/>
              </a:lnSpc>
              <a:defRPr sz="2100">
                <a:latin typeface="Source Han Sans CN Medium"/>
                <a:ea typeface="Source Han Sans CN Medium"/>
                <a:cs typeface="Source Han Sans CN Medium"/>
              </a:defRPr>
            </a:pPr>
            <a:r>
              <a:rPr lang="en-US">
                <a:solidFill>
                  <a:srgbClr val="3961F6"/>
                </a:solidFill>
                <a:latin typeface="Arial" panose="020B0604020202020204"/>
                <a:ea typeface="方正兰亭中粗黑简体"/>
                <a:cs typeface="Arial" panose="020B0604020202020204"/>
              </a:rPr>
              <a:t>01</a:t>
            </a:r>
            <a:endParaRPr lang="zh-CN" sz="2100">
              <a:latin typeface="+mn-ea"/>
              <a:ea typeface="+mn-ea"/>
            </a:endParaRPr>
          </a:p>
        </p:txBody>
      </p:sp>
      <p:pic>
        <p:nvPicPr>
          <p:cNvPr id="5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-905277"/>
            <a:ext cx="12217400" cy="814493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368616" y="2202318"/>
            <a:ext cx="3054350" cy="674687"/>
          </a:xfrm>
          <a:prstGeom prst="rect">
            <a:avLst/>
          </a:prstGeom>
        </p:spPr>
        <p:txBody>
          <a:bodyPr/>
          <a:lstStyle>
            <a:lvl1pPr marL="228600" marR="0" indent="-2286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None/>
              <a:defRPr lang="zh-CN" sz="4400" b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28600" marR="0" lvl="0" indent="-2286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None/>
              <a:defRPr/>
            </a:pPr>
            <a:r>
              <a:rPr lang="zh-CN"/>
              <a:t>目录</a:t>
            </a:r>
            <a:endParaRPr lang="zh-CN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427870" y="2877005"/>
            <a:ext cx="4267453" cy="674687"/>
          </a:xfrm>
          <a:prstGeom prst="rect">
            <a:avLst/>
          </a:prstGeom>
        </p:spPr>
        <p:txBody>
          <a:bodyPr/>
          <a:lstStyle>
            <a:lvl1pPr marL="228600" marR="0" indent="-2286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None/>
              <a:defRPr lang="en-US" sz="2700" b="1" spc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228600" marR="0" lvl="0" indent="-2286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None/>
              <a:defRPr/>
            </a:pPr>
            <a:r>
              <a:rPr lang="en-US">
                <a:latin typeface="+mj-lt"/>
                <a:ea typeface="+mj-ea"/>
              </a:rPr>
              <a:t>TABLE OF CONTENTS</a:t>
            </a:r>
            <a:endParaRPr lang="en-US">
              <a:latin typeface="+mj-lt"/>
              <a:ea typeface="+mj-ea"/>
            </a:endParaRPr>
          </a:p>
          <a:p>
            <a:pPr marL="228600" marR="0" lvl="0" indent="-2286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None/>
              <a:defRPr/>
            </a:pPr>
            <a:endParaRPr lang="zh-CN"/>
          </a:p>
        </p:txBody>
      </p:sp>
      <p:sp>
        <p:nvSpPr>
          <p:cNvPr id="8" name="文本占位符 1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769037" y="4182969"/>
            <a:ext cx="2552700" cy="442819"/>
          </a:xfrm>
          <a:prstGeom prst="rect">
            <a:avLst/>
          </a:prstGeom>
        </p:spPr>
        <p:txBody>
          <a:bodyPr/>
          <a:lstStyle>
            <a:lvl1pPr marL="228600" marR="0" indent="-2286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None/>
              <a:defRPr sz="1800">
                <a:latin typeface="+mn-lt"/>
                <a:ea typeface="+mj-ea"/>
              </a:defRPr>
            </a:lvl1pPr>
          </a:lstStyle>
          <a:p>
            <a:pPr marL="228600" marR="0" lvl="0" indent="-2286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None/>
              <a:defRPr/>
            </a:pPr>
            <a:r>
              <a:rPr lang="zh-CN">
                <a:solidFill>
                  <a:srgbClr val="A8A7A7"/>
                </a:solidFill>
              </a:rPr>
              <a:t>｜</a:t>
            </a:r>
            <a:r>
              <a:rPr lang="zh-CN" sz="1800">
                <a:latin typeface="+mn-ea"/>
                <a:ea typeface="+mn-ea"/>
              </a:rPr>
              <a:t>请输入内容</a:t>
            </a:r>
            <a:endParaRPr lang="zh-CN" sz="1800">
              <a:latin typeface="+mn-ea"/>
              <a:ea typeface="+mn-ea"/>
            </a:endParaRPr>
          </a:p>
          <a:p>
            <a:pPr marL="228600" marR="0" lvl="0" indent="-2286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None/>
              <a:defRPr/>
            </a:pPr>
            <a:endParaRPr lang="zh-CN"/>
          </a:p>
        </p:txBody>
      </p:sp>
      <p:sp>
        <p:nvSpPr>
          <p:cNvPr id="9" name="矩形 6"/>
          <p:cNvSpPr/>
          <p:nvPr userDrawn="1"/>
        </p:nvSpPr>
        <p:spPr bwMode="auto">
          <a:xfrm rot="16199998">
            <a:off x="6531369" y="-834939"/>
            <a:ext cx="374080" cy="1008418"/>
          </a:xfrm>
          <a:prstGeom prst="rect">
            <a:avLst/>
          </a:prstGeom>
          <a:gradFill>
            <a:gsLst>
              <a:gs pos="0">
                <a:srgbClr val="FFC000"/>
              </a:gs>
              <a:gs pos="100000">
                <a:srgbClr val="FF900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1000">
              <a:solidFill>
                <a:schemeClr val="lt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矩形 7"/>
          <p:cNvSpPr/>
          <p:nvPr userDrawn="1"/>
        </p:nvSpPr>
        <p:spPr bwMode="auto">
          <a:xfrm rot="16199998">
            <a:off x="2287592" y="-836153"/>
            <a:ext cx="374080" cy="1008418"/>
          </a:xfrm>
          <a:prstGeom prst="rect">
            <a:avLst/>
          </a:prstGeom>
          <a:gradFill>
            <a:gsLst>
              <a:gs pos="0">
                <a:srgbClr val="769BFF"/>
              </a:gs>
              <a:gs pos="100000">
                <a:srgbClr val="2864F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矩形 8"/>
          <p:cNvSpPr/>
          <p:nvPr userDrawn="1"/>
        </p:nvSpPr>
        <p:spPr bwMode="auto">
          <a:xfrm rot="16199998">
            <a:off x="4406966" y="-836153"/>
            <a:ext cx="374080" cy="1008418"/>
          </a:xfrm>
          <a:prstGeom prst="rect">
            <a:avLst/>
          </a:prstGeom>
          <a:solidFill>
            <a:srgbClr val="76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矩形 12"/>
          <p:cNvSpPr/>
          <p:nvPr userDrawn="1"/>
        </p:nvSpPr>
        <p:spPr bwMode="auto">
          <a:xfrm rot="16199998">
            <a:off x="3347279" y="-836153"/>
            <a:ext cx="374080" cy="1008418"/>
          </a:xfrm>
          <a:prstGeom prst="rect">
            <a:avLst/>
          </a:prstGeom>
          <a:solidFill>
            <a:srgbClr val="286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矩形 13"/>
          <p:cNvSpPr/>
          <p:nvPr userDrawn="1"/>
        </p:nvSpPr>
        <p:spPr bwMode="auto">
          <a:xfrm rot="16199998">
            <a:off x="7591056" y="-834939"/>
            <a:ext cx="374080" cy="1008418"/>
          </a:xfrm>
          <a:prstGeom prst="rect">
            <a:avLst/>
          </a:prstGeom>
          <a:solidFill>
            <a:srgbClr val="FF9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1000">
              <a:solidFill>
                <a:schemeClr val="lt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矩形 14"/>
          <p:cNvSpPr/>
          <p:nvPr userDrawn="1"/>
        </p:nvSpPr>
        <p:spPr bwMode="auto">
          <a:xfrm rot="16199998">
            <a:off x="8650743" y="-834939"/>
            <a:ext cx="374080" cy="10084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1000">
              <a:solidFill>
                <a:schemeClr val="lt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矩形 15"/>
          <p:cNvSpPr/>
          <p:nvPr userDrawn="1"/>
        </p:nvSpPr>
        <p:spPr bwMode="auto">
          <a:xfrm rot="16199998">
            <a:off x="5466653" y="-836153"/>
            <a:ext cx="374080" cy="1008418"/>
          </a:xfrm>
          <a:prstGeom prst="rect">
            <a:avLst/>
          </a:prstGeom>
          <a:solidFill>
            <a:srgbClr val="0663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7"/>
          <p:cNvSpPr/>
          <p:nvPr userDrawn="1"/>
        </p:nvSpPr>
        <p:spPr bwMode="auto">
          <a:xfrm rot="16199998">
            <a:off x="9710430" y="-834939"/>
            <a:ext cx="374080" cy="1008418"/>
          </a:xfrm>
          <a:prstGeom prst="rect">
            <a:avLst/>
          </a:prstGeom>
          <a:solidFill>
            <a:srgbClr val="FF900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/>
            <a:fld id="{9A0DB2DC-4C9A-4742-B13C-FB6460FD3503}" type="slidenum">
              <a:rPr lang="zh-CN" altLang="en-US">
                <a:latin typeface="Calibri" panose="020F0502020204030204" charset="0"/>
                <a:ea typeface="Calibri" panose="020F0502020204030204" charset="0"/>
              </a:rPr>
            </a:fld>
            <a:endParaRPr lang="zh-CN" altLang="en-US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96AED"/>
              </a:gs>
              <a:gs pos="100000">
                <a:srgbClr val="0F35E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1146174" y="1973263"/>
            <a:ext cx="5426076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1146174" y="4279499"/>
            <a:ext cx="54260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9" hasCustomPrompt="1"/>
          </p:nvPr>
        </p:nvSpPr>
        <p:spPr>
          <a:xfrm>
            <a:off x="1146175" y="3983228"/>
            <a:ext cx="5426076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</p:spTree>
  </p:cSld>
  <p:clrMapOvr>
    <a:masterClrMapping/>
  </p:clrMapOvr>
  <p:transition spd="med"/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0" Type="http://schemas.openxmlformats.org/officeDocument/2006/relationships/notesSlide" Target="../notesSlides/notesSlide2.xml"/><Relationship Id="rId3" Type="http://schemas.openxmlformats.org/officeDocument/2006/relationships/tags" Target="../tags/tag6.xml"/><Relationship Id="rId29" Type="http://schemas.openxmlformats.org/officeDocument/2006/relationships/slideLayout" Target="../slideLayouts/slideLayout2.xml"/><Relationship Id="rId28" Type="http://schemas.openxmlformats.org/officeDocument/2006/relationships/tags" Target="../tags/tag31.xml"/><Relationship Id="rId27" Type="http://schemas.openxmlformats.org/officeDocument/2006/relationships/tags" Target="../tags/tag30.xml"/><Relationship Id="rId26" Type="http://schemas.openxmlformats.org/officeDocument/2006/relationships/tags" Target="../tags/tag29.xml"/><Relationship Id="rId25" Type="http://schemas.openxmlformats.org/officeDocument/2006/relationships/tags" Target="../tags/tag28.xml"/><Relationship Id="rId24" Type="http://schemas.openxmlformats.org/officeDocument/2006/relationships/tags" Target="../tags/tag27.xml"/><Relationship Id="rId23" Type="http://schemas.openxmlformats.org/officeDocument/2006/relationships/tags" Target="../tags/tag26.xml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audio" Target="../media/audio1.wav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.xml"/><Relationship Id="rId3" Type="http://schemas.openxmlformats.org/officeDocument/2006/relationships/audio" Target="../media/audio1.wav"/><Relationship Id="rId2" Type="http://schemas.openxmlformats.org/officeDocument/2006/relationships/image" Target="../media/image9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55.png"/><Relationship Id="rId7" Type="http://schemas.openxmlformats.org/officeDocument/2006/relationships/image" Target="../media/image54.png"/><Relationship Id="rId6" Type="http://schemas.openxmlformats.org/officeDocument/2006/relationships/image" Target="../media/image53.png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image" Target="../media/image42.png"/><Relationship Id="rId2" Type="http://schemas.openxmlformats.org/officeDocument/2006/relationships/image" Target="../media/image52.png"/><Relationship Id="rId10" Type="http://schemas.openxmlformats.org/officeDocument/2006/relationships/notesSlide" Target="../notesSlides/notesSlide28.xml"/><Relationship Id="rId1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5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6.xml"/><Relationship Id="rId1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tags" Target="../tags/tag37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8.xml"/><Relationship Id="rId1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9.xml"/><Relationship Id="rId1" Type="http://schemas.openxmlformats.org/officeDocument/2006/relationships/image" Target="../media/image6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0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tags" Target="../tags/tag41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8.png"/><Relationship Id="rId1" Type="http://schemas.openxmlformats.org/officeDocument/2006/relationships/tags" Target="../tags/tag42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tags" Target="../tags/tag4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4.x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2.png"/><Relationship Id="rId3" Type="http://schemas.openxmlformats.org/officeDocument/2006/relationships/tags" Target="../tags/tag45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46.xml"/><Relationship Id="rId1" Type="http://schemas.openxmlformats.org/officeDocument/2006/relationships/image" Target="../media/image7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7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6.png"/><Relationship Id="rId3" Type="http://schemas.openxmlformats.org/officeDocument/2006/relationships/tags" Target="../tags/tag48.xml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tags" Target="../tags/tag49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tags" Target="../tags/tag50.xml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1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tags" Target="../tags/tag51.xml"/><Relationship Id="rId1" Type="http://schemas.openxmlformats.org/officeDocument/2006/relationships/image" Target="../media/image8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2.xml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6.png"/><Relationship Id="rId1" Type="http://schemas.openxmlformats.org/officeDocument/2006/relationships/tags" Target="../tags/tag53.xml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3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89.png"/><Relationship Id="rId3" Type="http://schemas.openxmlformats.org/officeDocument/2006/relationships/tags" Target="../tags/tag54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5.xml"/><Relationship Id="rId1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56.xml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2.png"/><Relationship Id="rId1" Type="http://schemas.openxmlformats.org/officeDocument/2006/relationships/tags" Target="../tags/tag57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3.png"/><Relationship Id="rId1" Type="http://schemas.openxmlformats.org/officeDocument/2006/relationships/tags" Target="../tags/tag58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4.png"/><Relationship Id="rId1" Type="http://schemas.openxmlformats.org/officeDocument/2006/relationships/tags" Target="../tags/tag59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tags" Target="../tags/tag60.xml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98.png"/><Relationship Id="rId2" Type="http://schemas.openxmlformats.org/officeDocument/2006/relationships/tags" Target="../tags/tag61.xml"/><Relationship Id="rId1" Type="http://schemas.openxmlformats.org/officeDocument/2006/relationships/image" Target="../media/image9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2.xml"/><Relationship Id="rId1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00.png"/><Relationship Id="rId2" Type="http://schemas.openxmlformats.org/officeDocument/2006/relationships/tags" Target="../tags/tag63.xml"/><Relationship Id="rId1" Type="http://schemas.openxmlformats.org/officeDocument/2006/relationships/image" Target="../media/image99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1.png"/><Relationship Id="rId1" Type="http://schemas.openxmlformats.org/officeDocument/2006/relationships/tags" Target="../tags/tag6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464820" y="2352675"/>
            <a:ext cx="484314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电子债权凭证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操作手册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10861894" y="239579"/>
            <a:ext cx="0" cy="32512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业务流程简介</a:t>
            </a:r>
            <a:endParaRPr lang="zh-CN" altLang="en-US" sz="2000" b="1" dirty="0" err="1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15" y="690245"/>
            <a:ext cx="113728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 eaLnBrk="1">
              <a:lnSpc>
                <a:spcPct val="150000"/>
              </a:lnSpc>
              <a:buClr>
                <a:srgbClr val="2864FF"/>
              </a:buClr>
              <a:buFont typeface="Wingdings" panose="05000000000000000000" charset="0"/>
              <a:buNone/>
            </a:pPr>
            <a:endParaRPr lang="zh-CN" altLang="en-US" sz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电话"/>
          <p:cNvSpPr/>
          <p:nvPr/>
        </p:nvSpPr>
        <p:spPr bwMode="auto">
          <a:xfrm>
            <a:off x="535775" y="1262375"/>
            <a:ext cx="308491" cy="635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8" y="0"/>
                </a:moveTo>
                <a:cubicBezTo>
                  <a:pt x="934" y="0"/>
                  <a:pt x="0" y="453"/>
                  <a:pt x="0" y="1004"/>
                </a:cubicBezTo>
                <a:lnTo>
                  <a:pt x="0" y="20596"/>
                </a:lnTo>
                <a:cubicBezTo>
                  <a:pt x="0" y="21152"/>
                  <a:pt x="934" y="21600"/>
                  <a:pt x="2068" y="21600"/>
                </a:cubicBezTo>
                <a:lnTo>
                  <a:pt x="19532" y="21600"/>
                </a:lnTo>
                <a:cubicBezTo>
                  <a:pt x="20666" y="21600"/>
                  <a:pt x="21600" y="21147"/>
                  <a:pt x="21600" y="20596"/>
                </a:cubicBezTo>
                <a:lnTo>
                  <a:pt x="21600" y="1004"/>
                </a:lnTo>
                <a:cubicBezTo>
                  <a:pt x="21600" y="453"/>
                  <a:pt x="20677" y="0"/>
                  <a:pt x="19532" y="0"/>
                </a:cubicBezTo>
                <a:lnTo>
                  <a:pt x="2068" y="0"/>
                </a:lnTo>
                <a:close/>
                <a:moveTo>
                  <a:pt x="9142" y="1350"/>
                </a:moveTo>
                <a:lnTo>
                  <a:pt x="12468" y="1350"/>
                </a:lnTo>
                <a:cubicBezTo>
                  <a:pt x="12758" y="1350"/>
                  <a:pt x="12990" y="1463"/>
                  <a:pt x="12990" y="1604"/>
                </a:cubicBezTo>
                <a:cubicBezTo>
                  <a:pt x="12990" y="1744"/>
                  <a:pt x="12758" y="1858"/>
                  <a:pt x="12468" y="1858"/>
                </a:cubicBezTo>
                <a:lnTo>
                  <a:pt x="9142" y="1858"/>
                </a:lnTo>
                <a:cubicBezTo>
                  <a:pt x="8853" y="1858"/>
                  <a:pt x="8621" y="1744"/>
                  <a:pt x="8621" y="1604"/>
                </a:cubicBezTo>
                <a:cubicBezTo>
                  <a:pt x="8621" y="1463"/>
                  <a:pt x="8853" y="1350"/>
                  <a:pt x="9142" y="1350"/>
                </a:cubicBezTo>
                <a:close/>
                <a:moveTo>
                  <a:pt x="1477" y="2927"/>
                </a:moveTo>
                <a:lnTo>
                  <a:pt x="20123" y="2927"/>
                </a:lnTo>
                <a:lnTo>
                  <a:pt x="20123" y="18985"/>
                </a:lnTo>
                <a:lnTo>
                  <a:pt x="1477" y="18985"/>
                </a:lnTo>
                <a:lnTo>
                  <a:pt x="1477" y="2927"/>
                </a:lnTo>
                <a:close/>
              </a:path>
            </a:pathLst>
          </a:custGeom>
          <a:solidFill>
            <a:srgbClr val="FF9401"/>
          </a:solidFill>
          <a:ln w="12700">
            <a:noFill/>
            <a:miter/>
          </a:ln>
        </p:spPr>
        <p:txBody>
          <a:bodyPr lIns="45719" rIns="45719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融易单"/>
          <p:cNvSpPr/>
          <p:nvPr/>
        </p:nvSpPr>
        <p:spPr bwMode="auto">
          <a:xfrm>
            <a:off x="479702" y="765227"/>
            <a:ext cx="1499870" cy="306705"/>
          </a:xfrm>
          <a:prstGeom prst="rect">
            <a:avLst/>
          </a:prstGeom>
          <a:solidFill>
            <a:srgbClr val="FF9401"/>
          </a:solidFill>
          <a:ln w="12700">
            <a:noFill/>
            <a:miter lim="400000"/>
          </a:ln>
        </p:spPr>
        <p:txBody>
          <a:bodyPr wrap="none" lIns="45719" rIns="45719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rgbClr val="4B4B4B"/>
                </a:solidFill>
                <a:latin typeface="WeibeiSC-Bold"/>
                <a:ea typeface="WeibeiSC-Bold"/>
                <a:cs typeface="WeibeiSC-Bold"/>
              </a:defRPr>
            </a:lvl1pPr>
          </a:lstStyle>
          <a:p>
            <a:pPr marL="342900" indent="-342900">
              <a:buAutoNum type="arabicPeriod"/>
              <a:defRPr/>
            </a:pPr>
            <a:r>
              <a:rPr 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平台注册建档</a:t>
            </a:r>
            <a:endParaRPr lang="zh-CN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8" name="线条"/>
          <p:cNvSpPr/>
          <p:nvPr/>
        </p:nvSpPr>
        <p:spPr bwMode="auto">
          <a:xfrm>
            <a:off x="915071" y="1681626"/>
            <a:ext cx="2745220" cy="1"/>
          </a:xfrm>
          <a:prstGeom prst="line">
            <a:avLst/>
          </a:prstGeom>
          <a:solidFill>
            <a:srgbClr val="2864FF"/>
          </a:solidFill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cap="none" spc="0">
              <a:ln>
                <a:noFill/>
              </a:ln>
              <a:solidFill>
                <a:srgbClr val="4B4B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上传账户资料、输入收款账户信息"/>
          <p:cNvSpPr/>
          <p:nvPr/>
        </p:nvSpPr>
        <p:spPr bwMode="auto">
          <a:xfrm>
            <a:off x="1333500" y="1291590"/>
            <a:ext cx="185864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>
              <a:lnSpc>
                <a:spcPct val="100000"/>
              </a:lnSpc>
              <a:defRPr sz="13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200">
                <a:solidFill>
                  <a:srgbClr val="000000"/>
                </a:solidFill>
                <a:cs typeface="Helvetica"/>
              </a:rPr>
              <a:t>注册并提交建档资料</a:t>
            </a:r>
            <a:endParaRPr lang="zh-CN" sz="1200">
              <a:solidFill>
                <a:srgbClr val="000000"/>
              </a:solidFill>
              <a:cs typeface="Helvetica"/>
            </a:endParaRPr>
          </a:p>
        </p:txBody>
      </p:sp>
      <p:sp>
        <p:nvSpPr>
          <p:cNvPr id="11" name="钥匙"/>
          <p:cNvSpPr/>
          <p:nvPr/>
        </p:nvSpPr>
        <p:spPr bwMode="auto">
          <a:xfrm>
            <a:off x="6024769" y="1433540"/>
            <a:ext cx="131138" cy="3048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36" y="0"/>
                  <a:pt x="0" y="2080"/>
                  <a:pt x="0" y="4646"/>
                </a:cubicBezTo>
                <a:cubicBezTo>
                  <a:pt x="0" y="6406"/>
                  <a:pt x="2275" y="7936"/>
                  <a:pt x="5629" y="8724"/>
                </a:cubicBezTo>
                <a:lnTo>
                  <a:pt x="5629" y="10112"/>
                </a:lnTo>
                <a:lnTo>
                  <a:pt x="7250" y="10112"/>
                </a:lnTo>
                <a:lnTo>
                  <a:pt x="7250" y="20420"/>
                </a:lnTo>
                <a:lnTo>
                  <a:pt x="10804" y="21600"/>
                </a:lnTo>
                <a:lnTo>
                  <a:pt x="13009" y="20420"/>
                </a:lnTo>
                <a:lnTo>
                  <a:pt x="14362" y="19712"/>
                </a:lnTo>
                <a:lnTo>
                  <a:pt x="13009" y="19092"/>
                </a:lnTo>
                <a:lnTo>
                  <a:pt x="13013" y="18588"/>
                </a:lnTo>
                <a:lnTo>
                  <a:pt x="14397" y="17726"/>
                </a:lnTo>
                <a:lnTo>
                  <a:pt x="13016" y="16890"/>
                </a:lnTo>
                <a:lnTo>
                  <a:pt x="13016" y="16332"/>
                </a:lnTo>
                <a:lnTo>
                  <a:pt x="14397" y="15473"/>
                </a:lnTo>
                <a:lnTo>
                  <a:pt x="13013" y="14634"/>
                </a:lnTo>
                <a:lnTo>
                  <a:pt x="13013" y="14082"/>
                </a:lnTo>
                <a:lnTo>
                  <a:pt x="14397" y="13220"/>
                </a:lnTo>
                <a:lnTo>
                  <a:pt x="13009" y="12380"/>
                </a:lnTo>
                <a:lnTo>
                  <a:pt x="13009" y="11885"/>
                </a:lnTo>
                <a:lnTo>
                  <a:pt x="13064" y="11753"/>
                </a:lnTo>
                <a:lnTo>
                  <a:pt x="14566" y="10665"/>
                </a:lnTo>
                <a:lnTo>
                  <a:pt x="14566" y="10112"/>
                </a:lnTo>
                <a:lnTo>
                  <a:pt x="15970" y="10112"/>
                </a:lnTo>
                <a:lnTo>
                  <a:pt x="15970" y="8724"/>
                </a:lnTo>
                <a:cubicBezTo>
                  <a:pt x="19325" y="7936"/>
                  <a:pt x="21600" y="6406"/>
                  <a:pt x="21600" y="4646"/>
                </a:cubicBezTo>
                <a:cubicBezTo>
                  <a:pt x="21600" y="2080"/>
                  <a:pt x="16764" y="0"/>
                  <a:pt x="10800" y="0"/>
                </a:cubicBezTo>
                <a:close/>
                <a:moveTo>
                  <a:pt x="10800" y="1183"/>
                </a:moveTo>
                <a:cubicBezTo>
                  <a:pt x="12161" y="1183"/>
                  <a:pt x="13264" y="1657"/>
                  <a:pt x="13264" y="2243"/>
                </a:cubicBezTo>
                <a:cubicBezTo>
                  <a:pt x="13264" y="2828"/>
                  <a:pt x="12161" y="3302"/>
                  <a:pt x="10800" y="3302"/>
                </a:cubicBezTo>
                <a:cubicBezTo>
                  <a:pt x="9439" y="3302"/>
                  <a:pt x="8336" y="2828"/>
                  <a:pt x="8336" y="2243"/>
                </a:cubicBezTo>
                <a:cubicBezTo>
                  <a:pt x="8336" y="1657"/>
                  <a:pt x="9439" y="1183"/>
                  <a:pt x="10800" y="1183"/>
                </a:cubicBezTo>
                <a:close/>
              </a:path>
            </a:pathLst>
          </a:custGeom>
          <a:solidFill>
            <a:srgbClr val="2864FF"/>
          </a:solidFill>
          <a:ln w="12700">
            <a:noFill/>
            <a:miter/>
          </a:ln>
        </p:spPr>
        <p:txBody>
          <a:bodyPr lIns="45719" rIns="45719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Dingbat 勾号"/>
          <p:cNvSpPr/>
          <p:nvPr/>
        </p:nvSpPr>
        <p:spPr bwMode="auto">
          <a:xfrm>
            <a:off x="8252088" y="1370431"/>
            <a:ext cx="280661" cy="2667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2" h="20404" extrusionOk="0">
                <a:moveTo>
                  <a:pt x="19340" y="6"/>
                </a:moveTo>
                <a:cubicBezTo>
                  <a:pt x="18911" y="-308"/>
                  <a:pt x="8317" y="11620"/>
                  <a:pt x="6423" y="13985"/>
                </a:cubicBezTo>
                <a:cubicBezTo>
                  <a:pt x="6323" y="14108"/>
                  <a:pt x="6215" y="14226"/>
                  <a:pt x="6090" y="14370"/>
                </a:cubicBezTo>
                <a:cubicBezTo>
                  <a:pt x="5960" y="14216"/>
                  <a:pt x="5854" y="14096"/>
                  <a:pt x="5755" y="13971"/>
                </a:cubicBezTo>
                <a:cubicBezTo>
                  <a:pt x="4964" y="12967"/>
                  <a:pt x="4458" y="12167"/>
                  <a:pt x="3657" y="11171"/>
                </a:cubicBezTo>
                <a:cubicBezTo>
                  <a:pt x="3337" y="10773"/>
                  <a:pt x="2972" y="10410"/>
                  <a:pt x="2634" y="10026"/>
                </a:cubicBezTo>
                <a:cubicBezTo>
                  <a:pt x="2472" y="9843"/>
                  <a:pt x="2283" y="9849"/>
                  <a:pt x="2071" y="9915"/>
                </a:cubicBezTo>
                <a:cubicBezTo>
                  <a:pt x="1856" y="9981"/>
                  <a:pt x="1574" y="9982"/>
                  <a:pt x="1303" y="10152"/>
                </a:cubicBezTo>
                <a:cubicBezTo>
                  <a:pt x="1209" y="10262"/>
                  <a:pt x="1332" y="10438"/>
                  <a:pt x="1349" y="10609"/>
                </a:cubicBezTo>
                <a:cubicBezTo>
                  <a:pt x="1369" y="10821"/>
                  <a:pt x="603" y="10792"/>
                  <a:pt x="203" y="11061"/>
                </a:cubicBezTo>
                <a:cubicBezTo>
                  <a:pt x="111" y="11123"/>
                  <a:pt x="286" y="11375"/>
                  <a:pt x="227" y="11440"/>
                </a:cubicBezTo>
                <a:cubicBezTo>
                  <a:pt x="51" y="11634"/>
                  <a:pt x="-61" y="11588"/>
                  <a:pt x="36" y="11826"/>
                </a:cubicBezTo>
                <a:cubicBezTo>
                  <a:pt x="896" y="13941"/>
                  <a:pt x="2182" y="15733"/>
                  <a:pt x="3218" y="17879"/>
                </a:cubicBezTo>
                <a:cubicBezTo>
                  <a:pt x="4865" y="21292"/>
                  <a:pt x="5178" y="19166"/>
                  <a:pt x="5654" y="19575"/>
                </a:cubicBezTo>
                <a:cubicBezTo>
                  <a:pt x="7119" y="20836"/>
                  <a:pt x="6474" y="21179"/>
                  <a:pt x="9921" y="16770"/>
                </a:cubicBezTo>
                <a:cubicBezTo>
                  <a:pt x="11378" y="14721"/>
                  <a:pt x="19009" y="5203"/>
                  <a:pt x="20710" y="3334"/>
                </a:cubicBezTo>
                <a:cubicBezTo>
                  <a:pt x="20919" y="3106"/>
                  <a:pt x="21118" y="2879"/>
                  <a:pt x="21258" y="2594"/>
                </a:cubicBezTo>
                <a:cubicBezTo>
                  <a:pt x="21526" y="2050"/>
                  <a:pt x="21539" y="2066"/>
                  <a:pt x="21150" y="1624"/>
                </a:cubicBezTo>
                <a:cubicBezTo>
                  <a:pt x="21006" y="1461"/>
                  <a:pt x="20856" y="1427"/>
                  <a:pt x="20646" y="1437"/>
                </a:cubicBezTo>
                <a:cubicBezTo>
                  <a:pt x="20244" y="1456"/>
                  <a:pt x="20044" y="1227"/>
                  <a:pt x="20086" y="860"/>
                </a:cubicBezTo>
                <a:cubicBezTo>
                  <a:pt x="20096" y="778"/>
                  <a:pt x="20075" y="672"/>
                  <a:pt x="20023" y="612"/>
                </a:cubicBezTo>
                <a:cubicBezTo>
                  <a:pt x="19903" y="469"/>
                  <a:pt x="19492" y="117"/>
                  <a:pt x="19340" y="6"/>
                </a:cubicBezTo>
                <a:close/>
              </a:path>
            </a:pathLst>
          </a:custGeom>
          <a:solidFill>
            <a:srgbClr val="FF0000"/>
          </a:solidFill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线条"/>
          <p:cNvSpPr/>
          <p:nvPr/>
        </p:nvSpPr>
        <p:spPr bwMode="auto">
          <a:xfrm>
            <a:off x="4826677" y="1613532"/>
            <a:ext cx="1119032" cy="1"/>
          </a:xfrm>
          <a:prstGeom prst="line">
            <a:avLst/>
          </a:prstGeom>
          <a:solidFill>
            <a:srgbClr val="2864FF"/>
          </a:solidFill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cap="none" spc="0">
              <a:ln>
                <a:noFill/>
              </a:ln>
              <a:solidFill>
                <a:srgbClr val="4B4B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生成密钥"/>
          <p:cNvSpPr/>
          <p:nvPr/>
        </p:nvSpPr>
        <p:spPr bwMode="auto">
          <a:xfrm>
            <a:off x="6215044" y="1426197"/>
            <a:ext cx="822708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生成密钥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16" name="激活账户"/>
          <p:cNvSpPr/>
          <p:nvPr/>
        </p:nvSpPr>
        <p:spPr bwMode="auto">
          <a:xfrm>
            <a:off x="5015906" y="1255184"/>
            <a:ext cx="888752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激活账户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17" name="线条"/>
          <p:cNvSpPr/>
          <p:nvPr/>
        </p:nvSpPr>
        <p:spPr bwMode="auto">
          <a:xfrm>
            <a:off x="2714804" y="3038145"/>
            <a:ext cx="513630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Freeform 15"/>
          <p:cNvSpPr/>
          <p:nvPr/>
        </p:nvSpPr>
        <p:spPr bwMode="auto">
          <a:xfrm>
            <a:off x="544583" y="2780247"/>
            <a:ext cx="299822" cy="442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00" y="1964"/>
                </a:moveTo>
                <a:cubicBezTo>
                  <a:pt x="2400" y="18327"/>
                  <a:pt x="2400" y="18327"/>
                  <a:pt x="2400" y="18327"/>
                </a:cubicBezTo>
                <a:cubicBezTo>
                  <a:pt x="15600" y="18327"/>
                  <a:pt x="15600" y="18327"/>
                  <a:pt x="15600" y="18327"/>
                </a:cubicBezTo>
                <a:cubicBezTo>
                  <a:pt x="15600" y="17018"/>
                  <a:pt x="15600" y="17018"/>
                  <a:pt x="15600" y="17018"/>
                </a:cubicBezTo>
                <a:cubicBezTo>
                  <a:pt x="16800" y="17018"/>
                  <a:pt x="16800" y="17018"/>
                  <a:pt x="16800" y="17018"/>
                </a:cubicBezTo>
                <a:cubicBezTo>
                  <a:pt x="16000" y="15382"/>
                  <a:pt x="16000" y="15382"/>
                  <a:pt x="16000" y="15382"/>
                </a:cubicBezTo>
                <a:cubicBezTo>
                  <a:pt x="18000" y="15382"/>
                  <a:pt x="18000" y="15382"/>
                  <a:pt x="18000" y="15382"/>
                </a:cubicBezTo>
                <a:cubicBezTo>
                  <a:pt x="18000" y="20945"/>
                  <a:pt x="18000" y="20945"/>
                  <a:pt x="18000" y="20945"/>
                </a:cubicBezTo>
                <a:cubicBezTo>
                  <a:pt x="18000" y="21273"/>
                  <a:pt x="17600" y="21600"/>
                  <a:pt x="16800" y="21600"/>
                </a:cubicBezTo>
                <a:cubicBezTo>
                  <a:pt x="800" y="21600"/>
                  <a:pt x="800" y="21600"/>
                  <a:pt x="800" y="21600"/>
                </a:cubicBezTo>
                <a:cubicBezTo>
                  <a:pt x="400" y="21600"/>
                  <a:pt x="0" y="21273"/>
                  <a:pt x="0" y="20945"/>
                </a:cubicBezTo>
                <a:cubicBezTo>
                  <a:pt x="0" y="982"/>
                  <a:pt x="0" y="982"/>
                  <a:pt x="0" y="982"/>
                </a:cubicBezTo>
                <a:cubicBezTo>
                  <a:pt x="0" y="327"/>
                  <a:pt x="400" y="0"/>
                  <a:pt x="800" y="0"/>
                </a:cubicBezTo>
                <a:cubicBezTo>
                  <a:pt x="800" y="0"/>
                  <a:pt x="800" y="0"/>
                  <a:pt x="800" y="0"/>
                </a:cubicBezTo>
                <a:cubicBezTo>
                  <a:pt x="16800" y="0"/>
                  <a:pt x="16800" y="0"/>
                  <a:pt x="16800" y="0"/>
                </a:cubicBezTo>
                <a:cubicBezTo>
                  <a:pt x="17600" y="0"/>
                  <a:pt x="18000" y="327"/>
                  <a:pt x="18000" y="982"/>
                </a:cubicBezTo>
                <a:cubicBezTo>
                  <a:pt x="18000" y="3600"/>
                  <a:pt x="18000" y="3600"/>
                  <a:pt x="18000" y="3600"/>
                </a:cubicBezTo>
                <a:cubicBezTo>
                  <a:pt x="15600" y="3600"/>
                  <a:pt x="15600" y="3600"/>
                  <a:pt x="15600" y="3600"/>
                </a:cubicBezTo>
                <a:cubicBezTo>
                  <a:pt x="15600" y="1964"/>
                  <a:pt x="15600" y="1964"/>
                  <a:pt x="15600" y="1964"/>
                </a:cubicBezTo>
                <a:cubicBezTo>
                  <a:pt x="2400" y="1964"/>
                  <a:pt x="2400" y="1964"/>
                  <a:pt x="2400" y="1964"/>
                </a:cubicBezTo>
                <a:close/>
                <a:moveTo>
                  <a:pt x="9200" y="7200"/>
                </a:moveTo>
                <a:cubicBezTo>
                  <a:pt x="9200" y="7200"/>
                  <a:pt x="8800" y="7200"/>
                  <a:pt x="8800" y="7200"/>
                </a:cubicBezTo>
                <a:cubicBezTo>
                  <a:pt x="14800" y="10800"/>
                  <a:pt x="14800" y="10800"/>
                  <a:pt x="14800" y="10800"/>
                </a:cubicBezTo>
                <a:cubicBezTo>
                  <a:pt x="20800" y="7200"/>
                  <a:pt x="20800" y="7200"/>
                  <a:pt x="20800" y="7200"/>
                </a:cubicBezTo>
                <a:cubicBezTo>
                  <a:pt x="20800" y="7200"/>
                  <a:pt x="20800" y="7200"/>
                  <a:pt x="20400" y="7200"/>
                </a:cubicBezTo>
                <a:cubicBezTo>
                  <a:pt x="9200" y="7200"/>
                  <a:pt x="9200" y="7200"/>
                  <a:pt x="9200" y="7200"/>
                </a:cubicBezTo>
                <a:close/>
                <a:moveTo>
                  <a:pt x="7200" y="10145"/>
                </a:moveTo>
                <a:cubicBezTo>
                  <a:pt x="7600" y="11127"/>
                  <a:pt x="7600" y="11127"/>
                  <a:pt x="7600" y="11127"/>
                </a:cubicBezTo>
                <a:cubicBezTo>
                  <a:pt x="8000" y="11127"/>
                  <a:pt x="8000" y="11127"/>
                  <a:pt x="8000" y="11127"/>
                </a:cubicBezTo>
                <a:cubicBezTo>
                  <a:pt x="8000" y="12436"/>
                  <a:pt x="8000" y="12436"/>
                  <a:pt x="8000" y="12436"/>
                </a:cubicBezTo>
                <a:cubicBezTo>
                  <a:pt x="4800" y="12436"/>
                  <a:pt x="4800" y="12436"/>
                  <a:pt x="4800" y="12436"/>
                </a:cubicBezTo>
                <a:cubicBezTo>
                  <a:pt x="5200" y="13091"/>
                  <a:pt x="5200" y="13091"/>
                  <a:pt x="5200" y="13091"/>
                </a:cubicBezTo>
                <a:cubicBezTo>
                  <a:pt x="8000" y="13091"/>
                  <a:pt x="8000" y="13091"/>
                  <a:pt x="8000" y="13091"/>
                </a:cubicBezTo>
                <a:cubicBezTo>
                  <a:pt x="8000" y="13418"/>
                  <a:pt x="8000" y="13418"/>
                  <a:pt x="8000" y="13418"/>
                </a:cubicBezTo>
                <a:cubicBezTo>
                  <a:pt x="12800" y="10800"/>
                  <a:pt x="12800" y="10800"/>
                  <a:pt x="12800" y="10800"/>
                </a:cubicBezTo>
                <a:cubicBezTo>
                  <a:pt x="8000" y="7855"/>
                  <a:pt x="8000" y="7855"/>
                  <a:pt x="8000" y="7855"/>
                </a:cubicBezTo>
                <a:cubicBezTo>
                  <a:pt x="8000" y="7855"/>
                  <a:pt x="8000" y="7855"/>
                  <a:pt x="8000" y="7855"/>
                </a:cubicBezTo>
                <a:cubicBezTo>
                  <a:pt x="8000" y="10145"/>
                  <a:pt x="8000" y="10145"/>
                  <a:pt x="8000" y="10145"/>
                </a:cubicBezTo>
                <a:cubicBezTo>
                  <a:pt x="7200" y="10145"/>
                  <a:pt x="7200" y="10145"/>
                  <a:pt x="7200" y="10145"/>
                </a:cubicBezTo>
                <a:close/>
                <a:moveTo>
                  <a:pt x="6800" y="15055"/>
                </a:moveTo>
                <a:cubicBezTo>
                  <a:pt x="7200" y="15709"/>
                  <a:pt x="7200" y="15709"/>
                  <a:pt x="7200" y="15709"/>
                </a:cubicBezTo>
                <a:cubicBezTo>
                  <a:pt x="14800" y="15709"/>
                  <a:pt x="14800" y="15709"/>
                  <a:pt x="14800" y="15709"/>
                </a:cubicBezTo>
                <a:cubicBezTo>
                  <a:pt x="14400" y="15055"/>
                  <a:pt x="14400" y="15055"/>
                  <a:pt x="14400" y="15055"/>
                </a:cubicBezTo>
                <a:cubicBezTo>
                  <a:pt x="6800" y="15055"/>
                  <a:pt x="6800" y="15055"/>
                  <a:pt x="6800" y="15055"/>
                </a:cubicBezTo>
                <a:close/>
                <a:moveTo>
                  <a:pt x="10000" y="4909"/>
                </a:moveTo>
                <a:cubicBezTo>
                  <a:pt x="10400" y="5564"/>
                  <a:pt x="10400" y="5564"/>
                  <a:pt x="10400" y="5564"/>
                </a:cubicBezTo>
                <a:cubicBezTo>
                  <a:pt x="5600" y="5564"/>
                  <a:pt x="5600" y="5564"/>
                  <a:pt x="5600" y="5564"/>
                </a:cubicBezTo>
                <a:cubicBezTo>
                  <a:pt x="6000" y="6545"/>
                  <a:pt x="6000" y="6545"/>
                  <a:pt x="6000" y="6545"/>
                </a:cubicBezTo>
                <a:cubicBezTo>
                  <a:pt x="14800" y="6545"/>
                  <a:pt x="14800" y="6545"/>
                  <a:pt x="14800" y="6545"/>
                </a:cubicBezTo>
                <a:cubicBezTo>
                  <a:pt x="14400" y="5564"/>
                  <a:pt x="14400" y="5564"/>
                  <a:pt x="14400" y="5564"/>
                </a:cubicBezTo>
                <a:cubicBezTo>
                  <a:pt x="18000" y="5564"/>
                  <a:pt x="18000" y="5564"/>
                  <a:pt x="18000" y="5564"/>
                </a:cubicBezTo>
                <a:cubicBezTo>
                  <a:pt x="17600" y="4909"/>
                  <a:pt x="17600" y="4909"/>
                  <a:pt x="17600" y="4909"/>
                </a:cubicBezTo>
                <a:cubicBezTo>
                  <a:pt x="10000" y="4909"/>
                  <a:pt x="10000" y="4909"/>
                  <a:pt x="10000" y="4909"/>
                </a:cubicBezTo>
                <a:close/>
                <a:moveTo>
                  <a:pt x="21600" y="7855"/>
                </a:moveTo>
                <a:cubicBezTo>
                  <a:pt x="17200" y="10800"/>
                  <a:pt x="17200" y="10800"/>
                  <a:pt x="17200" y="10800"/>
                </a:cubicBezTo>
                <a:cubicBezTo>
                  <a:pt x="21600" y="13418"/>
                  <a:pt x="21600" y="13418"/>
                  <a:pt x="21600" y="13418"/>
                </a:cubicBezTo>
                <a:cubicBezTo>
                  <a:pt x="21600" y="13418"/>
                  <a:pt x="21600" y="13091"/>
                  <a:pt x="21600" y="13091"/>
                </a:cubicBezTo>
                <a:cubicBezTo>
                  <a:pt x="21600" y="7855"/>
                  <a:pt x="21600" y="7855"/>
                  <a:pt x="21600" y="7855"/>
                </a:cubicBezTo>
                <a:cubicBezTo>
                  <a:pt x="21600" y="7855"/>
                  <a:pt x="21600" y="7855"/>
                  <a:pt x="21600" y="7855"/>
                </a:cubicBezTo>
                <a:close/>
                <a:moveTo>
                  <a:pt x="20800" y="14073"/>
                </a:moveTo>
                <a:cubicBezTo>
                  <a:pt x="16000" y="11127"/>
                  <a:pt x="16000" y="11127"/>
                  <a:pt x="16000" y="11127"/>
                </a:cubicBezTo>
                <a:cubicBezTo>
                  <a:pt x="15200" y="11782"/>
                  <a:pt x="15200" y="11782"/>
                  <a:pt x="15200" y="11782"/>
                </a:cubicBezTo>
                <a:cubicBezTo>
                  <a:pt x="14800" y="12109"/>
                  <a:pt x="14800" y="12109"/>
                  <a:pt x="14800" y="12109"/>
                </a:cubicBezTo>
                <a:cubicBezTo>
                  <a:pt x="14400" y="11782"/>
                  <a:pt x="14400" y="11782"/>
                  <a:pt x="14400" y="11782"/>
                </a:cubicBezTo>
                <a:cubicBezTo>
                  <a:pt x="13600" y="11455"/>
                  <a:pt x="13600" y="11455"/>
                  <a:pt x="13600" y="11455"/>
                </a:cubicBezTo>
                <a:cubicBezTo>
                  <a:pt x="9200" y="14073"/>
                  <a:pt x="9200" y="14073"/>
                  <a:pt x="9200" y="14073"/>
                </a:cubicBezTo>
                <a:cubicBezTo>
                  <a:pt x="9200" y="14073"/>
                  <a:pt x="9200" y="14073"/>
                  <a:pt x="9200" y="14073"/>
                </a:cubicBezTo>
                <a:cubicBezTo>
                  <a:pt x="20400" y="14073"/>
                  <a:pt x="20400" y="14073"/>
                  <a:pt x="20400" y="14073"/>
                </a:cubicBezTo>
                <a:cubicBezTo>
                  <a:pt x="20400" y="14073"/>
                  <a:pt x="20800" y="14073"/>
                  <a:pt x="20800" y="14073"/>
                </a:cubicBezTo>
                <a:close/>
                <a:moveTo>
                  <a:pt x="7200" y="19636"/>
                </a:moveTo>
                <a:cubicBezTo>
                  <a:pt x="6800" y="19636"/>
                  <a:pt x="6800" y="19636"/>
                  <a:pt x="6800" y="19964"/>
                </a:cubicBezTo>
                <a:cubicBezTo>
                  <a:pt x="6800" y="20291"/>
                  <a:pt x="6800" y="20291"/>
                  <a:pt x="6800" y="20291"/>
                </a:cubicBezTo>
                <a:cubicBezTo>
                  <a:pt x="6800" y="20291"/>
                  <a:pt x="6800" y="20618"/>
                  <a:pt x="7200" y="20618"/>
                </a:cubicBezTo>
                <a:cubicBezTo>
                  <a:pt x="10800" y="20618"/>
                  <a:pt x="10800" y="20618"/>
                  <a:pt x="10800" y="20618"/>
                </a:cubicBezTo>
                <a:cubicBezTo>
                  <a:pt x="10800" y="20618"/>
                  <a:pt x="11200" y="20291"/>
                  <a:pt x="11200" y="20291"/>
                </a:cubicBezTo>
                <a:cubicBezTo>
                  <a:pt x="11200" y="19964"/>
                  <a:pt x="11200" y="19964"/>
                  <a:pt x="11200" y="19964"/>
                </a:cubicBezTo>
                <a:cubicBezTo>
                  <a:pt x="11200" y="19636"/>
                  <a:pt x="10800" y="19636"/>
                  <a:pt x="10800" y="19636"/>
                </a:cubicBezTo>
                <a:lnTo>
                  <a:pt x="7200" y="19636"/>
                </a:lnTo>
                <a:close/>
              </a:path>
            </a:pathLst>
          </a:custGeom>
          <a:solidFill>
            <a:srgbClr val="FF940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21" name="线条"/>
          <p:cNvSpPr/>
          <p:nvPr/>
        </p:nvSpPr>
        <p:spPr bwMode="auto">
          <a:xfrm>
            <a:off x="915765" y="3048679"/>
            <a:ext cx="789940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登陆账号"/>
          <p:cNvSpPr/>
          <p:nvPr/>
        </p:nvSpPr>
        <p:spPr bwMode="auto">
          <a:xfrm>
            <a:off x="915764" y="2673386"/>
            <a:ext cx="87543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登录账号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23" name="电话"/>
          <p:cNvSpPr/>
          <p:nvPr/>
        </p:nvSpPr>
        <p:spPr bwMode="auto">
          <a:xfrm>
            <a:off x="1757680" y="2780030"/>
            <a:ext cx="210820" cy="4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8" y="0"/>
                </a:moveTo>
                <a:cubicBezTo>
                  <a:pt x="934" y="0"/>
                  <a:pt x="0" y="453"/>
                  <a:pt x="0" y="1004"/>
                </a:cubicBezTo>
                <a:lnTo>
                  <a:pt x="0" y="20596"/>
                </a:lnTo>
                <a:cubicBezTo>
                  <a:pt x="0" y="21152"/>
                  <a:pt x="934" y="21600"/>
                  <a:pt x="2068" y="21600"/>
                </a:cubicBezTo>
                <a:lnTo>
                  <a:pt x="19532" y="21600"/>
                </a:lnTo>
                <a:cubicBezTo>
                  <a:pt x="20666" y="21600"/>
                  <a:pt x="21600" y="21147"/>
                  <a:pt x="21600" y="20596"/>
                </a:cubicBezTo>
                <a:lnTo>
                  <a:pt x="21600" y="1004"/>
                </a:lnTo>
                <a:cubicBezTo>
                  <a:pt x="21600" y="453"/>
                  <a:pt x="20677" y="0"/>
                  <a:pt x="19532" y="0"/>
                </a:cubicBezTo>
                <a:lnTo>
                  <a:pt x="2068" y="0"/>
                </a:lnTo>
                <a:close/>
                <a:moveTo>
                  <a:pt x="9142" y="1350"/>
                </a:moveTo>
                <a:lnTo>
                  <a:pt x="12468" y="1350"/>
                </a:lnTo>
                <a:cubicBezTo>
                  <a:pt x="12758" y="1350"/>
                  <a:pt x="12990" y="1463"/>
                  <a:pt x="12990" y="1604"/>
                </a:cubicBezTo>
                <a:cubicBezTo>
                  <a:pt x="12990" y="1744"/>
                  <a:pt x="12758" y="1858"/>
                  <a:pt x="12468" y="1858"/>
                </a:cubicBezTo>
                <a:lnTo>
                  <a:pt x="9142" y="1858"/>
                </a:lnTo>
                <a:cubicBezTo>
                  <a:pt x="8853" y="1858"/>
                  <a:pt x="8621" y="1744"/>
                  <a:pt x="8621" y="1604"/>
                </a:cubicBezTo>
                <a:cubicBezTo>
                  <a:pt x="8621" y="1463"/>
                  <a:pt x="8853" y="1350"/>
                  <a:pt x="9142" y="1350"/>
                </a:cubicBezTo>
                <a:close/>
                <a:moveTo>
                  <a:pt x="1477" y="2927"/>
                </a:moveTo>
                <a:lnTo>
                  <a:pt x="20123" y="2927"/>
                </a:lnTo>
                <a:lnTo>
                  <a:pt x="20123" y="18985"/>
                </a:lnTo>
                <a:lnTo>
                  <a:pt x="1477" y="18985"/>
                </a:lnTo>
                <a:lnTo>
                  <a:pt x="1477" y="2927"/>
                </a:lnTo>
                <a:close/>
              </a:path>
            </a:pathLst>
          </a:custGeom>
          <a:solidFill>
            <a:srgbClr val="2864FF"/>
          </a:solidFill>
          <a:ln w="12700">
            <a:noFill/>
            <a:miter/>
          </a:ln>
        </p:spPr>
        <p:txBody>
          <a:bodyPr lIns="45719" rIns="45719" anchor="ctr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电脑"/>
          <p:cNvSpPr/>
          <p:nvPr/>
        </p:nvSpPr>
        <p:spPr bwMode="auto">
          <a:xfrm>
            <a:off x="2044700" y="2780030"/>
            <a:ext cx="537845" cy="4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2864FF"/>
          </a:solidFill>
          <a:ln w="12700">
            <a:noFill/>
            <a:miter/>
          </a:ln>
        </p:spPr>
        <p:txBody>
          <a:bodyPr lIns="45719" rIns="45719" anchor="ctr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cap="none" spc="0">
              <a:ln>
                <a:noFill/>
              </a:ln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5" name="成组"/>
          <p:cNvGrpSpPr/>
          <p:nvPr/>
        </p:nvGrpSpPr>
        <p:grpSpPr bwMode="auto">
          <a:xfrm>
            <a:off x="3256662" y="2646716"/>
            <a:ext cx="379731" cy="507976"/>
            <a:chOff x="0" y="0"/>
            <a:chExt cx="379730" cy="507975"/>
          </a:xfrm>
          <a:solidFill>
            <a:srgbClr val="2864FF"/>
          </a:solidFill>
        </p:grpSpPr>
        <p:sp>
          <p:nvSpPr>
            <p:cNvPr id="26" name="Rectangle 22"/>
            <p:cNvSpPr/>
            <p:nvPr/>
          </p:nvSpPr>
          <p:spPr bwMode="auto">
            <a:xfrm>
              <a:off x="146033" y="175151"/>
              <a:ext cx="192377" cy="21158"/>
            </a:xfrm>
            <a:prstGeom prst="rect">
              <a:avLst/>
            </a:pr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" name="Rectangle 23"/>
            <p:cNvSpPr/>
            <p:nvPr/>
          </p:nvSpPr>
          <p:spPr bwMode="auto">
            <a:xfrm>
              <a:off x="147388" y="228859"/>
              <a:ext cx="192377" cy="21158"/>
            </a:xfrm>
            <a:prstGeom prst="rect">
              <a:avLst/>
            </a:pr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107422" y="117375"/>
              <a:ext cx="272309" cy="390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630"/>
                  </a:lnTo>
                  <a:lnTo>
                    <a:pt x="2042" y="4770"/>
                  </a:lnTo>
                  <a:lnTo>
                    <a:pt x="2042" y="1665"/>
                  </a:lnTo>
                  <a:lnTo>
                    <a:pt x="19612" y="1665"/>
                  </a:lnTo>
                  <a:lnTo>
                    <a:pt x="19612" y="19890"/>
                  </a:lnTo>
                  <a:lnTo>
                    <a:pt x="5964" y="19890"/>
                  </a:lnTo>
                  <a:lnTo>
                    <a:pt x="5964" y="20025"/>
                  </a:lnTo>
                  <a:lnTo>
                    <a:pt x="5857" y="19890"/>
                  </a:lnTo>
                  <a:lnTo>
                    <a:pt x="2042" y="19890"/>
                  </a:lnTo>
                  <a:lnTo>
                    <a:pt x="2042" y="16830"/>
                  </a:lnTo>
                  <a:lnTo>
                    <a:pt x="376" y="15525"/>
                  </a:lnTo>
                  <a:lnTo>
                    <a:pt x="0" y="1521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157548" y="276870"/>
              <a:ext cx="180863" cy="21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89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Freeform 26"/>
            <p:cNvSpPr/>
            <p:nvPr/>
          </p:nvSpPr>
          <p:spPr bwMode="auto">
            <a:xfrm>
              <a:off x="176515" y="330576"/>
              <a:ext cx="165282" cy="21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9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1239" y="2160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Freeform 27"/>
            <p:cNvSpPr/>
            <p:nvPr/>
          </p:nvSpPr>
          <p:spPr bwMode="auto">
            <a:xfrm>
              <a:off x="184643" y="373706"/>
              <a:ext cx="155121" cy="21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89" y="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" name="Freeform 28"/>
            <p:cNvSpPr/>
            <p:nvPr/>
          </p:nvSpPr>
          <p:spPr bwMode="auto">
            <a:xfrm>
              <a:off x="116905" y="361500"/>
              <a:ext cx="60966" cy="968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40" y="21600"/>
                  </a:moveTo>
                  <a:lnTo>
                    <a:pt x="21600" y="0"/>
                  </a:lnTo>
                  <a:lnTo>
                    <a:pt x="0" y="6534"/>
                  </a:lnTo>
                  <a:lnTo>
                    <a:pt x="20640" y="2160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3" name="Freeform 29"/>
            <p:cNvSpPr/>
            <p:nvPr/>
          </p:nvSpPr>
          <p:spPr bwMode="auto">
            <a:xfrm>
              <a:off x="-1" y="-1"/>
              <a:ext cx="74233" cy="84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64" h="20459" extrusionOk="0">
                  <a:moveTo>
                    <a:pt x="17164" y="4494"/>
                  </a:moveTo>
                  <a:cubicBezTo>
                    <a:pt x="15814" y="737"/>
                    <a:pt x="11764" y="-1141"/>
                    <a:pt x="8164" y="737"/>
                  </a:cubicBezTo>
                  <a:cubicBezTo>
                    <a:pt x="4114" y="2146"/>
                    <a:pt x="4114" y="2146"/>
                    <a:pt x="4114" y="2146"/>
                  </a:cubicBezTo>
                  <a:cubicBezTo>
                    <a:pt x="514" y="4024"/>
                    <a:pt x="-836" y="8250"/>
                    <a:pt x="514" y="12007"/>
                  </a:cubicBezTo>
                  <a:cubicBezTo>
                    <a:pt x="3664" y="20459"/>
                    <a:pt x="3664" y="20459"/>
                    <a:pt x="3664" y="20459"/>
                  </a:cubicBezTo>
                  <a:cubicBezTo>
                    <a:pt x="20764" y="13416"/>
                    <a:pt x="20764" y="13416"/>
                    <a:pt x="20764" y="13416"/>
                  </a:cubicBezTo>
                  <a:lnTo>
                    <a:pt x="17164" y="4494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" name="Freeform 30"/>
            <p:cNvSpPr/>
            <p:nvPr/>
          </p:nvSpPr>
          <p:spPr bwMode="auto">
            <a:xfrm>
              <a:off x="182612" y="427414"/>
              <a:ext cx="159185" cy="21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276" y="0"/>
                  </a:lnTo>
                  <a:lnTo>
                    <a:pt x="0" y="2160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" name="Freeform 31"/>
            <p:cNvSpPr/>
            <p:nvPr/>
          </p:nvSpPr>
          <p:spPr bwMode="auto">
            <a:xfrm>
              <a:off x="15976" y="62854"/>
              <a:ext cx="160540" cy="323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543"/>
                  </a:moveTo>
                  <a:cubicBezTo>
                    <a:pt x="8208" y="0"/>
                    <a:pt x="8208" y="0"/>
                    <a:pt x="8208" y="0"/>
                  </a:cubicBezTo>
                  <a:cubicBezTo>
                    <a:pt x="0" y="1929"/>
                    <a:pt x="0" y="1929"/>
                    <a:pt x="0" y="1929"/>
                  </a:cubicBezTo>
                  <a:cubicBezTo>
                    <a:pt x="13392" y="21600"/>
                    <a:pt x="13392" y="21600"/>
                    <a:pt x="13392" y="21600"/>
                  </a:cubicBezTo>
                  <a:lnTo>
                    <a:pt x="21600" y="19543"/>
                  </a:lnTo>
                  <a:close/>
                  <a:moveTo>
                    <a:pt x="7344" y="771"/>
                  </a:moveTo>
                  <a:cubicBezTo>
                    <a:pt x="16200" y="13757"/>
                    <a:pt x="16200" y="13757"/>
                    <a:pt x="16200" y="13757"/>
                  </a:cubicBezTo>
                  <a:cubicBezTo>
                    <a:pt x="16416" y="14271"/>
                    <a:pt x="16416" y="14657"/>
                    <a:pt x="15768" y="14786"/>
                  </a:cubicBezTo>
                  <a:cubicBezTo>
                    <a:pt x="15336" y="14914"/>
                    <a:pt x="14688" y="14657"/>
                    <a:pt x="14472" y="14271"/>
                  </a:cubicBezTo>
                  <a:cubicBezTo>
                    <a:pt x="5400" y="1286"/>
                    <a:pt x="5400" y="1286"/>
                    <a:pt x="5400" y="1286"/>
                  </a:cubicBezTo>
                  <a:lnTo>
                    <a:pt x="7344" y="771"/>
                  </a:lnTo>
                  <a:close/>
                  <a:moveTo>
                    <a:pt x="12096" y="15686"/>
                  </a:moveTo>
                  <a:cubicBezTo>
                    <a:pt x="11664" y="15814"/>
                    <a:pt x="11016" y="15557"/>
                    <a:pt x="10800" y="15171"/>
                  </a:cubicBezTo>
                  <a:cubicBezTo>
                    <a:pt x="1944" y="2057"/>
                    <a:pt x="1944" y="2057"/>
                    <a:pt x="1944" y="2057"/>
                  </a:cubicBezTo>
                  <a:cubicBezTo>
                    <a:pt x="3672" y="1671"/>
                    <a:pt x="3672" y="1671"/>
                    <a:pt x="3672" y="1671"/>
                  </a:cubicBezTo>
                  <a:cubicBezTo>
                    <a:pt x="12528" y="14657"/>
                    <a:pt x="12528" y="14657"/>
                    <a:pt x="12528" y="14657"/>
                  </a:cubicBezTo>
                  <a:cubicBezTo>
                    <a:pt x="12960" y="15171"/>
                    <a:pt x="12744" y="15557"/>
                    <a:pt x="12096" y="1568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6" name="签署平台服务协议"/>
          <p:cNvSpPr/>
          <p:nvPr/>
        </p:nvSpPr>
        <p:spPr bwMode="auto">
          <a:xfrm>
            <a:off x="3701415" y="2879090"/>
            <a:ext cx="1459230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签署平台服务协议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37" name="线条"/>
          <p:cNvSpPr/>
          <p:nvPr/>
        </p:nvSpPr>
        <p:spPr bwMode="auto">
          <a:xfrm>
            <a:off x="5026836" y="3038145"/>
            <a:ext cx="513630" cy="1"/>
          </a:xfrm>
          <a:prstGeom prst="line">
            <a:avLst/>
          </a:prstGeom>
          <a:solidFill>
            <a:srgbClr val="2864FF"/>
          </a:solidFill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线条"/>
          <p:cNvSpPr/>
          <p:nvPr/>
        </p:nvSpPr>
        <p:spPr bwMode="auto">
          <a:xfrm>
            <a:off x="7037753" y="1579867"/>
            <a:ext cx="513630" cy="1"/>
          </a:xfrm>
          <a:prstGeom prst="line">
            <a:avLst/>
          </a:prstGeom>
          <a:solidFill>
            <a:srgbClr val="2864FF"/>
          </a:solidFill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cap="none" spc="0">
              <a:ln>
                <a:noFill/>
              </a:ln>
              <a:solidFill>
                <a:srgbClr val="4B4B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资产发行申请"/>
          <p:cNvSpPr/>
          <p:nvPr/>
        </p:nvSpPr>
        <p:spPr bwMode="auto">
          <a:xfrm>
            <a:off x="5540375" y="2886075"/>
            <a:ext cx="104076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资产发行申请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40" name="连接线"/>
          <p:cNvSpPr/>
          <p:nvPr/>
        </p:nvSpPr>
        <p:spPr bwMode="auto">
          <a:xfrm>
            <a:off x="6539679" y="2491534"/>
            <a:ext cx="323851" cy="1085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1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2864FF"/>
            </a:solidFill>
            <a:miter/>
          </a:ln>
        </p:spPr>
        <p:txBody>
          <a:bodyPr/>
          <a:lstStyle/>
          <a:p>
            <a:pPr marL="0" marR="0" lvl="0" indent="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400" b="0" i="0" u="none" strike="noStrike" cap="none" spc="0">
              <a:ln>
                <a:noFill/>
              </a:ln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贸易合同"/>
          <p:cNvSpPr/>
          <p:nvPr/>
        </p:nvSpPr>
        <p:spPr bwMode="auto">
          <a:xfrm>
            <a:off x="6908401" y="2380944"/>
            <a:ext cx="93861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贸易合同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42" name="线条"/>
          <p:cNvSpPr/>
          <p:nvPr/>
        </p:nvSpPr>
        <p:spPr bwMode="auto">
          <a:xfrm>
            <a:off x="6543229" y="3010983"/>
            <a:ext cx="321191" cy="1"/>
          </a:xfrm>
          <a:prstGeom prst="line">
            <a:avLst/>
          </a:prstGeom>
          <a:ln w="25400">
            <a:solidFill>
              <a:srgbClr val="2864FF"/>
            </a:solidFill>
            <a:miter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发票"/>
          <p:cNvSpPr/>
          <p:nvPr/>
        </p:nvSpPr>
        <p:spPr bwMode="auto">
          <a:xfrm>
            <a:off x="6957422" y="2886154"/>
            <a:ext cx="603668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发票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44" name="线条"/>
          <p:cNvSpPr/>
          <p:nvPr/>
        </p:nvSpPr>
        <p:spPr bwMode="auto">
          <a:xfrm>
            <a:off x="7610651" y="3087257"/>
            <a:ext cx="795322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提交审核"/>
          <p:cNvSpPr/>
          <p:nvPr/>
        </p:nvSpPr>
        <p:spPr bwMode="auto">
          <a:xfrm>
            <a:off x="7609306" y="2771451"/>
            <a:ext cx="853347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提交审核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46" name="线条"/>
          <p:cNvSpPr/>
          <p:nvPr/>
        </p:nvSpPr>
        <p:spPr bwMode="auto">
          <a:xfrm>
            <a:off x="9491573" y="3064584"/>
            <a:ext cx="789941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资产上链"/>
          <p:cNvSpPr/>
          <p:nvPr/>
        </p:nvSpPr>
        <p:spPr bwMode="auto">
          <a:xfrm>
            <a:off x="9502950" y="2745359"/>
            <a:ext cx="893759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资产上链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grpSp>
        <p:nvGrpSpPr>
          <p:cNvPr id="51" name="成组"/>
          <p:cNvGrpSpPr/>
          <p:nvPr/>
        </p:nvGrpSpPr>
        <p:grpSpPr bwMode="auto">
          <a:xfrm>
            <a:off x="10343596" y="2792971"/>
            <a:ext cx="379731" cy="463551"/>
            <a:chOff x="0" y="0"/>
            <a:chExt cx="379730" cy="463549"/>
          </a:xfrm>
          <a:solidFill>
            <a:srgbClr val="FF9401"/>
          </a:solidFill>
        </p:grpSpPr>
        <p:sp>
          <p:nvSpPr>
            <p:cNvPr id="52" name="Freeform 10"/>
            <p:cNvSpPr/>
            <p:nvPr/>
          </p:nvSpPr>
          <p:spPr bwMode="auto">
            <a:xfrm>
              <a:off x="53113" y="23470"/>
              <a:ext cx="99741" cy="94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2274" y="13698"/>
                  </a:moveTo>
                  <a:cubicBezTo>
                    <a:pt x="3411" y="17912"/>
                    <a:pt x="6253" y="21600"/>
                    <a:pt x="10800" y="21600"/>
                  </a:cubicBezTo>
                  <a:cubicBezTo>
                    <a:pt x="15347" y="21600"/>
                    <a:pt x="18189" y="17912"/>
                    <a:pt x="19326" y="13698"/>
                  </a:cubicBezTo>
                  <a:cubicBezTo>
                    <a:pt x="20463" y="13171"/>
                    <a:pt x="21600" y="11590"/>
                    <a:pt x="21032" y="10537"/>
                  </a:cubicBezTo>
                  <a:cubicBezTo>
                    <a:pt x="21032" y="9483"/>
                    <a:pt x="20463" y="8956"/>
                    <a:pt x="19895" y="8956"/>
                  </a:cubicBezTo>
                  <a:cubicBezTo>
                    <a:pt x="19895" y="3688"/>
                    <a:pt x="15916" y="0"/>
                    <a:pt x="10800" y="0"/>
                  </a:cubicBezTo>
                  <a:cubicBezTo>
                    <a:pt x="5684" y="0"/>
                    <a:pt x="1705" y="3688"/>
                    <a:pt x="1705" y="8956"/>
                  </a:cubicBezTo>
                  <a:cubicBezTo>
                    <a:pt x="568" y="8956"/>
                    <a:pt x="0" y="9483"/>
                    <a:pt x="0" y="10537"/>
                  </a:cubicBezTo>
                  <a:cubicBezTo>
                    <a:pt x="0" y="11590"/>
                    <a:pt x="568" y="13698"/>
                    <a:pt x="2274" y="13698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Freeform 11"/>
            <p:cNvSpPr/>
            <p:nvPr/>
          </p:nvSpPr>
          <p:spPr bwMode="auto">
            <a:xfrm>
              <a:off x="0" y="123222"/>
              <a:ext cx="283646" cy="34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66" y="5290"/>
                  </a:moveTo>
                  <a:cubicBezTo>
                    <a:pt x="19766" y="5290"/>
                    <a:pt x="19766" y="5290"/>
                    <a:pt x="19766" y="5290"/>
                  </a:cubicBezTo>
                  <a:cubicBezTo>
                    <a:pt x="19358" y="5290"/>
                    <a:pt x="18543" y="5437"/>
                    <a:pt x="17728" y="5437"/>
                  </a:cubicBezTo>
                  <a:cubicBezTo>
                    <a:pt x="17321" y="5584"/>
                    <a:pt x="16913" y="5584"/>
                    <a:pt x="16709" y="5584"/>
                  </a:cubicBezTo>
                  <a:cubicBezTo>
                    <a:pt x="16506" y="5584"/>
                    <a:pt x="16506" y="5584"/>
                    <a:pt x="16302" y="5584"/>
                  </a:cubicBezTo>
                  <a:cubicBezTo>
                    <a:pt x="16302" y="5584"/>
                    <a:pt x="16302" y="5437"/>
                    <a:pt x="16098" y="5437"/>
                  </a:cubicBezTo>
                  <a:cubicBezTo>
                    <a:pt x="15691" y="4702"/>
                    <a:pt x="14875" y="3673"/>
                    <a:pt x="14468" y="2792"/>
                  </a:cubicBezTo>
                  <a:cubicBezTo>
                    <a:pt x="14060" y="2351"/>
                    <a:pt x="13857" y="1910"/>
                    <a:pt x="13653" y="1616"/>
                  </a:cubicBezTo>
                  <a:cubicBezTo>
                    <a:pt x="13653" y="1469"/>
                    <a:pt x="13449" y="1469"/>
                    <a:pt x="13449" y="1322"/>
                  </a:cubicBezTo>
                  <a:cubicBezTo>
                    <a:pt x="13449" y="1176"/>
                    <a:pt x="13449" y="1176"/>
                    <a:pt x="13449" y="1176"/>
                  </a:cubicBezTo>
                  <a:cubicBezTo>
                    <a:pt x="13245" y="1029"/>
                    <a:pt x="13245" y="882"/>
                    <a:pt x="13042" y="882"/>
                  </a:cubicBezTo>
                  <a:cubicBezTo>
                    <a:pt x="12838" y="735"/>
                    <a:pt x="12430" y="441"/>
                    <a:pt x="11004" y="294"/>
                  </a:cubicBezTo>
                  <a:cubicBezTo>
                    <a:pt x="10596" y="147"/>
                    <a:pt x="10392" y="0"/>
                    <a:pt x="9985" y="0"/>
                  </a:cubicBezTo>
                  <a:cubicBezTo>
                    <a:pt x="9985" y="0"/>
                    <a:pt x="9985" y="0"/>
                    <a:pt x="9985" y="0"/>
                  </a:cubicBezTo>
                  <a:cubicBezTo>
                    <a:pt x="9985" y="0"/>
                    <a:pt x="9985" y="0"/>
                    <a:pt x="9985" y="0"/>
                  </a:cubicBezTo>
                  <a:cubicBezTo>
                    <a:pt x="9985" y="588"/>
                    <a:pt x="9781" y="1763"/>
                    <a:pt x="8762" y="3233"/>
                  </a:cubicBezTo>
                  <a:cubicBezTo>
                    <a:pt x="8558" y="2204"/>
                    <a:pt x="8355" y="1322"/>
                    <a:pt x="8355" y="1322"/>
                  </a:cubicBezTo>
                  <a:cubicBezTo>
                    <a:pt x="8762" y="735"/>
                    <a:pt x="8762" y="735"/>
                    <a:pt x="8762" y="735"/>
                  </a:cubicBezTo>
                  <a:cubicBezTo>
                    <a:pt x="8151" y="294"/>
                    <a:pt x="8151" y="294"/>
                    <a:pt x="8151" y="294"/>
                  </a:cubicBezTo>
                  <a:cubicBezTo>
                    <a:pt x="7743" y="294"/>
                    <a:pt x="7743" y="294"/>
                    <a:pt x="7743" y="294"/>
                  </a:cubicBezTo>
                  <a:cubicBezTo>
                    <a:pt x="7132" y="735"/>
                    <a:pt x="7132" y="735"/>
                    <a:pt x="7132" y="735"/>
                  </a:cubicBezTo>
                  <a:cubicBezTo>
                    <a:pt x="7540" y="1322"/>
                    <a:pt x="7540" y="1322"/>
                    <a:pt x="7540" y="1322"/>
                  </a:cubicBezTo>
                  <a:cubicBezTo>
                    <a:pt x="7336" y="1322"/>
                    <a:pt x="7132" y="2204"/>
                    <a:pt x="7132" y="3233"/>
                  </a:cubicBezTo>
                  <a:cubicBezTo>
                    <a:pt x="6113" y="1763"/>
                    <a:pt x="5706" y="588"/>
                    <a:pt x="5706" y="0"/>
                  </a:cubicBezTo>
                  <a:cubicBezTo>
                    <a:pt x="5706" y="0"/>
                    <a:pt x="5706" y="0"/>
                    <a:pt x="5706" y="0"/>
                  </a:cubicBezTo>
                  <a:cubicBezTo>
                    <a:pt x="5706" y="0"/>
                    <a:pt x="5706" y="0"/>
                    <a:pt x="5706" y="0"/>
                  </a:cubicBezTo>
                  <a:cubicBezTo>
                    <a:pt x="5502" y="0"/>
                    <a:pt x="5094" y="147"/>
                    <a:pt x="4891" y="294"/>
                  </a:cubicBezTo>
                  <a:cubicBezTo>
                    <a:pt x="4075" y="441"/>
                    <a:pt x="2853" y="735"/>
                    <a:pt x="2038" y="1029"/>
                  </a:cubicBezTo>
                  <a:cubicBezTo>
                    <a:pt x="1630" y="1322"/>
                    <a:pt x="408" y="2498"/>
                    <a:pt x="0" y="6465"/>
                  </a:cubicBezTo>
                  <a:cubicBezTo>
                    <a:pt x="0" y="7788"/>
                    <a:pt x="204" y="10139"/>
                    <a:pt x="204" y="10139"/>
                  </a:cubicBezTo>
                  <a:cubicBezTo>
                    <a:pt x="408" y="10727"/>
                    <a:pt x="611" y="11314"/>
                    <a:pt x="1426" y="11314"/>
                  </a:cubicBezTo>
                  <a:cubicBezTo>
                    <a:pt x="2445" y="11314"/>
                    <a:pt x="2853" y="10873"/>
                    <a:pt x="2853" y="10286"/>
                  </a:cubicBezTo>
                  <a:cubicBezTo>
                    <a:pt x="2853" y="10286"/>
                    <a:pt x="2649" y="8229"/>
                    <a:pt x="2853" y="6612"/>
                  </a:cubicBezTo>
                  <a:cubicBezTo>
                    <a:pt x="2853" y="5290"/>
                    <a:pt x="3260" y="3380"/>
                    <a:pt x="3668" y="3380"/>
                  </a:cubicBezTo>
                  <a:cubicBezTo>
                    <a:pt x="3668" y="3380"/>
                    <a:pt x="3668" y="3380"/>
                    <a:pt x="3668" y="3380"/>
                  </a:cubicBezTo>
                  <a:cubicBezTo>
                    <a:pt x="3668" y="9551"/>
                    <a:pt x="3668" y="9551"/>
                    <a:pt x="3668" y="9551"/>
                  </a:cubicBezTo>
                  <a:cubicBezTo>
                    <a:pt x="3668" y="9845"/>
                    <a:pt x="3668" y="10139"/>
                    <a:pt x="3668" y="10286"/>
                  </a:cubicBezTo>
                  <a:cubicBezTo>
                    <a:pt x="3668" y="20278"/>
                    <a:pt x="3668" y="20278"/>
                    <a:pt x="3668" y="20278"/>
                  </a:cubicBezTo>
                  <a:cubicBezTo>
                    <a:pt x="3668" y="21012"/>
                    <a:pt x="4483" y="21600"/>
                    <a:pt x="5502" y="21600"/>
                  </a:cubicBezTo>
                  <a:cubicBezTo>
                    <a:pt x="5502" y="21600"/>
                    <a:pt x="5502" y="21600"/>
                    <a:pt x="5502" y="21600"/>
                  </a:cubicBezTo>
                  <a:cubicBezTo>
                    <a:pt x="5502" y="21600"/>
                    <a:pt x="5502" y="21600"/>
                    <a:pt x="5502" y="21600"/>
                  </a:cubicBezTo>
                  <a:cubicBezTo>
                    <a:pt x="6521" y="21600"/>
                    <a:pt x="7336" y="21012"/>
                    <a:pt x="7336" y="20278"/>
                  </a:cubicBezTo>
                  <a:cubicBezTo>
                    <a:pt x="7336" y="11314"/>
                    <a:pt x="7336" y="11314"/>
                    <a:pt x="7336" y="11314"/>
                  </a:cubicBezTo>
                  <a:cubicBezTo>
                    <a:pt x="8355" y="11314"/>
                    <a:pt x="8355" y="11314"/>
                    <a:pt x="8355" y="11314"/>
                  </a:cubicBezTo>
                  <a:cubicBezTo>
                    <a:pt x="8355" y="20278"/>
                    <a:pt x="8355" y="20278"/>
                    <a:pt x="8355" y="20278"/>
                  </a:cubicBezTo>
                  <a:cubicBezTo>
                    <a:pt x="8355" y="21012"/>
                    <a:pt x="9170" y="21600"/>
                    <a:pt x="10189" y="21600"/>
                  </a:cubicBezTo>
                  <a:cubicBezTo>
                    <a:pt x="10189" y="21600"/>
                    <a:pt x="10189" y="21600"/>
                    <a:pt x="10189" y="21600"/>
                  </a:cubicBezTo>
                  <a:cubicBezTo>
                    <a:pt x="10189" y="21600"/>
                    <a:pt x="10189" y="21600"/>
                    <a:pt x="10189" y="21600"/>
                  </a:cubicBezTo>
                  <a:cubicBezTo>
                    <a:pt x="11208" y="21600"/>
                    <a:pt x="12023" y="21012"/>
                    <a:pt x="12023" y="20278"/>
                  </a:cubicBezTo>
                  <a:cubicBezTo>
                    <a:pt x="12023" y="10286"/>
                    <a:pt x="12023" y="10286"/>
                    <a:pt x="12023" y="10286"/>
                  </a:cubicBezTo>
                  <a:cubicBezTo>
                    <a:pt x="12226" y="10139"/>
                    <a:pt x="12226" y="9845"/>
                    <a:pt x="12226" y="9551"/>
                  </a:cubicBezTo>
                  <a:cubicBezTo>
                    <a:pt x="12226" y="4261"/>
                    <a:pt x="12226" y="4261"/>
                    <a:pt x="12226" y="4261"/>
                  </a:cubicBezTo>
                  <a:cubicBezTo>
                    <a:pt x="12226" y="4261"/>
                    <a:pt x="12226" y="4408"/>
                    <a:pt x="12430" y="4555"/>
                  </a:cubicBezTo>
                  <a:cubicBezTo>
                    <a:pt x="12838" y="5143"/>
                    <a:pt x="13245" y="5878"/>
                    <a:pt x="13653" y="6318"/>
                  </a:cubicBezTo>
                  <a:cubicBezTo>
                    <a:pt x="13857" y="6612"/>
                    <a:pt x="14060" y="6759"/>
                    <a:pt x="14264" y="7053"/>
                  </a:cubicBezTo>
                  <a:cubicBezTo>
                    <a:pt x="14264" y="7053"/>
                    <a:pt x="14468" y="7200"/>
                    <a:pt x="14468" y="7347"/>
                  </a:cubicBezTo>
                  <a:cubicBezTo>
                    <a:pt x="14468" y="7347"/>
                    <a:pt x="14672" y="7347"/>
                    <a:pt x="14672" y="7494"/>
                  </a:cubicBezTo>
                  <a:cubicBezTo>
                    <a:pt x="14875" y="7494"/>
                    <a:pt x="15079" y="7641"/>
                    <a:pt x="15283" y="7641"/>
                  </a:cubicBezTo>
                  <a:cubicBezTo>
                    <a:pt x="15283" y="7641"/>
                    <a:pt x="15283" y="7641"/>
                    <a:pt x="15283" y="7641"/>
                  </a:cubicBezTo>
                  <a:cubicBezTo>
                    <a:pt x="15487" y="7641"/>
                    <a:pt x="15487" y="7641"/>
                    <a:pt x="15691" y="7641"/>
                  </a:cubicBezTo>
                  <a:cubicBezTo>
                    <a:pt x="15691" y="7788"/>
                    <a:pt x="15894" y="7788"/>
                    <a:pt x="15894" y="7788"/>
                  </a:cubicBezTo>
                  <a:cubicBezTo>
                    <a:pt x="16098" y="7788"/>
                    <a:pt x="16302" y="7641"/>
                    <a:pt x="16506" y="7641"/>
                  </a:cubicBezTo>
                  <a:cubicBezTo>
                    <a:pt x="17321" y="7641"/>
                    <a:pt x="18136" y="7494"/>
                    <a:pt x="18951" y="7494"/>
                  </a:cubicBezTo>
                  <a:cubicBezTo>
                    <a:pt x="19766" y="7347"/>
                    <a:pt x="20377" y="7200"/>
                    <a:pt x="20377" y="7200"/>
                  </a:cubicBezTo>
                  <a:cubicBezTo>
                    <a:pt x="21192" y="7053"/>
                    <a:pt x="21600" y="6612"/>
                    <a:pt x="21600" y="6024"/>
                  </a:cubicBezTo>
                  <a:cubicBezTo>
                    <a:pt x="21396" y="5437"/>
                    <a:pt x="20581" y="5143"/>
                    <a:pt x="19766" y="529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4" name="Freeform 12"/>
            <p:cNvSpPr/>
            <p:nvPr/>
          </p:nvSpPr>
          <p:spPr bwMode="auto">
            <a:xfrm>
              <a:off x="230503" y="0"/>
              <a:ext cx="149228" cy="209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9" h="21600" extrusionOk="0">
                  <a:moveTo>
                    <a:pt x="11824" y="9840"/>
                  </a:moveTo>
                  <a:cubicBezTo>
                    <a:pt x="11451" y="9600"/>
                    <a:pt x="11451" y="9600"/>
                    <a:pt x="11451" y="9600"/>
                  </a:cubicBezTo>
                  <a:cubicBezTo>
                    <a:pt x="10334" y="9360"/>
                    <a:pt x="8844" y="8880"/>
                    <a:pt x="8472" y="8880"/>
                  </a:cubicBezTo>
                  <a:cubicBezTo>
                    <a:pt x="8472" y="8880"/>
                    <a:pt x="8100" y="8640"/>
                    <a:pt x="8100" y="8640"/>
                  </a:cubicBezTo>
                  <a:cubicBezTo>
                    <a:pt x="6982" y="8400"/>
                    <a:pt x="6610" y="8160"/>
                    <a:pt x="5865" y="7680"/>
                  </a:cubicBezTo>
                  <a:cubicBezTo>
                    <a:pt x="5120" y="6960"/>
                    <a:pt x="5493" y="6240"/>
                    <a:pt x="6237" y="5760"/>
                  </a:cubicBezTo>
                  <a:cubicBezTo>
                    <a:pt x="7355" y="5040"/>
                    <a:pt x="8844" y="4800"/>
                    <a:pt x="9962" y="4800"/>
                  </a:cubicBezTo>
                  <a:cubicBezTo>
                    <a:pt x="10706" y="4800"/>
                    <a:pt x="13686" y="4560"/>
                    <a:pt x="17410" y="6480"/>
                  </a:cubicBezTo>
                  <a:cubicBezTo>
                    <a:pt x="18155" y="6960"/>
                    <a:pt x="19644" y="6240"/>
                    <a:pt x="20389" y="5760"/>
                  </a:cubicBezTo>
                  <a:cubicBezTo>
                    <a:pt x="20762" y="5280"/>
                    <a:pt x="20762" y="4800"/>
                    <a:pt x="20389" y="4320"/>
                  </a:cubicBezTo>
                  <a:cubicBezTo>
                    <a:pt x="19272" y="3360"/>
                    <a:pt x="15548" y="2640"/>
                    <a:pt x="13686" y="2400"/>
                  </a:cubicBezTo>
                  <a:cubicBezTo>
                    <a:pt x="13313" y="2160"/>
                    <a:pt x="12568" y="2160"/>
                    <a:pt x="11824" y="2160"/>
                  </a:cubicBezTo>
                  <a:cubicBezTo>
                    <a:pt x="11824" y="480"/>
                    <a:pt x="11824" y="480"/>
                    <a:pt x="11824" y="480"/>
                  </a:cubicBezTo>
                  <a:cubicBezTo>
                    <a:pt x="11824" y="240"/>
                    <a:pt x="11451" y="0"/>
                    <a:pt x="11079" y="0"/>
                  </a:cubicBezTo>
                  <a:cubicBezTo>
                    <a:pt x="8844" y="0"/>
                    <a:pt x="8844" y="0"/>
                    <a:pt x="8844" y="0"/>
                  </a:cubicBezTo>
                  <a:cubicBezTo>
                    <a:pt x="8472" y="0"/>
                    <a:pt x="8100" y="240"/>
                    <a:pt x="8100" y="480"/>
                  </a:cubicBezTo>
                  <a:cubicBezTo>
                    <a:pt x="8100" y="2160"/>
                    <a:pt x="8100" y="2160"/>
                    <a:pt x="8100" y="2160"/>
                  </a:cubicBezTo>
                  <a:cubicBezTo>
                    <a:pt x="5865" y="2400"/>
                    <a:pt x="4003" y="2880"/>
                    <a:pt x="2513" y="3600"/>
                  </a:cubicBezTo>
                  <a:cubicBezTo>
                    <a:pt x="279" y="5040"/>
                    <a:pt x="-466" y="7200"/>
                    <a:pt x="1024" y="8880"/>
                  </a:cubicBezTo>
                  <a:cubicBezTo>
                    <a:pt x="1396" y="9600"/>
                    <a:pt x="2513" y="10320"/>
                    <a:pt x="3631" y="10800"/>
                  </a:cubicBezTo>
                  <a:cubicBezTo>
                    <a:pt x="4748" y="11040"/>
                    <a:pt x="9217" y="12480"/>
                    <a:pt x="11451" y="12960"/>
                  </a:cubicBezTo>
                  <a:cubicBezTo>
                    <a:pt x="12568" y="13440"/>
                    <a:pt x="12568" y="13440"/>
                    <a:pt x="12568" y="13440"/>
                  </a:cubicBezTo>
                  <a:cubicBezTo>
                    <a:pt x="13313" y="13680"/>
                    <a:pt x="14058" y="13920"/>
                    <a:pt x="14431" y="14400"/>
                  </a:cubicBezTo>
                  <a:cubicBezTo>
                    <a:pt x="15175" y="15120"/>
                    <a:pt x="14803" y="15840"/>
                    <a:pt x="14058" y="16320"/>
                  </a:cubicBezTo>
                  <a:cubicBezTo>
                    <a:pt x="13313" y="16800"/>
                    <a:pt x="12196" y="17040"/>
                    <a:pt x="10706" y="17040"/>
                  </a:cubicBezTo>
                  <a:cubicBezTo>
                    <a:pt x="9589" y="17040"/>
                    <a:pt x="8472" y="16800"/>
                    <a:pt x="6982" y="16560"/>
                  </a:cubicBezTo>
                  <a:cubicBezTo>
                    <a:pt x="6237" y="16320"/>
                    <a:pt x="5493" y="16080"/>
                    <a:pt x="4748" y="15600"/>
                  </a:cubicBezTo>
                  <a:cubicBezTo>
                    <a:pt x="4748" y="15600"/>
                    <a:pt x="4375" y="1560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003" y="14880"/>
                    <a:pt x="3258" y="14880"/>
                    <a:pt x="2886" y="14880"/>
                  </a:cubicBezTo>
                  <a:cubicBezTo>
                    <a:pt x="1768" y="14880"/>
                    <a:pt x="651" y="15360"/>
                    <a:pt x="279" y="15840"/>
                  </a:cubicBezTo>
                  <a:cubicBezTo>
                    <a:pt x="-94" y="16320"/>
                    <a:pt x="-94" y="16800"/>
                    <a:pt x="279" y="17040"/>
                  </a:cubicBezTo>
                  <a:cubicBezTo>
                    <a:pt x="1768" y="18480"/>
                    <a:pt x="4748" y="19440"/>
                    <a:pt x="8100" y="19680"/>
                  </a:cubicBezTo>
                  <a:cubicBezTo>
                    <a:pt x="8100" y="21360"/>
                    <a:pt x="8100" y="21360"/>
                    <a:pt x="8100" y="21360"/>
                  </a:cubicBezTo>
                  <a:cubicBezTo>
                    <a:pt x="8100" y="21600"/>
                    <a:pt x="8472" y="21600"/>
                    <a:pt x="8844" y="21600"/>
                  </a:cubicBezTo>
                  <a:cubicBezTo>
                    <a:pt x="11079" y="21600"/>
                    <a:pt x="11079" y="21600"/>
                    <a:pt x="11079" y="21600"/>
                  </a:cubicBezTo>
                  <a:cubicBezTo>
                    <a:pt x="11451" y="21600"/>
                    <a:pt x="11824" y="21600"/>
                    <a:pt x="11824" y="21360"/>
                  </a:cubicBezTo>
                  <a:cubicBezTo>
                    <a:pt x="11824" y="19680"/>
                    <a:pt x="11824" y="19680"/>
                    <a:pt x="11824" y="19680"/>
                  </a:cubicBezTo>
                  <a:cubicBezTo>
                    <a:pt x="14431" y="19680"/>
                    <a:pt x="16665" y="19200"/>
                    <a:pt x="17782" y="18480"/>
                  </a:cubicBezTo>
                  <a:cubicBezTo>
                    <a:pt x="20017" y="17280"/>
                    <a:pt x="21134" y="15120"/>
                    <a:pt x="20017" y="13440"/>
                  </a:cubicBezTo>
                  <a:cubicBezTo>
                    <a:pt x="18900" y="11520"/>
                    <a:pt x="14803" y="10560"/>
                    <a:pt x="11824" y="98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5" name="成组"/>
          <p:cNvGrpSpPr/>
          <p:nvPr/>
        </p:nvGrpSpPr>
        <p:grpSpPr bwMode="auto">
          <a:xfrm>
            <a:off x="519053" y="4492110"/>
            <a:ext cx="379730" cy="463551"/>
            <a:chOff x="0" y="0"/>
            <a:chExt cx="379729" cy="463550"/>
          </a:xfrm>
          <a:solidFill>
            <a:srgbClr val="FF9401"/>
          </a:solidFill>
        </p:grpSpPr>
        <p:sp>
          <p:nvSpPr>
            <p:cNvPr id="56" name="Freeform 10"/>
            <p:cNvSpPr/>
            <p:nvPr/>
          </p:nvSpPr>
          <p:spPr bwMode="auto">
            <a:xfrm>
              <a:off x="53113" y="23470"/>
              <a:ext cx="99742" cy="9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2274" y="13698"/>
                  </a:moveTo>
                  <a:cubicBezTo>
                    <a:pt x="3411" y="17912"/>
                    <a:pt x="6253" y="21600"/>
                    <a:pt x="10800" y="21600"/>
                  </a:cubicBezTo>
                  <a:cubicBezTo>
                    <a:pt x="15347" y="21600"/>
                    <a:pt x="18189" y="17912"/>
                    <a:pt x="19326" y="13698"/>
                  </a:cubicBezTo>
                  <a:cubicBezTo>
                    <a:pt x="20463" y="13171"/>
                    <a:pt x="21600" y="11590"/>
                    <a:pt x="21032" y="10537"/>
                  </a:cubicBezTo>
                  <a:cubicBezTo>
                    <a:pt x="21032" y="9483"/>
                    <a:pt x="20463" y="8956"/>
                    <a:pt x="19895" y="8956"/>
                  </a:cubicBezTo>
                  <a:cubicBezTo>
                    <a:pt x="19895" y="3688"/>
                    <a:pt x="15916" y="0"/>
                    <a:pt x="10800" y="0"/>
                  </a:cubicBezTo>
                  <a:cubicBezTo>
                    <a:pt x="5684" y="0"/>
                    <a:pt x="1705" y="3688"/>
                    <a:pt x="1705" y="8956"/>
                  </a:cubicBezTo>
                  <a:cubicBezTo>
                    <a:pt x="568" y="8956"/>
                    <a:pt x="0" y="9483"/>
                    <a:pt x="0" y="10537"/>
                  </a:cubicBezTo>
                  <a:cubicBezTo>
                    <a:pt x="0" y="11590"/>
                    <a:pt x="568" y="13698"/>
                    <a:pt x="2274" y="13698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7" name="Freeform 11"/>
            <p:cNvSpPr/>
            <p:nvPr/>
          </p:nvSpPr>
          <p:spPr bwMode="auto">
            <a:xfrm>
              <a:off x="0" y="123222"/>
              <a:ext cx="283646" cy="3403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66" y="5290"/>
                  </a:moveTo>
                  <a:cubicBezTo>
                    <a:pt x="19766" y="5290"/>
                    <a:pt x="19766" y="5290"/>
                    <a:pt x="19766" y="5290"/>
                  </a:cubicBezTo>
                  <a:cubicBezTo>
                    <a:pt x="19358" y="5290"/>
                    <a:pt x="18543" y="5437"/>
                    <a:pt x="17728" y="5437"/>
                  </a:cubicBezTo>
                  <a:cubicBezTo>
                    <a:pt x="17321" y="5584"/>
                    <a:pt x="16913" y="5584"/>
                    <a:pt x="16709" y="5584"/>
                  </a:cubicBezTo>
                  <a:cubicBezTo>
                    <a:pt x="16506" y="5584"/>
                    <a:pt x="16506" y="5584"/>
                    <a:pt x="16302" y="5584"/>
                  </a:cubicBezTo>
                  <a:cubicBezTo>
                    <a:pt x="16302" y="5584"/>
                    <a:pt x="16302" y="5437"/>
                    <a:pt x="16098" y="5437"/>
                  </a:cubicBezTo>
                  <a:cubicBezTo>
                    <a:pt x="15691" y="4702"/>
                    <a:pt x="14875" y="3673"/>
                    <a:pt x="14468" y="2792"/>
                  </a:cubicBezTo>
                  <a:cubicBezTo>
                    <a:pt x="14060" y="2351"/>
                    <a:pt x="13857" y="1910"/>
                    <a:pt x="13653" y="1616"/>
                  </a:cubicBezTo>
                  <a:cubicBezTo>
                    <a:pt x="13653" y="1469"/>
                    <a:pt x="13449" y="1469"/>
                    <a:pt x="13449" y="1322"/>
                  </a:cubicBezTo>
                  <a:cubicBezTo>
                    <a:pt x="13449" y="1176"/>
                    <a:pt x="13449" y="1176"/>
                    <a:pt x="13449" y="1176"/>
                  </a:cubicBezTo>
                  <a:cubicBezTo>
                    <a:pt x="13245" y="1029"/>
                    <a:pt x="13245" y="882"/>
                    <a:pt x="13042" y="882"/>
                  </a:cubicBezTo>
                  <a:cubicBezTo>
                    <a:pt x="12838" y="735"/>
                    <a:pt x="12430" y="441"/>
                    <a:pt x="11004" y="294"/>
                  </a:cubicBezTo>
                  <a:cubicBezTo>
                    <a:pt x="10596" y="147"/>
                    <a:pt x="10392" y="0"/>
                    <a:pt x="9985" y="0"/>
                  </a:cubicBezTo>
                  <a:cubicBezTo>
                    <a:pt x="9985" y="0"/>
                    <a:pt x="9985" y="0"/>
                    <a:pt x="9985" y="0"/>
                  </a:cubicBezTo>
                  <a:cubicBezTo>
                    <a:pt x="9985" y="0"/>
                    <a:pt x="9985" y="0"/>
                    <a:pt x="9985" y="0"/>
                  </a:cubicBezTo>
                  <a:cubicBezTo>
                    <a:pt x="9985" y="588"/>
                    <a:pt x="9781" y="1763"/>
                    <a:pt x="8762" y="3233"/>
                  </a:cubicBezTo>
                  <a:cubicBezTo>
                    <a:pt x="8558" y="2204"/>
                    <a:pt x="8355" y="1322"/>
                    <a:pt x="8355" y="1322"/>
                  </a:cubicBezTo>
                  <a:cubicBezTo>
                    <a:pt x="8762" y="735"/>
                    <a:pt x="8762" y="735"/>
                    <a:pt x="8762" y="735"/>
                  </a:cubicBezTo>
                  <a:cubicBezTo>
                    <a:pt x="8151" y="294"/>
                    <a:pt x="8151" y="294"/>
                    <a:pt x="8151" y="294"/>
                  </a:cubicBezTo>
                  <a:cubicBezTo>
                    <a:pt x="7743" y="294"/>
                    <a:pt x="7743" y="294"/>
                    <a:pt x="7743" y="294"/>
                  </a:cubicBezTo>
                  <a:cubicBezTo>
                    <a:pt x="7132" y="735"/>
                    <a:pt x="7132" y="735"/>
                    <a:pt x="7132" y="735"/>
                  </a:cubicBezTo>
                  <a:cubicBezTo>
                    <a:pt x="7540" y="1322"/>
                    <a:pt x="7540" y="1322"/>
                    <a:pt x="7540" y="1322"/>
                  </a:cubicBezTo>
                  <a:cubicBezTo>
                    <a:pt x="7336" y="1322"/>
                    <a:pt x="7132" y="2204"/>
                    <a:pt x="7132" y="3233"/>
                  </a:cubicBezTo>
                  <a:cubicBezTo>
                    <a:pt x="6113" y="1763"/>
                    <a:pt x="5706" y="588"/>
                    <a:pt x="5706" y="0"/>
                  </a:cubicBezTo>
                  <a:cubicBezTo>
                    <a:pt x="5706" y="0"/>
                    <a:pt x="5706" y="0"/>
                    <a:pt x="5706" y="0"/>
                  </a:cubicBezTo>
                  <a:cubicBezTo>
                    <a:pt x="5706" y="0"/>
                    <a:pt x="5706" y="0"/>
                    <a:pt x="5706" y="0"/>
                  </a:cubicBezTo>
                  <a:cubicBezTo>
                    <a:pt x="5502" y="0"/>
                    <a:pt x="5094" y="147"/>
                    <a:pt x="4891" y="294"/>
                  </a:cubicBezTo>
                  <a:cubicBezTo>
                    <a:pt x="4075" y="441"/>
                    <a:pt x="2853" y="735"/>
                    <a:pt x="2038" y="1029"/>
                  </a:cubicBezTo>
                  <a:cubicBezTo>
                    <a:pt x="1630" y="1322"/>
                    <a:pt x="408" y="2498"/>
                    <a:pt x="0" y="6465"/>
                  </a:cubicBezTo>
                  <a:cubicBezTo>
                    <a:pt x="0" y="7788"/>
                    <a:pt x="204" y="10139"/>
                    <a:pt x="204" y="10139"/>
                  </a:cubicBezTo>
                  <a:cubicBezTo>
                    <a:pt x="408" y="10727"/>
                    <a:pt x="611" y="11314"/>
                    <a:pt x="1426" y="11314"/>
                  </a:cubicBezTo>
                  <a:cubicBezTo>
                    <a:pt x="2445" y="11314"/>
                    <a:pt x="2853" y="10873"/>
                    <a:pt x="2853" y="10286"/>
                  </a:cubicBezTo>
                  <a:cubicBezTo>
                    <a:pt x="2853" y="10286"/>
                    <a:pt x="2649" y="8229"/>
                    <a:pt x="2853" y="6612"/>
                  </a:cubicBezTo>
                  <a:cubicBezTo>
                    <a:pt x="2853" y="5290"/>
                    <a:pt x="3260" y="3380"/>
                    <a:pt x="3668" y="3380"/>
                  </a:cubicBezTo>
                  <a:cubicBezTo>
                    <a:pt x="3668" y="3380"/>
                    <a:pt x="3668" y="3380"/>
                    <a:pt x="3668" y="3380"/>
                  </a:cubicBezTo>
                  <a:cubicBezTo>
                    <a:pt x="3668" y="9551"/>
                    <a:pt x="3668" y="9551"/>
                    <a:pt x="3668" y="9551"/>
                  </a:cubicBezTo>
                  <a:cubicBezTo>
                    <a:pt x="3668" y="9845"/>
                    <a:pt x="3668" y="10139"/>
                    <a:pt x="3668" y="10286"/>
                  </a:cubicBezTo>
                  <a:cubicBezTo>
                    <a:pt x="3668" y="20278"/>
                    <a:pt x="3668" y="20278"/>
                    <a:pt x="3668" y="20278"/>
                  </a:cubicBezTo>
                  <a:cubicBezTo>
                    <a:pt x="3668" y="21012"/>
                    <a:pt x="4483" y="21600"/>
                    <a:pt x="5502" y="21600"/>
                  </a:cubicBezTo>
                  <a:cubicBezTo>
                    <a:pt x="5502" y="21600"/>
                    <a:pt x="5502" y="21600"/>
                    <a:pt x="5502" y="21600"/>
                  </a:cubicBezTo>
                  <a:cubicBezTo>
                    <a:pt x="5502" y="21600"/>
                    <a:pt x="5502" y="21600"/>
                    <a:pt x="5502" y="21600"/>
                  </a:cubicBezTo>
                  <a:cubicBezTo>
                    <a:pt x="6521" y="21600"/>
                    <a:pt x="7336" y="21012"/>
                    <a:pt x="7336" y="20278"/>
                  </a:cubicBezTo>
                  <a:cubicBezTo>
                    <a:pt x="7336" y="11314"/>
                    <a:pt x="7336" y="11314"/>
                    <a:pt x="7336" y="11314"/>
                  </a:cubicBezTo>
                  <a:cubicBezTo>
                    <a:pt x="8355" y="11314"/>
                    <a:pt x="8355" y="11314"/>
                    <a:pt x="8355" y="11314"/>
                  </a:cubicBezTo>
                  <a:cubicBezTo>
                    <a:pt x="8355" y="20278"/>
                    <a:pt x="8355" y="20278"/>
                    <a:pt x="8355" y="20278"/>
                  </a:cubicBezTo>
                  <a:cubicBezTo>
                    <a:pt x="8355" y="21012"/>
                    <a:pt x="9170" y="21600"/>
                    <a:pt x="10189" y="21600"/>
                  </a:cubicBezTo>
                  <a:cubicBezTo>
                    <a:pt x="10189" y="21600"/>
                    <a:pt x="10189" y="21600"/>
                    <a:pt x="10189" y="21600"/>
                  </a:cubicBezTo>
                  <a:cubicBezTo>
                    <a:pt x="10189" y="21600"/>
                    <a:pt x="10189" y="21600"/>
                    <a:pt x="10189" y="21600"/>
                  </a:cubicBezTo>
                  <a:cubicBezTo>
                    <a:pt x="11208" y="21600"/>
                    <a:pt x="12023" y="21012"/>
                    <a:pt x="12023" y="20278"/>
                  </a:cubicBezTo>
                  <a:cubicBezTo>
                    <a:pt x="12023" y="10286"/>
                    <a:pt x="12023" y="10286"/>
                    <a:pt x="12023" y="10286"/>
                  </a:cubicBezTo>
                  <a:cubicBezTo>
                    <a:pt x="12226" y="10139"/>
                    <a:pt x="12226" y="9845"/>
                    <a:pt x="12226" y="9551"/>
                  </a:cubicBezTo>
                  <a:cubicBezTo>
                    <a:pt x="12226" y="4261"/>
                    <a:pt x="12226" y="4261"/>
                    <a:pt x="12226" y="4261"/>
                  </a:cubicBezTo>
                  <a:cubicBezTo>
                    <a:pt x="12226" y="4261"/>
                    <a:pt x="12226" y="4408"/>
                    <a:pt x="12430" y="4555"/>
                  </a:cubicBezTo>
                  <a:cubicBezTo>
                    <a:pt x="12838" y="5143"/>
                    <a:pt x="13245" y="5878"/>
                    <a:pt x="13653" y="6318"/>
                  </a:cubicBezTo>
                  <a:cubicBezTo>
                    <a:pt x="13857" y="6612"/>
                    <a:pt x="14060" y="6759"/>
                    <a:pt x="14264" y="7053"/>
                  </a:cubicBezTo>
                  <a:cubicBezTo>
                    <a:pt x="14264" y="7053"/>
                    <a:pt x="14468" y="7200"/>
                    <a:pt x="14468" y="7347"/>
                  </a:cubicBezTo>
                  <a:cubicBezTo>
                    <a:pt x="14468" y="7347"/>
                    <a:pt x="14672" y="7347"/>
                    <a:pt x="14672" y="7494"/>
                  </a:cubicBezTo>
                  <a:cubicBezTo>
                    <a:pt x="14875" y="7494"/>
                    <a:pt x="15079" y="7641"/>
                    <a:pt x="15283" y="7641"/>
                  </a:cubicBezTo>
                  <a:cubicBezTo>
                    <a:pt x="15283" y="7641"/>
                    <a:pt x="15283" y="7641"/>
                    <a:pt x="15283" y="7641"/>
                  </a:cubicBezTo>
                  <a:cubicBezTo>
                    <a:pt x="15487" y="7641"/>
                    <a:pt x="15487" y="7641"/>
                    <a:pt x="15691" y="7641"/>
                  </a:cubicBezTo>
                  <a:cubicBezTo>
                    <a:pt x="15691" y="7788"/>
                    <a:pt x="15894" y="7788"/>
                    <a:pt x="15894" y="7788"/>
                  </a:cubicBezTo>
                  <a:cubicBezTo>
                    <a:pt x="16098" y="7788"/>
                    <a:pt x="16302" y="7641"/>
                    <a:pt x="16506" y="7641"/>
                  </a:cubicBezTo>
                  <a:cubicBezTo>
                    <a:pt x="17321" y="7641"/>
                    <a:pt x="18136" y="7494"/>
                    <a:pt x="18951" y="7494"/>
                  </a:cubicBezTo>
                  <a:cubicBezTo>
                    <a:pt x="19766" y="7347"/>
                    <a:pt x="20377" y="7200"/>
                    <a:pt x="20377" y="7200"/>
                  </a:cubicBezTo>
                  <a:cubicBezTo>
                    <a:pt x="21192" y="7053"/>
                    <a:pt x="21600" y="6612"/>
                    <a:pt x="21600" y="6024"/>
                  </a:cubicBezTo>
                  <a:cubicBezTo>
                    <a:pt x="21396" y="5437"/>
                    <a:pt x="20581" y="5143"/>
                    <a:pt x="19766" y="529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Freeform 12"/>
            <p:cNvSpPr/>
            <p:nvPr/>
          </p:nvSpPr>
          <p:spPr bwMode="auto">
            <a:xfrm>
              <a:off x="230503" y="0"/>
              <a:ext cx="149227" cy="209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9" h="21600" extrusionOk="0">
                  <a:moveTo>
                    <a:pt x="11824" y="9840"/>
                  </a:moveTo>
                  <a:cubicBezTo>
                    <a:pt x="11451" y="9600"/>
                    <a:pt x="11451" y="9600"/>
                    <a:pt x="11451" y="9600"/>
                  </a:cubicBezTo>
                  <a:cubicBezTo>
                    <a:pt x="10334" y="9360"/>
                    <a:pt x="8844" y="8880"/>
                    <a:pt x="8472" y="8880"/>
                  </a:cubicBezTo>
                  <a:cubicBezTo>
                    <a:pt x="8472" y="8880"/>
                    <a:pt x="8100" y="8640"/>
                    <a:pt x="8100" y="8640"/>
                  </a:cubicBezTo>
                  <a:cubicBezTo>
                    <a:pt x="6982" y="8400"/>
                    <a:pt x="6610" y="8160"/>
                    <a:pt x="5865" y="7680"/>
                  </a:cubicBezTo>
                  <a:cubicBezTo>
                    <a:pt x="5120" y="6960"/>
                    <a:pt x="5493" y="6240"/>
                    <a:pt x="6237" y="5760"/>
                  </a:cubicBezTo>
                  <a:cubicBezTo>
                    <a:pt x="7355" y="5040"/>
                    <a:pt x="8844" y="4800"/>
                    <a:pt x="9962" y="4800"/>
                  </a:cubicBezTo>
                  <a:cubicBezTo>
                    <a:pt x="10706" y="4800"/>
                    <a:pt x="13686" y="4560"/>
                    <a:pt x="17410" y="6480"/>
                  </a:cubicBezTo>
                  <a:cubicBezTo>
                    <a:pt x="18155" y="6960"/>
                    <a:pt x="19644" y="6240"/>
                    <a:pt x="20389" y="5760"/>
                  </a:cubicBezTo>
                  <a:cubicBezTo>
                    <a:pt x="20762" y="5280"/>
                    <a:pt x="20762" y="4800"/>
                    <a:pt x="20389" y="4320"/>
                  </a:cubicBezTo>
                  <a:cubicBezTo>
                    <a:pt x="19272" y="3360"/>
                    <a:pt x="15548" y="2640"/>
                    <a:pt x="13686" y="2400"/>
                  </a:cubicBezTo>
                  <a:cubicBezTo>
                    <a:pt x="13313" y="2160"/>
                    <a:pt x="12568" y="2160"/>
                    <a:pt x="11824" y="2160"/>
                  </a:cubicBezTo>
                  <a:cubicBezTo>
                    <a:pt x="11824" y="480"/>
                    <a:pt x="11824" y="480"/>
                    <a:pt x="11824" y="480"/>
                  </a:cubicBezTo>
                  <a:cubicBezTo>
                    <a:pt x="11824" y="240"/>
                    <a:pt x="11451" y="0"/>
                    <a:pt x="11079" y="0"/>
                  </a:cubicBezTo>
                  <a:cubicBezTo>
                    <a:pt x="8844" y="0"/>
                    <a:pt x="8844" y="0"/>
                    <a:pt x="8844" y="0"/>
                  </a:cubicBezTo>
                  <a:cubicBezTo>
                    <a:pt x="8472" y="0"/>
                    <a:pt x="8100" y="240"/>
                    <a:pt x="8100" y="480"/>
                  </a:cubicBezTo>
                  <a:cubicBezTo>
                    <a:pt x="8100" y="2160"/>
                    <a:pt x="8100" y="2160"/>
                    <a:pt x="8100" y="2160"/>
                  </a:cubicBezTo>
                  <a:cubicBezTo>
                    <a:pt x="5865" y="2400"/>
                    <a:pt x="4003" y="2880"/>
                    <a:pt x="2513" y="3600"/>
                  </a:cubicBezTo>
                  <a:cubicBezTo>
                    <a:pt x="279" y="5040"/>
                    <a:pt x="-466" y="7200"/>
                    <a:pt x="1024" y="8880"/>
                  </a:cubicBezTo>
                  <a:cubicBezTo>
                    <a:pt x="1396" y="9600"/>
                    <a:pt x="2513" y="10320"/>
                    <a:pt x="3631" y="10800"/>
                  </a:cubicBezTo>
                  <a:cubicBezTo>
                    <a:pt x="4748" y="11040"/>
                    <a:pt x="9217" y="12480"/>
                    <a:pt x="11451" y="12960"/>
                  </a:cubicBezTo>
                  <a:cubicBezTo>
                    <a:pt x="12568" y="13440"/>
                    <a:pt x="12568" y="13440"/>
                    <a:pt x="12568" y="13440"/>
                  </a:cubicBezTo>
                  <a:cubicBezTo>
                    <a:pt x="13313" y="13680"/>
                    <a:pt x="14058" y="13920"/>
                    <a:pt x="14431" y="14400"/>
                  </a:cubicBezTo>
                  <a:cubicBezTo>
                    <a:pt x="15175" y="15120"/>
                    <a:pt x="14803" y="15840"/>
                    <a:pt x="14058" y="16320"/>
                  </a:cubicBezTo>
                  <a:cubicBezTo>
                    <a:pt x="13313" y="16800"/>
                    <a:pt x="12196" y="17040"/>
                    <a:pt x="10706" y="17040"/>
                  </a:cubicBezTo>
                  <a:cubicBezTo>
                    <a:pt x="9589" y="17040"/>
                    <a:pt x="8472" y="16800"/>
                    <a:pt x="6982" y="16560"/>
                  </a:cubicBezTo>
                  <a:cubicBezTo>
                    <a:pt x="6237" y="16320"/>
                    <a:pt x="5493" y="16080"/>
                    <a:pt x="4748" y="15600"/>
                  </a:cubicBezTo>
                  <a:cubicBezTo>
                    <a:pt x="4748" y="15600"/>
                    <a:pt x="4375" y="1560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003" y="14880"/>
                    <a:pt x="3258" y="14880"/>
                    <a:pt x="2886" y="14880"/>
                  </a:cubicBezTo>
                  <a:cubicBezTo>
                    <a:pt x="1768" y="14880"/>
                    <a:pt x="651" y="15360"/>
                    <a:pt x="279" y="15840"/>
                  </a:cubicBezTo>
                  <a:cubicBezTo>
                    <a:pt x="-94" y="16320"/>
                    <a:pt x="-94" y="16800"/>
                    <a:pt x="279" y="17040"/>
                  </a:cubicBezTo>
                  <a:cubicBezTo>
                    <a:pt x="1768" y="18480"/>
                    <a:pt x="4748" y="19440"/>
                    <a:pt x="8100" y="19680"/>
                  </a:cubicBezTo>
                  <a:cubicBezTo>
                    <a:pt x="8100" y="21360"/>
                    <a:pt x="8100" y="21360"/>
                    <a:pt x="8100" y="21360"/>
                  </a:cubicBezTo>
                  <a:cubicBezTo>
                    <a:pt x="8100" y="21600"/>
                    <a:pt x="8472" y="21600"/>
                    <a:pt x="8844" y="21600"/>
                  </a:cubicBezTo>
                  <a:cubicBezTo>
                    <a:pt x="11079" y="21600"/>
                    <a:pt x="11079" y="21600"/>
                    <a:pt x="11079" y="21600"/>
                  </a:cubicBezTo>
                  <a:cubicBezTo>
                    <a:pt x="11451" y="21600"/>
                    <a:pt x="11824" y="21600"/>
                    <a:pt x="11824" y="21360"/>
                  </a:cubicBezTo>
                  <a:cubicBezTo>
                    <a:pt x="11824" y="19680"/>
                    <a:pt x="11824" y="19680"/>
                    <a:pt x="11824" y="19680"/>
                  </a:cubicBezTo>
                  <a:cubicBezTo>
                    <a:pt x="14431" y="19680"/>
                    <a:pt x="16665" y="19200"/>
                    <a:pt x="17782" y="18480"/>
                  </a:cubicBezTo>
                  <a:cubicBezTo>
                    <a:pt x="20017" y="17280"/>
                    <a:pt x="21134" y="15120"/>
                    <a:pt x="20017" y="13440"/>
                  </a:cubicBezTo>
                  <a:cubicBezTo>
                    <a:pt x="18900" y="11520"/>
                    <a:pt x="14803" y="10560"/>
                    <a:pt x="11824" y="98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4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60" name="持有至到期"/>
          <p:cNvSpPr/>
          <p:nvPr/>
        </p:nvSpPr>
        <p:spPr bwMode="auto">
          <a:xfrm>
            <a:off x="1759579" y="4040774"/>
            <a:ext cx="1087531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1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持有至到期</a:t>
            </a:r>
            <a:endParaRPr b="1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61" name="线条"/>
          <p:cNvSpPr/>
          <p:nvPr/>
        </p:nvSpPr>
        <p:spPr bwMode="auto">
          <a:xfrm>
            <a:off x="2796860" y="4154326"/>
            <a:ext cx="796458" cy="0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核心企业兑付，账款到达企业账户"/>
          <p:cNvSpPr/>
          <p:nvPr/>
        </p:nvSpPr>
        <p:spPr bwMode="auto">
          <a:xfrm>
            <a:off x="3680100" y="4000651"/>
            <a:ext cx="2995629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核心企业兑付</a:t>
            </a:r>
            <a:r>
              <a:rPr lang="zh-CN"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，</a:t>
            </a: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账款到达企业账户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63" name="合法电子债权凭证"/>
          <p:cNvSpPr/>
          <p:nvPr/>
        </p:nvSpPr>
        <p:spPr bwMode="auto">
          <a:xfrm>
            <a:off x="10723245" y="2733040"/>
            <a:ext cx="1348105" cy="275590"/>
          </a:xfrm>
          <a:prstGeom prst="rect">
            <a:avLst/>
          </a:prstGeom>
          <a:solidFill>
            <a:srgbClr val="FF9401"/>
          </a:solidFill>
          <a:ln w="19050">
            <a:solidFill>
              <a:srgbClr val="FFFFFF"/>
            </a:solidFill>
            <a:miter/>
          </a:ln>
        </p:spPr>
        <p:txBody>
          <a:bodyPr wrap="square" lIns="45719" rIns="45719">
            <a:spAutoFit/>
          </a:bodyPr>
          <a:lstStyle>
            <a:lvl1pPr algn="l">
              <a:lnSpc>
                <a:spcPct val="100000"/>
              </a:lnSpc>
              <a:defRPr sz="1500">
                <a:solidFill>
                  <a:srgbClr val="000000"/>
                </a:solidFill>
                <a:latin typeface="Libian SC Regular"/>
                <a:ea typeface="Libian SC Regular"/>
                <a:cs typeface="Libian SC Regular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0" i="0" u="none" strike="noStrike" cap="none" spc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合法电子债权凭证</a:t>
            </a:r>
            <a:endParaRPr sz="1200" b="0" i="0" u="none" strike="noStrike" cap="none" spc="0">
              <a:ln>
                <a:noFill/>
              </a:ln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线条"/>
          <p:cNvSpPr/>
          <p:nvPr/>
        </p:nvSpPr>
        <p:spPr bwMode="auto">
          <a:xfrm flipV="1">
            <a:off x="915670" y="4701540"/>
            <a:ext cx="739140" cy="635"/>
          </a:xfrm>
          <a:prstGeom prst="line">
            <a:avLst/>
          </a:prstGeom>
          <a:ln w="25400">
            <a:solidFill>
              <a:srgbClr val="2864FF"/>
            </a:solidFill>
            <a:miter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卖出"/>
          <p:cNvSpPr/>
          <p:nvPr/>
        </p:nvSpPr>
        <p:spPr bwMode="auto">
          <a:xfrm>
            <a:off x="1789725" y="4586679"/>
            <a:ext cx="57867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融资</a:t>
            </a:r>
            <a:endParaRPr lang="zh-CN" b="1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66" name="线条"/>
          <p:cNvSpPr/>
          <p:nvPr/>
        </p:nvSpPr>
        <p:spPr bwMode="auto">
          <a:xfrm>
            <a:off x="2458306" y="4747236"/>
            <a:ext cx="1155126" cy="0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线条"/>
          <p:cNvSpPr/>
          <p:nvPr/>
        </p:nvSpPr>
        <p:spPr bwMode="auto">
          <a:xfrm>
            <a:off x="4680605" y="4782955"/>
            <a:ext cx="1262743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提交申请"/>
          <p:cNvSpPr/>
          <p:nvPr/>
        </p:nvSpPr>
        <p:spPr bwMode="auto">
          <a:xfrm>
            <a:off x="4951175" y="4436648"/>
            <a:ext cx="933782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提交申请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69" name="银行"/>
          <p:cNvSpPr/>
          <p:nvPr/>
        </p:nvSpPr>
        <p:spPr bwMode="auto">
          <a:xfrm>
            <a:off x="6011011" y="4629828"/>
            <a:ext cx="323371" cy="3067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0" y="4809"/>
                </a:lnTo>
                <a:lnTo>
                  <a:pt x="0" y="6302"/>
                </a:lnTo>
                <a:lnTo>
                  <a:pt x="21600" y="6302"/>
                </a:lnTo>
                <a:lnTo>
                  <a:pt x="21600" y="4809"/>
                </a:lnTo>
                <a:lnTo>
                  <a:pt x="10800" y="0"/>
                </a:lnTo>
                <a:close/>
                <a:moveTo>
                  <a:pt x="2300" y="7104"/>
                </a:moveTo>
                <a:lnTo>
                  <a:pt x="2300" y="7712"/>
                </a:lnTo>
                <a:lnTo>
                  <a:pt x="2688" y="7712"/>
                </a:lnTo>
                <a:lnTo>
                  <a:pt x="2688" y="16945"/>
                </a:lnTo>
                <a:lnTo>
                  <a:pt x="2300" y="16945"/>
                </a:lnTo>
                <a:lnTo>
                  <a:pt x="2300" y="17559"/>
                </a:lnTo>
                <a:lnTo>
                  <a:pt x="5189" y="17559"/>
                </a:lnTo>
                <a:lnTo>
                  <a:pt x="5189" y="16945"/>
                </a:lnTo>
                <a:lnTo>
                  <a:pt x="4799" y="16945"/>
                </a:lnTo>
                <a:lnTo>
                  <a:pt x="4799" y="7712"/>
                </a:lnTo>
                <a:lnTo>
                  <a:pt x="5189" y="7712"/>
                </a:lnTo>
                <a:lnTo>
                  <a:pt x="5189" y="7104"/>
                </a:lnTo>
                <a:lnTo>
                  <a:pt x="2300" y="7104"/>
                </a:lnTo>
                <a:close/>
                <a:moveTo>
                  <a:pt x="6350" y="7104"/>
                </a:moveTo>
                <a:lnTo>
                  <a:pt x="6350" y="7712"/>
                </a:lnTo>
                <a:lnTo>
                  <a:pt x="6738" y="7712"/>
                </a:lnTo>
                <a:lnTo>
                  <a:pt x="6738" y="16945"/>
                </a:lnTo>
                <a:lnTo>
                  <a:pt x="6350" y="16945"/>
                </a:lnTo>
                <a:lnTo>
                  <a:pt x="6350" y="17559"/>
                </a:lnTo>
                <a:lnTo>
                  <a:pt x="9239" y="17559"/>
                </a:lnTo>
                <a:lnTo>
                  <a:pt x="9239" y="16945"/>
                </a:lnTo>
                <a:lnTo>
                  <a:pt x="8849" y="16945"/>
                </a:lnTo>
                <a:lnTo>
                  <a:pt x="8849" y="7712"/>
                </a:lnTo>
                <a:lnTo>
                  <a:pt x="9239" y="7712"/>
                </a:lnTo>
                <a:lnTo>
                  <a:pt x="9239" y="7104"/>
                </a:lnTo>
                <a:lnTo>
                  <a:pt x="6350" y="7104"/>
                </a:lnTo>
                <a:close/>
                <a:moveTo>
                  <a:pt x="12359" y="7104"/>
                </a:moveTo>
                <a:lnTo>
                  <a:pt x="12359" y="7712"/>
                </a:lnTo>
                <a:lnTo>
                  <a:pt x="12749" y="7712"/>
                </a:lnTo>
                <a:lnTo>
                  <a:pt x="12749" y="16945"/>
                </a:lnTo>
                <a:lnTo>
                  <a:pt x="12359" y="16945"/>
                </a:lnTo>
                <a:lnTo>
                  <a:pt x="12359" y="17559"/>
                </a:lnTo>
                <a:lnTo>
                  <a:pt x="15248" y="17559"/>
                </a:lnTo>
                <a:lnTo>
                  <a:pt x="15248" y="16945"/>
                </a:lnTo>
                <a:lnTo>
                  <a:pt x="14860" y="16945"/>
                </a:lnTo>
                <a:lnTo>
                  <a:pt x="14860" y="7712"/>
                </a:lnTo>
                <a:lnTo>
                  <a:pt x="15248" y="7712"/>
                </a:lnTo>
                <a:lnTo>
                  <a:pt x="15248" y="7104"/>
                </a:lnTo>
                <a:lnTo>
                  <a:pt x="12359" y="7104"/>
                </a:lnTo>
                <a:close/>
                <a:moveTo>
                  <a:pt x="16409" y="7104"/>
                </a:moveTo>
                <a:lnTo>
                  <a:pt x="16409" y="7712"/>
                </a:lnTo>
                <a:lnTo>
                  <a:pt x="16799" y="7712"/>
                </a:lnTo>
                <a:lnTo>
                  <a:pt x="16799" y="16945"/>
                </a:lnTo>
                <a:lnTo>
                  <a:pt x="16409" y="16945"/>
                </a:lnTo>
                <a:lnTo>
                  <a:pt x="16409" y="17559"/>
                </a:lnTo>
                <a:lnTo>
                  <a:pt x="19298" y="17559"/>
                </a:lnTo>
                <a:lnTo>
                  <a:pt x="19298" y="16945"/>
                </a:lnTo>
                <a:lnTo>
                  <a:pt x="18910" y="16945"/>
                </a:lnTo>
                <a:lnTo>
                  <a:pt x="18910" y="7712"/>
                </a:lnTo>
                <a:lnTo>
                  <a:pt x="19298" y="7712"/>
                </a:lnTo>
                <a:lnTo>
                  <a:pt x="19298" y="7104"/>
                </a:lnTo>
                <a:lnTo>
                  <a:pt x="16409" y="7104"/>
                </a:lnTo>
                <a:close/>
                <a:moveTo>
                  <a:pt x="1068" y="18363"/>
                </a:moveTo>
                <a:lnTo>
                  <a:pt x="1068" y="19579"/>
                </a:lnTo>
                <a:lnTo>
                  <a:pt x="20530" y="19579"/>
                </a:lnTo>
                <a:lnTo>
                  <a:pt x="20530" y="18363"/>
                </a:lnTo>
                <a:lnTo>
                  <a:pt x="1068" y="18363"/>
                </a:lnTo>
                <a:close/>
                <a:moveTo>
                  <a:pt x="0" y="20383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0383"/>
                </a:lnTo>
                <a:lnTo>
                  <a:pt x="0" y="20383"/>
                </a:lnTo>
                <a:close/>
              </a:path>
            </a:pathLst>
          </a:custGeom>
          <a:solidFill>
            <a:srgbClr val="2864FF"/>
          </a:solidFill>
          <a:ln w="12700">
            <a:noFill/>
            <a:miter/>
          </a:ln>
        </p:spPr>
        <p:txBody>
          <a:bodyPr lIns="45719" rIns="45719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cap="none" spc="0">
              <a:ln>
                <a:noFill/>
              </a:ln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金融机构审核"/>
          <p:cNvSpPr/>
          <p:nvPr/>
        </p:nvSpPr>
        <p:spPr bwMode="auto">
          <a:xfrm>
            <a:off x="6471985" y="4655583"/>
            <a:ext cx="1208751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金融机构审核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71" name="线条"/>
          <p:cNvSpPr/>
          <p:nvPr/>
        </p:nvSpPr>
        <p:spPr bwMode="auto">
          <a:xfrm>
            <a:off x="7646721" y="4809254"/>
            <a:ext cx="651837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放款"/>
          <p:cNvSpPr/>
          <p:nvPr/>
        </p:nvSpPr>
        <p:spPr bwMode="auto">
          <a:xfrm>
            <a:off x="7732315" y="4491985"/>
            <a:ext cx="451218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放款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73" name="Freeform 57"/>
          <p:cNvSpPr/>
          <p:nvPr/>
        </p:nvSpPr>
        <p:spPr bwMode="auto">
          <a:xfrm>
            <a:off x="8436950" y="4477412"/>
            <a:ext cx="429850" cy="408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98" extrusionOk="0">
                <a:moveTo>
                  <a:pt x="0" y="21398"/>
                </a:moveTo>
                <a:cubicBezTo>
                  <a:pt x="3086" y="15084"/>
                  <a:pt x="7406" y="8770"/>
                  <a:pt x="15120" y="11761"/>
                </a:cubicBezTo>
                <a:cubicBezTo>
                  <a:pt x="15120" y="13090"/>
                  <a:pt x="15120" y="13090"/>
                  <a:pt x="15120" y="13090"/>
                </a:cubicBezTo>
                <a:cubicBezTo>
                  <a:pt x="14503" y="13755"/>
                  <a:pt x="12960" y="14087"/>
                  <a:pt x="9566" y="13755"/>
                </a:cubicBezTo>
                <a:cubicBezTo>
                  <a:pt x="9566" y="14087"/>
                  <a:pt x="9566" y="14087"/>
                  <a:pt x="9566" y="14087"/>
                </a:cubicBezTo>
                <a:cubicBezTo>
                  <a:pt x="13886" y="15084"/>
                  <a:pt x="16663" y="14752"/>
                  <a:pt x="19440" y="10432"/>
                </a:cubicBezTo>
                <a:cubicBezTo>
                  <a:pt x="21600" y="10432"/>
                  <a:pt x="21600" y="10432"/>
                  <a:pt x="21600" y="10432"/>
                </a:cubicBezTo>
                <a:cubicBezTo>
                  <a:pt x="17280" y="17410"/>
                  <a:pt x="17280" y="17410"/>
                  <a:pt x="17280" y="17410"/>
                </a:cubicBezTo>
                <a:cubicBezTo>
                  <a:pt x="8331" y="17743"/>
                  <a:pt x="8331" y="17743"/>
                  <a:pt x="8331" y="17743"/>
                </a:cubicBezTo>
                <a:cubicBezTo>
                  <a:pt x="7406" y="21398"/>
                  <a:pt x="7406" y="21398"/>
                  <a:pt x="7406" y="21398"/>
                </a:cubicBezTo>
                <a:cubicBezTo>
                  <a:pt x="0" y="21398"/>
                  <a:pt x="0" y="21398"/>
                  <a:pt x="0" y="21398"/>
                </a:cubicBezTo>
                <a:close/>
                <a:moveTo>
                  <a:pt x="11417" y="2456"/>
                </a:moveTo>
                <a:cubicBezTo>
                  <a:pt x="11417" y="3121"/>
                  <a:pt x="11726" y="3453"/>
                  <a:pt x="11726" y="4118"/>
                </a:cubicBezTo>
                <a:cubicBezTo>
                  <a:pt x="11726" y="4783"/>
                  <a:pt x="11417" y="5115"/>
                  <a:pt x="11109" y="5115"/>
                </a:cubicBezTo>
                <a:cubicBezTo>
                  <a:pt x="9874" y="5780"/>
                  <a:pt x="9874" y="5780"/>
                  <a:pt x="9874" y="5780"/>
                </a:cubicBezTo>
                <a:cubicBezTo>
                  <a:pt x="9874" y="5780"/>
                  <a:pt x="9874" y="5780"/>
                  <a:pt x="9874" y="5780"/>
                </a:cubicBezTo>
                <a:cubicBezTo>
                  <a:pt x="9874" y="5780"/>
                  <a:pt x="9874" y="5780"/>
                  <a:pt x="9874" y="5780"/>
                </a:cubicBezTo>
                <a:cubicBezTo>
                  <a:pt x="9566" y="5780"/>
                  <a:pt x="9257" y="5447"/>
                  <a:pt x="8949" y="5115"/>
                </a:cubicBezTo>
                <a:cubicBezTo>
                  <a:pt x="8640" y="4450"/>
                  <a:pt x="8331" y="4118"/>
                  <a:pt x="8331" y="3453"/>
                </a:cubicBezTo>
                <a:cubicBezTo>
                  <a:pt x="8023" y="2789"/>
                  <a:pt x="8023" y="2124"/>
                  <a:pt x="8023" y="1792"/>
                </a:cubicBezTo>
                <a:cubicBezTo>
                  <a:pt x="8023" y="1127"/>
                  <a:pt x="8023" y="795"/>
                  <a:pt x="8331" y="463"/>
                </a:cubicBezTo>
                <a:cubicBezTo>
                  <a:pt x="8331" y="463"/>
                  <a:pt x="8331" y="463"/>
                  <a:pt x="8331" y="463"/>
                </a:cubicBezTo>
                <a:cubicBezTo>
                  <a:pt x="8331" y="463"/>
                  <a:pt x="8331" y="463"/>
                  <a:pt x="8331" y="463"/>
                </a:cubicBezTo>
                <a:cubicBezTo>
                  <a:pt x="8331" y="463"/>
                  <a:pt x="8331" y="463"/>
                  <a:pt x="8331" y="463"/>
                </a:cubicBezTo>
                <a:cubicBezTo>
                  <a:pt x="8331" y="463"/>
                  <a:pt x="8331" y="463"/>
                  <a:pt x="8331" y="463"/>
                </a:cubicBezTo>
                <a:cubicBezTo>
                  <a:pt x="9566" y="130"/>
                  <a:pt x="9566" y="130"/>
                  <a:pt x="9566" y="130"/>
                </a:cubicBezTo>
                <a:cubicBezTo>
                  <a:pt x="9566" y="130"/>
                  <a:pt x="9566" y="130"/>
                  <a:pt x="9566" y="130"/>
                </a:cubicBezTo>
                <a:cubicBezTo>
                  <a:pt x="9874" y="-202"/>
                  <a:pt x="10491" y="130"/>
                  <a:pt x="10800" y="795"/>
                </a:cubicBezTo>
                <a:cubicBezTo>
                  <a:pt x="10800" y="1127"/>
                  <a:pt x="11109" y="1792"/>
                  <a:pt x="11417" y="2456"/>
                </a:cubicBezTo>
                <a:close/>
                <a:moveTo>
                  <a:pt x="9257" y="1460"/>
                </a:moveTo>
                <a:cubicBezTo>
                  <a:pt x="8640" y="1792"/>
                  <a:pt x="8640" y="1792"/>
                  <a:pt x="8640" y="1792"/>
                </a:cubicBezTo>
                <a:cubicBezTo>
                  <a:pt x="8640" y="1792"/>
                  <a:pt x="8640" y="1792"/>
                  <a:pt x="8640" y="2124"/>
                </a:cubicBezTo>
                <a:cubicBezTo>
                  <a:pt x="9257" y="1792"/>
                  <a:pt x="9257" y="1792"/>
                  <a:pt x="9257" y="1792"/>
                </a:cubicBezTo>
                <a:cubicBezTo>
                  <a:pt x="9257" y="1792"/>
                  <a:pt x="9257" y="1792"/>
                  <a:pt x="9257" y="1460"/>
                </a:cubicBezTo>
                <a:close/>
                <a:moveTo>
                  <a:pt x="8640" y="1460"/>
                </a:moveTo>
                <a:cubicBezTo>
                  <a:pt x="9257" y="1127"/>
                  <a:pt x="9257" y="1127"/>
                  <a:pt x="9257" y="1127"/>
                </a:cubicBezTo>
                <a:cubicBezTo>
                  <a:pt x="9257" y="1127"/>
                  <a:pt x="9257" y="1127"/>
                  <a:pt x="9257" y="1127"/>
                </a:cubicBezTo>
                <a:cubicBezTo>
                  <a:pt x="9257" y="1127"/>
                  <a:pt x="9257" y="1127"/>
                  <a:pt x="9257" y="1127"/>
                </a:cubicBezTo>
                <a:cubicBezTo>
                  <a:pt x="8640" y="1127"/>
                  <a:pt x="8640" y="1127"/>
                  <a:pt x="8640" y="1127"/>
                </a:cubicBezTo>
                <a:cubicBezTo>
                  <a:pt x="8640" y="1127"/>
                  <a:pt x="8640" y="1127"/>
                  <a:pt x="8640" y="1127"/>
                </a:cubicBezTo>
                <a:cubicBezTo>
                  <a:pt x="8640" y="1127"/>
                  <a:pt x="8640" y="1460"/>
                  <a:pt x="8640" y="1460"/>
                </a:cubicBezTo>
                <a:close/>
                <a:moveTo>
                  <a:pt x="10183" y="4783"/>
                </a:moveTo>
                <a:cubicBezTo>
                  <a:pt x="9566" y="4783"/>
                  <a:pt x="9566" y="4783"/>
                  <a:pt x="9566" y="4783"/>
                </a:cubicBezTo>
                <a:cubicBezTo>
                  <a:pt x="9566" y="4783"/>
                  <a:pt x="9566" y="4783"/>
                  <a:pt x="9566" y="4783"/>
                </a:cubicBezTo>
                <a:cubicBezTo>
                  <a:pt x="9566" y="4783"/>
                  <a:pt x="9566" y="4783"/>
                  <a:pt x="9566" y="4783"/>
                </a:cubicBezTo>
                <a:cubicBezTo>
                  <a:pt x="10183" y="4783"/>
                  <a:pt x="10183" y="4783"/>
                  <a:pt x="10183" y="4783"/>
                </a:cubicBezTo>
                <a:cubicBezTo>
                  <a:pt x="10183" y="4783"/>
                  <a:pt x="10183" y="4783"/>
                  <a:pt x="10183" y="4783"/>
                </a:cubicBezTo>
                <a:close/>
                <a:moveTo>
                  <a:pt x="9566" y="4450"/>
                </a:moveTo>
                <a:cubicBezTo>
                  <a:pt x="10183" y="4450"/>
                  <a:pt x="10183" y="4450"/>
                  <a:pt x="10183" y="4450"/>
                </a:cubicBezTo>
                <a:cubicBezTo>
                  <a:pt x="9874" y="4118"/>
                  <a:pt x="9874" y="4118"/>
                  <a:pt x="9874" y="4118"/>
                </a:cubicBezTo>
                <a:cubicBezTo>
                  <a:pt x="9257" y="4450"/>
                  <a:pt x="9257" y="4450"/>
                  <a:pt x="9257" y="4450"/>
                </a:cubicBezTo>
                <a:cubicBezTo>
                  <a:pt x="9257" y="4450"/>
                  <a:pt x="9566" y="4450"/>
                  <a:pt x="9566" y="4450"/>
                </a:cubicBezTo>
                <a:close/>
                <a:moveTo>
                  <a:pt x="9257" y="2456"/>
                </a:moveTo>
                <a:cubicBezTo>
                  <a:pt x="8640" y="2456"/>
                  <a:pt x="8640" y="2456"/>
                  <a:pt x="8640" y="2456"/>
                </a:cubicBezTo>
                <a:cubicBezTo>
                  <a:pt x="8640" y="2789"/>
                  <a:pt x="8640" y="2789"/>
                  <a:pt x="8640" y="2789"/>
                </a:cubicBezTo>
                <a:cubicBezTo>
                  <a:pt x="9257" y="2456"/>
                  <a:pt x="9257" y="2456"/>
                  <a:pt x="9257" y="2456"/>
                </a:cubicBezTo>
                <a:cubicBezTo>
                  <a:pt x="9257" y="2456"/>
                  <a:pt x="9257" y="2456"/>
                  <a:pt x="9257" y="2456"/>
                </a:cubicBezTo>
                <a:close/>
                <a:moveTo>
                  <a:pt x="8949" y="3786"/>
                </a:moveTo>
                <a:cubicBezTo>
                  <a:pt x="9566" y="3453"/>
                  <a:pt x="9566" y="3453"/>
                  <a:pt x="9566" y="3453"/>
                </a:cubicBezTo>
                <a:cubicBezTo>
                  <a:pt x="9566" y="3453"/>
                  <a:pt x="9566" y="3453"/>
                  <a:pt x="9566" y="3453"/>
                </a:cubicBezTo>
                <a:cubicBezTo>
                  <a:pt x="8949" y="3453"/>
                  <a:pt x="8949" y="3453"/>
                  <a:pt x="8949" y="3453"/>
                </a:cubicBezTo>
                <a:cubicBezTo>
                  <a:pt x="8949" y="3453"/>
                  <a:pt x="8949" y="3786"/>
                  <a:pt x="8949" y="3786"/>
                </a:cubicBezTo>
                <a:close/>
                <a:moveTo>
                  <a:pt x="10800" y="4118"/>
                </a:moveTo>
                <a:cubicBezTo>
                  <a:pt x="10800" y="3786"/>
                  <a:pt x="10800" y="3121"/>
                  <a:pt x="10800" y="2456"/>
                </a:cubicBezTo>
                <a:cubicBezTo>
                  <a:pt x="10491" y="2124"/>
                  <a:pt x="10183" y="1460"/>
                  <a:pt x="10183" y="1127"/>
                </a:cubicBezTo>
                <a:cubicBezTo>
                  <a:pt x="9874" y="795"/>
                  <a:pt x="9874" y="795"/>
                  <a:pt x="9874" y="795"/>
                </a:cubicBezTo>
                <a:cubicBezTo>
                  <a:pt x="9874" y="795"/>
                  <a:pt x="9874" y="795"/>
                  <a:pt x="9874" y="1127"/>
                </a:cubicBezTo>
                <a:cubicBezTo>
                  <a:pt x="9874" y="1460"/>
                  <a:pt x="9874" y="2124"/>
                  <a:pt x="10183" y="2789"/>
                </a:cubicBezTo>
                <a:cubicBezTo>
                  <a:pt x="10491" y="3453"/>
                  <a:pt x="10491" y="3786"/>
                  <a:pt x="10800" y="4118"/>
                </a:cubicBezTo>
                <a:cubicBezTo>
                  <a:pt x="10800" y="4450"/>
                  <a:pt x="10800" y="4450"/>
                  <a:pt x="11109" y="4450"/>
                </a:cubicBezTo>
                <a:cubicBezTo>
                  <a:pt x="11109" y="4450"/>
                  <a:pt x="10800" y="4450"/>
                  <a:pt x="10800" y="4118"/>
                </a:cubicBezTo>
                <a:close/>
                <a:moveTo>
                  <a:pt x="15737" y="8770"/>
                </a:moveTo>
                <a:cubicBezTo>
                  <a:pt x="15429" y="9103"/>
                  <a:pt x="15120" y="9767"/>
                  <a:pt x="15120" y="10100"/>
                </a:cubicBezTo>
                <a:cubicBezTo>
                  <a:pt x="14811" y="10432"/>
                  <a:pt x="14811" y="10764"/>
                  <a:pt x="15120" y="11096"/>
                </a:cubicBezTo>
                <a:cubicBezTo>
                  <a:pt x="15120" y="11096"/>
                  <a:pt x="15120" y="11096"/>
                  <a:pt x="15120" y="11096"/>
                </a:cubicBezTo>
                <a:cubicBezTo>
                  <a:pt x="16046" y="11761"/>
                  <a:pt x="16046" y="11761"/>
                  <a:pt x="16046" y="11761"/>
                </a:cubicBezTo>
                <a:cubicBezTo>
                  <a:pt x="16046" y="11761"/>
                  <a:pt x="16046" y="11761"/>
                  <a:pt x="16046" y="11761"/>
                </a:cubicBezTo>
                <a:cubicBezTo>
                  <a:pt x="16046" y="11761"/>
                  <a:pt x="16046" y="11761"/>
                  <a:pt x="16046" y="11761"/>
                </a:cubicBezTo>
                <a:cubicBezTo>
                  <a:pt x="16046" y="11761"/>
                  <a:pt x="16046" y="11761"/>
                  <a:pt x="16046" y="11761"/>
                </a:cubicBezTo>
                <a:cubicBezTo>
                  <a:pt x="16046" y="11761"/>
                  <a:pt x="16046" y="11761"/>
                  <a:pt x="16046" y="11761"/>
                </a:cubicBezTo>
                <a:cubicBezTo>
                  <a:pt x="16354" y="11761"/>
                  <a:pt x="16663" y="11761"/>
                  <a:pt x="16971" y="11429"/>
                </a:cubicBezTo>
                <a:cubicBezTo>
                  <a:pt x="17280" y="11096"/>
                  <a:pt x="17589" y="10764"/>
                  <a:pt x="17897" y="10432"/>
                </a:cubicBezTo>
                <a:cubicBezTo>
                  <a:pt x="18206" y="10100"/>
                  <a:pt x="18514" y="9435"/>
                  <a:pt x="18514" y="9103"/>
                </a:cubicBezTo>
                <a:cubicBezTo>
                  <a:pt x="18514" y="8770"/>
                  <a:pt x="18514" y="8438"/>
                  <a:pt x="18514" y="8106"/>
                </a:cubicBezTo>
                <a:cubicBezTo>
                  <a:pt x="18514" y="8106"/>
                  <a:pt x="18514" y="8106"/>
                  <a:pt x="18514" y="8106"/>
                </a:cubicBezTo>
                <a:cubicBezTo>
                  <a:pt x="18514" y="8106"/>
                  <a:pt x="18514" y="8106"/>
                  <a:pt x="18514" y="8106"/>
                </a:cubicBezTo>
                <a:cubicBezTo>
                  <a:pt x="17589" y="7441"/>
                  <a:pt x="17589" y="7441"/>
                  <a:pt x="17589" y="7441"/>
                </a:cubicBezTo>
                <a:cubicBezTo>
                  <a:pt x="17280" y="7441"/>
                  <a:pt x="16971" y="7441"/>
                  <a:pt x="16663" y="7773"/>
                </a:cubicBezTo>
                <a:cubicBezTo>
                  <a:pt x="16354" y="8106"/>
                  <a:pt x="16046" y="8438"/>
                  <a:pt x="15737" y="8770"/>
                </a:cubicBezTo>
                <a:close/>
                <a:moveTo>
                  <a:pt x="16354" y="10764"/>
                </a:moveTo>
                <a:cubicBezTo>
                  <a:pt x="16663" y="11096"/>
                  <a:pt x="16663" y="11096"/>
                  <a:pt x="16663" y="11096"/>
                </a:cubicBezTo>
                <a:cubicBezTo>
                  <a:pt x="16663" y="10764"/>
                  <a:pt x="16663" y="10764"/>
                  <a:pt x="16663" y="10764"/>
                </a:cubicBezTo>
                <a:cubicBezTo>
                  <a:pt x="16354" y="10432"/>
                  <a:pt x="16354" y="10432"/>
                  <a:pt x="16354" y="10432"/>
                </a:cubicBezTo>
                <a:cubicBezTo>
                  <a:pt x="16354" y="10432"/>
                  <a:pt x="16354" y="10432"/>
                  <a:pt x="16354" y="10764"/>
                </a:cubicBezTo>
                <a:close/>
                <a:moveTo>
                  <a:pt x="16354" y="11096"/>
                </a:moveTo>
                <a:cubicBezTo>
                  <a:pt x="16046" y="10764"/>
                  <a:pt x="16046" y="10764"/>
                  <a:pt x="16046" y="10764"/>
                </a:cubicBezTo>
                <a:cubicBezTo>
                  <a:pt x="16046" y="10764"/>
                  <a:pt x="16046" y="10764"/>
                  <a:pt x="16046" y="10764"/>
                </a:cubicBezTo>
                <a:cubicBezTo>
                  <a:pt x="16046" y="10764"/>
                  <a:pt x="16046" y="10764"/>
                  <a:pt x="16046" y="10764"/>
                </a:cubicBezTo>
                <a:cubicBezTo>
                  <a:pt x="16354" y="11096"/>
                  <a:pt x="16354" y="11096"/>
                  <a:pt x="16354" y="11096"/>
                </a:cubicBezTo>
                <a:cubicBezTo>
                  <a:pt x="16354" y="11096"/>
                  <a:pt x="16354" y="11096"/>
                  <a:pt x="16354" y="11096"/>
                </a:cubicBezTo>
                <a:cubicBezTo>
                  <a:pt x="16354" y="11096"/>
                  <a:pt x="16354" y="11096"/>
                  <a:pt x="16354" y="11096"/>
                </a:cubicBezTo>
                <a:close/>
                <a:moveTo>
                  <a:pt x="17589" y="8438"/>
                </a:moveTo>
                <a:cubicBezTo>
                  <a:pt x="17897" y="8770"/>
                  <a:pt x="17897" y="8770"/>
                  <a:pt x="17897" y="8770"/>
                </a:cubicBezTo>
                <a:cubicBezTo>
                  <a:pt x="17897" y="8770"/>
                  <a:pt x="18206" y="8770"/>
                  <a:pt x="18206" y="8770"/>
                </a:cubicBezTo>
                <a:cubicBezTo>
                  <a:pt x="17897" y="8770"/>
                  <a:pt x="17897" y="8770"/>
                  <a:pt x="17897" y="8770"/>
                </a:cubicBezTo>
                <a:cubicBezTo>
                  <a:pt x="17589" y="8438"/>
                  <a:pt x="17589" y="8438"/>
                  <a:pt x="17589" y="8438"/>
                </a:cubicBezTo>
                <a:cubicBezTo>
                  <a:pt x="17589" y="8438"/>
                  <a:pt x="17589" y="8438"/>
                  <a:pt x="17589" y="8438"/>
                </a:cubicBezTo>
                <a:close/>
                <a:moveTo>
                  <a:pt x="17897" y="9103"/>
                </a:moveTo>
                <a:cubicBezTo>
                  <a:pt x="17589" y="8770"/>
                  <a:pt x="17589" y="8770"/>
                  <a:pt x="17589" y="8770"/>
                </a:cubicBezTo>
                <a:cubicBezTo>
                  <a:pt x="17589" y="8770"/>
                  <a:pt x="17589" y="8770"/>
                  <a:pt x="17589" y="8770"/>
                </a:cubicBezTo>
                <a:cubicBezTo>
                  <a:pt x="17897" y="9103"/>
                  <a:pt x="17897" y="9103"/>
                  <a:pt x="17897" y="9103"/>
                </a:cubicBezTo>
                <a:cubicBezTo>
                  <a:pt x="17897" y="9103"/>
                  <a:pt x="17897" y="9103"/>
                  <a:pt x="17897" y="9103"/>
                </a:cubicBezTo>
                <a:close/>
                <a:moveTo>
                  <a:pt x="16663" y="10100"/>
                </a:moveTo>
                <a:cubicBezTo>
                  <a:pt x="16971" y="10432"/>
                  <a:pt x="16971" y="10432"/>
                  <a:pt x="16971" y="10432"/>
                </a:cubicBezTo>
                <a:cubicBezTo>
                  <a:pt x="17280" y="10432"/>
                  <a:pt x="17280" y="10432"/>
                  <a:pt x="17280" y="10432"/>
                </a:cubicBezTo>
                <a:cubicBezTo>
                  <a:pt x="16663" y="10100"/>
                  <a:pt x="16663" y="10100"/>
                  <a:pt x="16663" y="10100"/>
                </a:cubicBezTo>
                <a:cubicBezTo>
                  <a:pt x="16663" y="10100"/>
                  <a:pt x="16663" y="10100"/>
                  <a:pt x="16663" y="10100"/>
                </a:cubicBezTo>
                <a:close/>
                <a:moveTo>
                  <a:pt x="17589" y="9767"/>
                </a:moveTo>
                <a:cubicBezTo>
                  <a:pt x="17280" y="9435"/>
                  <a:pt x="17280" y="9435"/>
                  <a:pt x="17280" y="9435"/>
                </a:cubicBezTo>
                <a:cubicBezTo>
                  <a:pt x="17280" y="9435"/>
                  <a:pt x="17280" y="9435"/>
                  <a:pt x="16971" y="9435"/>
                </a:cubicBezTo>
                <a:cubicBezTo>
                  <a:pt x="17589" y="9767"/>
                  <a:pt x="17589" y="9767"/>
                  <a:pt x="17589" y="9767"/>
                </a:cubicBezTo>
                <a:cubicBezTo>
                  <a:pt x="17589" y="9767"/>
                  <a:pt x="17589" y="9767"/>
                  <a:pt x="17589" y="9767"/>
                </a:cubicBezTo>
                <a:close/>
                <a:moveTo>
                  <a:pt x="16971" y="8106"/>
                </a:moveTo>
                <a:cubicBezTo>
                  <a:pt x="16663" y="8438"/>
                  <a:pt x="16354" y="8770"/>
                  <a:pt x="16046" y="9103"/>
                </a:cubicBezTo>
                <a:cubicBezTo>
                  <a:pt x="15737" y="9435"/>
                  <a:pt x="15737" y="9767"/>
                  <a:pt x="15429" y="10100"/>
                </a:cubicBezTo>
                <a:cubicBezTo>
                  <a:pt x="15429" y="10432"/>
                  <a:pt x="15429" y="10432"/>
                  <a:pt x="15429" y="10432"/>
                </a:cubicBezTo>
                <a:cubicBezTo>
                  <a:pt x="15429" y="10432"/>
                  <a:pt x="15429" y="10432"/>
                  <a:pt x="15737" y="10432"/>
                </a:cubicBezTo>
                <a:cubicBezTo>
                  <a:pt x="16046" y="10100"/>
                  <a:pt x="16354" y="9767"/>
                  <a:pt x="16354" y="9435"/>
                </a:cubicBezTo>
                <a:cubicBezTo>
                  <a:pt x="16663" y="9103"/>
                  <a:pt x="16971" y="8438"/>
                  <a:pt x="16971" y="8438"/>
                </a:cubicBezTo>
                <a:cubicBezTo>
                  <a:pt x="16971" y="8106"/>
                  <a:pt x="17280" y="8106"/>
                  <a:pt x="17280" y="8106"/>
                </a:cubicBezTo>
                <a:cubicBezTo>
                  <a:pt x="17280" y="8106"/>
                  <a:pt x="16971" y="8106"/>
                  <a:pt x="16971" y="8106"/>
                </a:cubicBezTo>
                <a:close/>
                <a:moveTo>
                  <a:pt x="12034" y="6776"/>
                </a:moveTo>
                <a:cubicBezTo>
                  <a:pt x="11417" y="6776"/>
                  <a:pt x="11109" y="6444"/>
                  <a:pt x="10491" y="6444"/>
                </a:cubicBezTo>
                <a:cubicBezTo>
                  <a:pt x="9874" y="6444"/>
                  <a:pt x="9566" y="6444"/>
                  <a:pt x="9257" y="6776"/>
                </a:cubicBezTo>
                <a:cubicBezTo>
                  <a:pt x="9257" y="6776"/>
                  <a:pt x="9257" y="6776"/>
                  <a:pt x="9257" y="6776"/>
                </a:cubicBezTo>
                <a:cubicBezTo>
                  <a:pt x="8949" y="8106"/>
                  <a:pt x="8949" y="8106"/>
                  <a:pt x="8949" y="8106"/>
                </a:cubicBezTo>
                <a:cubicBezTo>
                  <a:pt x="8949" y="8106"/>
                  <a:pt x="8949" y="8106"/>
                  <a:pt x="8949" y="8106"/>
                </a:cubicBezTo>
                <a:cubicBezTo>
                  <a:pt x="8949" y="8106"/>
                  <a:pt x="8949" y="8106"/>
                  <a:pt x="8949" y="8438"/>
                </a:cubicBezTo>
                <a:cubicBezTo>
                  <a:pt x="8949" y="8438"/>
                  <a:pt x="8949" y="8438"/>
                  <a:pt x="8949" y="8438"/>
                </a:cubicBezTo>
                <a:cubicBezTo>
                  <a:pt x="8949" y="8438"/>
                  <a:pt x="8949" y="8438"/>
                  <a:pt x="8949" y="8438"/>
                </a:cubicBezTo>
                <a:cubicBezTo>
                  <a:pt x="8949" y="8770"/>
                  <a:pt x="8949" y="9103"/>
                  <a:pt x="9566" y="9435"/>
                </a:cubicBezTo>
                <a:cubicBezTo>
                  <a:pt x="9874" y="9767"/>
                  <a:pt x="10183" y="10100"/>
                  <a:pt x="10800" y="10100"/>
                </a:cubicBezTo>
                <a:cubicBezTo>
                  <a:pt x="11417" y="10432"/>
                  <a:pt x="12034" y="10764"/>
                  <a:pt x="12343" y="10764"/>
                </a:cubicBezTo>
                <a:cubicBezTo>
                  <a:pt x="12960" y="10764"/>
                  <a:pt x="13269" y="10764"/>
                  <a:pt x="13577" y="10432"/>
                </a:cubicBezTo>
                <a:cubicBezTo>
                  <a:pt x="13577" y="10432"/>
                  <a:pt x="13577" y="10432"/>
                  <a:pt x="13577" y="10432"/>
                </a:cubicBezTo>
                <a:cubicBezTo>
                  <a:pt x="13577" y="10100"/>
                  <a:pt x="13577" y="10100"/>
                  <a:pt x="13577" y="10100"/>
                </a:cubicBezTo>
                <a:cubicBezTo>
                  <a:pt x="14194" y="8770"/>
                  <a:pt x="14194" y="8770"/>
                  <a:pt x="14194" y="8770"/>
                </a:cubicBezTo>
                <a:cubicBezTo>
                  <a:pt x="14194" y="8438"/>
                  <a:pt x="13886" y="8106"/>
                  <a:pt x="13577" y="7773"/>
                </a:cubicBezTo>
                <a:cubicBezTo>
                  <a:pt x="13269" y="7441"/>
                  <a:pt x="12651" y="7109"/>
                  <a:pt x="12034" y="6776"/>
                </a:cubicBezTo>
                <a:close/>
                <a:moveTo>
                  <a:pt x="10183" y="8106"/>
                </a:moveTo>
                <a:cubicBezTo>
                  <a:pt x="9874" y="8770"/>
                  <a:pt x="9874" y="8770"/>
                  <a:pt x="9874" y="8770"/>
                </a:cubicBezTo>
                <a:cubicBezTo>
                  <a:pt x="9874" y="8770"/>
                  <a:pt x="10183" y="9103"/>
                  <a:pt x="10183" y="9103"/>
                </a:cubicBezTo>
                <a:cubicBezTo>
                  <a:pt x="10491" y="8438"/>
                  <a:pt x="10491" y="8438"/>
                  <a:pt x="10491" y="8438"/>
                </a:cubicBezTo>
                <a:cubicBezTo>
                  <a:pt x="10183" y="8438"/>
                  <a:pt x="10183" y="8106"/>
                  <a:pt x="10183" y="8106"/>
                </a:cubicBezTo>
                <a:close/>
                <a:moveTo>
                  <a:pt x="9874" y="8770"/>
                </a:moveTo>
                <a:cubicBezTo>
                  <a:pt x="9566" y="8438"/>
                  <a:pt x="9566" y="8438"/>
                  <a:pt x="9566" y="8438"/>
                </a:cubicBezTo>
                <a:cubicBezTo>
                  <a:pt x="9566" y="8438"/>
                  <a:pt x="9566" y="8438"/>
                  <a:pt x="9566" y="8438"/>
                </a:cubicBezTo>
                <a:cubicBezTo>
                  <a:pt x="9874" y="7773"/>
                  <a:pt x="9874" y="7773"/>
                  <a:pt x="9874" y="7773"/>
                </a:cubicBezTo>
                <a:cubicBezTo>
                  <a:pt x="9874" y="7773"/>
                  <a:pt x="9874" y="8106"/>
                  <a:pt x="9874" y="8106"/>
                </a:cubicBezTo>
                <a:cubicBezTo>
                  <a:pt x="9874" y="8106"/>
                  <a:pt x="9874" y="8106"/>
                  <a:pt x="9874" y="8106"/>
                </a:cubicBezTo>
                <a:cubicBezTo>
                  <a:pt x="9874" y="8770"/>
                  <a:pt x="9874" y="8770"/>
                  <a:pt x="9874" y="8770"/>
                </a:cubicBezTo>
                <a:close/>
                <a:moveTo>
                  <a:pt x="12960" y="9435"/>
                </a:moveTo>
                <a:cubicBezTo>
                  <a:pt x="12651" y="10100"/>
                  <a:pt x="12651" y="10100"/>
                  <a:pt x="12651" y="10100"/>
                </a:cubicBezTo>
                <a:cubicBezTo>
                  <a:pt x="12960" y="10100"/>
                  <a:pt x="12960" y="10100"/>
                  <a:pt x="12960" y="10100"/>
                </a:cubicBezTo>
                <a:cubicBezTo>
                  <a:pt x="12960" y="10100"/>
                  <a:pt x="12960" y="10100"/>
                  <a:pt x="12960" y="10100"/>
                </a:cubicBezTo>
                <a:cubicBezTo>
                  <a:pt x="13269" y="9435"/>
                  <a:pt x="13269" y="9435"/>
                  <a:pt x="13269" y="9435"/>
                </a:cubicBezTo>
                <a:cubicBezTo>
                  <a:pt x="13269" y="9435"/>
                  <a:pt x="12960" y="9435"/>
                  <a:pt x="12960" y="9435"/>
                </a:cubicBezTo>
                <a:close/>
                <a:moveTo>
                  <a:pt x="12651" y="9767"/>
                </a:moveTo>
                <a:cubicBezTo>
                  <a:pt x="12651" y="9435"/>
                  <a:pt x="12651" y="9435"/>
                  <a:pt x="12651" y="9435"/>
                </a:cubicBezTo>
                <a:cubicBezTo>
                  <a:pt x="12651" y="9435"/>
                  <a:pt x="12651" y="9103"/>
                  <a:pt x="12651" y="9103"/>
                </a:cubicBezTo>
                <a:cubicBezTo>
                  <a:pt x="12343" y="9767"/>
                  <a:pt x="12343" y="9767"/>
                  <a:pt x="12343" y="9767"/>
                </a:cubicBezTo>
                <a:cubicBezTo>
                  <a:pt x="12343" y="9767"/>
                  <a:pt x="12343" y="9767"/>
                  <a:pt x="12651" y="9767"/>
                </a:cubicBezTo>
                <a:close/>
                <a:moveTo>
                  <a:pt x="10800" y="8770"/>
                </a:moveTo>
                <a:cubicBezTo>
                  <a:pt x="10491" y="9103"/>
                  <a:pt x="10491" y="9103"/>
                  <a:pt x="10491" y="9103"/>
                </a:cubicBezTo>
                <a:cubicBezTo>
                  <a:pt x="10800" y="9435"/>
                  <a:pt x="10800" y="9435"/>
                  <a:pt x="10800" y="9435"/>
                </a:cubicBezTo>
                <a:cubicBezTo>
                  <a:pt x="11109" y="8770"/>
                  <a:pt x="11109" y="8770"/>
                  <a:pt x="11109" y="8770"/>
                </a:cubicBezTo>
                <a:cubicBezTo>
                  <a:pt x="11109" y="8770"/>
                  <a:pt x="10800" y="8770"/>
                  <a:pt x="10800" y="8770"/>
                </a:cubicBezTo>
                <a:close/>
                <a:moveTo>
                  <a:pt x="11726" y="9767"/>
                </a:moveTo>
                <a:cubicBezTo>
                  <a:pt x="12034" y="9103"/>
                  <a:pt x="12034" y="9103"/>
                  <a:pt x="12034" y="9103"/>
                </a:cubicBezTo>
                <a:cubicBezTo>
                  <a:pt x="11726" y="9103"/>
                  <a:pt x="11726" y="9103"/>
                  <a:pt x="11726" y="9103"/>
                </a:cubicBezTo>
                <a:cubicBezTo>
                  <a:pt x="11417" y="9767"/>
                  <a:pt x="11417" y="9767"/>
                  <a:pt x="11417" y="9767"/>
                </a:cubicBezTo>
                <a:cubicBezTo>
                  <a:pt x="11417" y="9767"/>
                  <a:pt x="11726" y="9767"/>
                  <a:pt x="11726" y="9767"/>
                </a:cubicBezTo>
                <a:close/>
                <a:moveTo>
                  <a:pt x="12960" y="8438"/>
                </a:moveTo>
                <a:cubicBezTo>
                  <a:pt x="13269" y="8438"/>
                  <a:pt x="13269" y="8770"/>
                  <a:pt x="13269" y="8770"/>
                </a:cubicBezTo>
                <a:cubicBezTo>
                  <a:pt x="13269" y="8770"/>
                  <a:pt x="13269" y="8438"/>
                  <a:pt x="12960" y="8438"/>
                </a:cubicBezTo>
                <a:cubicBezTo>
                  <a:pt x="12651" y="8438"/>
                  <a:pt x="12034" y="8438"/>
                  <a:pt x="11726" y="8106"/>
                </a:cubicBezTo>
                <a:cubicBezTo>
                  <a:pt x="11109" y="7773"/>
                  <a:pt x="10800" y="7773"/>
                  <a:pt x="10491" y="7441"/>
                </a:cubicBezTo>
                <a:cubicBezTo>
                  <a:pt x="10183" y="7109"/>
                  <a:pt x="10183" y="7109"/>
                  <a:pt x="10183" y="7109"/>
                </a:cubicBezTo>
                <a:cubicBezTo>
                  <a:pt x="10183" y="7109"/>
                  <a:pt x="10183" y="7109"/>
                  <a:pt x="10491" y="7109"/>
                </a:cubicBezTo>
                <a:cubicBezTo>
                  <a:pt x="10800" y="7109"/>
                  <a:pt x="11417" y="7441"/>
                  <a:pt x="11726" y="7773"/>
                </a:cubicBezTo>
                <a:cubicBezTo>
                  <a:pt x="12343" y="7773"/>
                  <a:pt x="12651" y="8106"/>
                  <a:pt x="12960" y="8438"/>
                </a:cubicBezTo>
                <a:close/>
                <a:moveTo>
                  <a:pt x="17280" y="2789"/>
                </a:moveTo>
                <a:cubicBezTo>
                  <a:pt x="17897" y="2456"/>
                  <a:pt x="18514" y="2124"/>
                  <a:pt x="18823" y="2124"/>
                </a:cubicBezTo>
                <a:cubicBezTo>
                  <a:pt x="19440" y="2124"/>
                  <a:pt x="19749" y="2456"/>
                  <a:pt x="20057" y="2789"/>
                </a:cubicBezTo>
                <a:cubicBezTo>
                  <a:pt x="20674" y="4118"/>
                  <a:pt x="20674" y="4118"/>
                  <a:pt x="20674" y="4118"/>
                </a:cubicBezTo>
                <a:cubicBezTo>
                  <a:pt x="20674" y="4118"/>
                  <a:pt x="20674" y="4118"/>
                  <a:pt x="20674" y="4118"/>
                </a:cubicBezTo>
                <a:cubicBezTo>
                  <a:pt x="20674" y="4118"/>
                  <a:pt x="20674" y="4118"/>
                  <a:pt x="20674" y="4118"/>
                </a:cubicBezTo>
                <a:cubicBezTo>
                  <a:pt x="20674" y="4450"/>
                  <a:pt x="20366" y="5115"/>
                  <a:pt x="20057" y="5447"/>
                </a:cubicBezTo>
                <a:cubicBezTo>
                  <a:pt x="19440" y="5780"/>
                  <a:pt x="19131" y="6112"/>
                  <a:pt x="18514" y="6112"/>
                </a:cubicBezTo>
                <a:cubicBezTo>
                  <a:pt x="17897" y="6444"/>
                  <a:pt x="17280" y="6776"/>
                  <a:pt x="16663" y="6776"/>
                </a:cubicBezTo>
                <a:cubicBezTo>
                  <a:pt x="16046" y="6776"/>
                  <a:pt x="15737" y="6444"/>
                  <a:pt x="15737" y="6112"/>
                </a:cubicBezTo>
                <a:cubicBezTo>
                  <a:pt x="15737" y="6444"/>
                  <a:pt x="15737" y="6444"/>
                  <a:pt x="15737" y="6444"/>
                </a:cubicBezTo>
                <a:cubicBezTo>
                  <a:pt x="15737" y="6112"/>
                  <a:pt x="15737" y="6112"/>
                  <a:pt x="15737" y="6112"/>
                </a:cubicBezTo>
                <a:cubicBezTo>
                  <a:pt x="15737" y="6112"/>
                  <a:pt x="15429" y="6112"/>
                  <a:pt x="15429" y="6112"/>
                </a:cubicBezTo>
                <a:cubicBezTo>
                  <a:pt x="15429" y="6112"/>
                  <a:pt x="15429" y="6112"/>
                  <a:pt x="15429" y="6112"/>
                </a:cubicBezTo>
                <a:cubicBezTo>
                  <a:pt x="15120" y="4783"/>
                  <a:pt x="15120" y="4783"/>
                  <a:pt x="15120" y="4783"/>
                </a:cubicBezTo>
                <a:cubicBezTo>
                  <a:pt x="15120" y="4783"/>
                  <a:pt x="15120" y="4783"/>
                  <a:pt x="15120" y="4783"/>
                </a:cubicBezTo>
                <a:cubicBezTo>
                  <a:pt x="14811" y="4450"/>
                  <a:pt x="15120" y="4118"/>
                  <a:pt x="15737" y="3453"/>
                </a:cubicBezTo>
                <a:cubicBezTo>
                  <a:pt x="16046" y="3121"/>
                  <a:pt x="16663" y="3121"/>
                  <a:pt x="17280" y="2789"/>
                </a:cubicBezTo>
                <a:close/>
                <a:moveTo>
                  <a:pt x="16663" y="5115"/>
                </a:moveTo>
                <a:cubicBezTo>
                  <a:pt x="16663" y="5780"/>
                  <a:pt x="16663" y="5780"/>
                  <a:pt x="16663" y="5780"/>
                </a:cubicBezTo>
                <a:cubicBezTo>
                  <a:pt x="16971" y="5780"/>
                  <a:pt x="16971" y="5780"/>
                  <a:pt x="16971" y="5780"/>
                </a:cubicBezTo>
                <a:cubicBezTo>
                  <a:pt x="16663" y="5115"/>
                  <a:pt x="16663" y="5115"/>
                  <a:pt x="16663" y="5115"/>
                </a:cubicBezTo>
                <a:cubicBezTo>
                  <a:pt x="16663" y="5115"/>
                  <a:pt x="16663" y="5115"/>
                  <a:pt x="16663" y="5115"/>
                </a:cubicBezTo>
                <a:close/>
                <a:moveTo>
                  <a:pt x="16354" y="5780"/>
                </a:moveTo>
                <a:cubicBezTo>
                  <a:pt x="16354" y="5115"/>
                  <a:pt x="16354" y="5115"/>
                  <a:pt x="16354" y="5115"/>
                </a:cubicBezTo>
                <a:cubicBezTo>
                  <a:pt x="16354" y="5115"/>
                  <a:pt x="16354" y="5115"/>
                  <a:pt x="16354" y="5115"/>
                </a:cubicBezTo>
                <a:cubicBezTo>
                  <a:pt x="16046" y="5115"/>
                  <a:pt x="16046" y="5115"/>
                  <a:pt x="16046" y="5115"/>
                </a:cubicBezTo>
                <a:cubicBezTo>
                  <a:pt x="16354" y="5780"/>
                  <a:pt x="16354" y="5780"/>
                  <a:pt x="16354" y="5780"/>
                </a:cubicBezTo>
                <a:cubicBezTo>
                  <a:pt x="16354" y="5780"/>
                  <a:pt x="16354" y="5780"/>
                  <a:pt x="16354" y="5780"/>
                </a:cubicBezTo>
                <a:cubicBezTo>
                  <a:pt x="16354" y="5780"/>
                  <a:pt x="16354" y="5780"/>
                  <a:pt x="16354" y="5780"/>
                </a:cubicBezTo>
                <a:close/>
                <a:moveTo>
                  <a:pt x="19440" y="3786"/>
                </a:moveTo>
                <a:cubicBezTo>
                  <a:pt x="19749" y="4450"/>
                  <a:pt x="19749" y="4450"/>
                  <a:pt x="19749" y="4450"/>
                </a:cubicBezTo>
                <a:cubicBezTo>
                  <a:pt x="19749" y="4450"/>
                  <a:pt x="19749" y="4450"/>
                  <a:pt x="19749" y="4450"/>
                </a:cubicBezTo>
                <a:cubicBezTo>
                  <a:pt x="19749" y="4450"/>
                  <a:pt x="19749" y="4450"/>
                  <a:pt x="19749" y="4450"/>
                </a:cubicBezTo>
                <a:cubicBezTo>
                  <a:pt x="19749" y="3786"/>
                  <a:pt x="19749" y="3786"/>
                  <a:pt x="19749" y="3786"/>
                </a:cubicBezTo>
                <a:cubicBezTo>
                  <a:pt x="19440" y="3786"/>
                  <a:pt x="19440" y="3786"/>
                  <a:pt x="19440" y="3786"/>
                </a:cubicBezTo>
                <a:close/>
                <a:moveTo>
                  <a:pt x="19440" y="4783"/>
                </a:moveTo>
                <a:cubicBezTo>
                  <a:pt x="19131" y="4118"/>
                  <a:pt x="19131" y="4118"/>
                  <a:pt x="19131" y="4118"/>
                </a:cubicBezTo>
                <a:cubicBezTo>
                  <a:pt x="19131" y="4118"/>
                  <a:pt x="19131" y="4118"/>
                  <a:pt x="19131" y="4118"/>
                </a:cubicBezTo>
                <a:cubicBezTo>
                  <a:pt x="19440" y="4783"/>
                  <a:pt x="19440" y="4783"/>
                  <a:pt x="19440" y="4783"/>
                </a:cubicBezTo>
                <a:cubicBezTo>
                  <a:pt x="19440" y="4783"/>
                  <a:pt x="19440" y="4783"/>
                  <a:pt x="19440" y="4783"/>
                </a:cubicBezTo>
                <a:close/>
                <a:moveTo>
                  <a:pt x="17280" y="5115"/>
                </a:moveTo>
                <a:cubicBezTo>
                  <a:pt x="17589" y="5780"/>
                  <a:pt x="17589" y="5780"/>
                  <a:pt x="17589" y="5780"/>
                </a:cubicBezTo>
                <a:cubicBezTo>
                  <a:pt x="17589" y="5780"/>
                  <a:pt x="17589" y="5780"/>
                  <a:pt x="17897" y="5447"/>
                </a:cubicBezTo>
                <a:cubicBezTo>
                  <a:pt x="17589" y="4783"/>
                  <a:pt x="17589" y="4783"/>
                  <a:pt x="17589" y="4783"/>
                </a:cubicBezTo>
                <a:cubicBezTo>
                  <a:pt x="17589" y="4783"/>
                  <a:pt x="17280" y="5115"/>
                  <a:pt x="17280" y="5115"/>
                </a:cubicBezTo>
                <a:close/>
                <a:moveTo>
                  <a:pt x="18823" y="5115"/>
                </a:moveTo>
                <a:cubicBezTo>
                  <a:pt x="18514" y="4450"/>
                  <a:pt x="18514" y="4450"/>
                  <a:pt x="18514" y="4450"/>
                </a:cubicBezTo>
                <a:cubicBezTo>
                  <a:pt x="18514" y="4450"/>
                  <a:pt x="18206" y="4450"/>
                  <a:pt x="18206" y="4783"/>
                </a:cubicBezTo>
                <a:cubicBezTo>
                  <a:pt x="18514" y="5447"/>
                  <a:pt x="18514" y="5447"/>
                  <a:pt x="18514" y="5447"/>
                </a:cubicBezTo>
                <a:cubicBezTo>
                  <a:pt x="18514" y="5115"/>
                  <a:pt x="18823" y="5115"/>
                  <a:pt x="18823" y="5115"/>
                </a:cubicBezTo>
                <a:close/>
                <a:moveTo>
                  <a:pt x="18823" y="3121"/>
                </a:moveTo>
                <a:cubicBezTo>
                  <a:pt x="18514" y="3121"/>
                  <a:pt x="17897" y="3121"/>
                  <a:pt x="17589" y="3453"/>
                </a:cubicBezTo>
                <a:cubicBezTo>
                  <a:pt x="16971" y="3786"/>
                  <a:pt x="16354" y="4118"/>
                  <a:pt x="16046" y="4118"/>
                </a:cubicBezTo>
                <a:cubicBezTo>
                  <a:pt x="15737" y="4450"/>
                  <a:pt x="15737" y="4450"/>
                  <a:pt x="15737" y="4450"/>
                </a:cubicBezTo>
                <a:cubicBezTo>
                  <a:pt x="15737" y="4450"/>
                  <a:pt x="16046" y="4450"/>
                  <a:pt x="16046" y="4450"/>
                </a:cubicBezTo>
                <a:cubicBezTo>
                  <a:pt x="16663" y="4450"/>
                  <a:pt x="16971" y="4118"/>
                  <a:pt x="17589" y="4118"/>
                </a:cubicBezTo>
                <a:cubicBezTo>
                  <a:pt x="18206" y="3786"/>
                  <a:pt x="18823" y="3453"/>
                  <a:pt x="19131" y="3121"/>
                </a:cubicBezTo>
                <a:cubicBezTo>
                  <a:pt x="19131" y="3121"/>
                  <a:pt x="19440" y="3121"/>
                  <a:pt x="19440" y="3121"/>
                </a:cubicBezTo>
                <a:cubicBezTo>
                  <a:pt x="19440" y="3121"/>
                  <a:pt x="19131" y="3121"/>
                  <a:pt x="18823" y="3121"/>
                </a:cubicBezTo>
                <a:close/>
              </a:path>
            </a:pathLst>
          </a:custGeom>
          <a:solidFill>
            <a:srgbClr val="FF940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endParaRPr sz="1400" b="0" i="0" u="none" strike="noStrike" cap="none" spc="0">
              <a:ln>
                <a:noFill/>
              </a:ln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74" name="债权贴现"/>
          <p:cNvSpPr/>
          <p:nvPr/>
        </p:nvSpPr>
        <p:spPr bwMode="auto">
          <a:xfrm>
            <a:off x="8921875" y="4655583"/>
            <a:ext cx="963450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债权贴现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75" name="补充资料（如有）"/>
          <p:cNvSpPr/>
          <p:nvPr/>
        </p:nvSpPr>
        <p:spPr bwMode="auto">
          <a:xfrm>
            <a:off x="6895465" y="3414395"/>
            <a:ext cx="127317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补充资料（如有）</a:t>
            </a:r>
            <a:endParaRPr b="0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cxnSp>
        <p:nvCxnSpPr>
          <p:cNvPr id="76" name="直接连接符 34"/>
          <p:cNvCxnSpPr/>
          <p:nvPr/>
        </p:nvCxnSpPr>
        <p:spPr bwMode="auto">
          <a:xfrm flipH="1" flipV="1">
            <a:off x="1344844" y="4178910"/>
            <a:ext cx="7620" cy="568325"/>
          </a:xfrm>
          <a:prstGeom prst="line">
            <a:avLst/>
          </a:prstGeom>
          <a:noFill/>
          <a:ln w="25400" cap="flat">
            <a:solidFill>
              <a:srgbClr val="2864FF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77" name="直接连接符 36"/>
          <p:cNvCxnSpPr/>
          <p:nvPr/>
        </p:nvCxnSpPr>
        <p:spPr bwMode="auto">
          <a:xfrm flipV="1">
            <a:off x="1344844" y="4178910"/>
            <a:ext cx="386715" cy="3175"/>
          </a:xfrm>
          <a:prstGeom prst="line">
            <a:avLst/>
          </a:prstGeom>
          <a:noFill/>
          <a:ln w="25400" cap="flat">
            <a:solidFill>
              <a:srgbClr val="2864FF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78" name="文本框 88"/>
          <p:cNvSpPr/>
          <p:nvPr/>
        </p:nvSpPr>
        <p:spPr bwMode="auto">
          <a:xfrm>
            <a:off x="1776095" y="5108186"/>
            <a:ext cx="629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转让</a:t>
            </a:r>
            <a:endParaRPr sz="1200" b="1" i="0" u="none" strike="noStrike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9" name="直接连接符 1"/>
          <p:cNvCxnSpPr/>
          <p:nvPr/>
        </p:nvCxnSpPr>
        <p:spPr bwMode="auto">
          <a:xfrm flipH="1" flipV="1">
            <a:off x="1344844" y="4728185"/>
            <a:ext cx="7620" cy="568325"/>
          </a:xfrm>
          <a:prstGeom prst="line">
            <a:avLst/>
          </a:prstGeom>
          <a:noFill/>
          <a:ln w="25400" cap="flat">
            <a:solidFill>
              <a:srgbClr val="2864FF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80" name="直接连接符 6"/>
          <p:cNvCxnSpPr/>
          <p:nvPr/>
        </p:nvCxnSpPr>
        <p:spPr bwMode="auto">
          <a:xfrm flipV="1">
            <a:off x="1352464" y="5299050"/>
            <a:ext cx="386715" cy="3175"/>
          </a:xfrm>
          <a:prstGeom prst="line">
            <a:avLst/>
          </a:prstGeom>
          <a:noFill/>
          <a:ln w="25400" cap="flat">
            <a:solidFill>
              <a:srgbClr val="2864FF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81" name="文本框 8"/>
          <p:cNvSpPr/>
          <p:nvPr/>
        </p:nvSpPr>
        <p:spPr bwMode="auto">
          <a:xfrm>
            <a:off x="4970187" y="4882438"/>
            <a:ext cx="926163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lvl="0" indent="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0" i="0" u="none" strike="noStrike" cap="none" spc="0">
                <a:ln>
                  <a:noFill/>
                </a:ln>
                <a:solidFill>
                  <a:srgbClr val="FEFEFE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提交申请</a:t>
            </a:r>
            <a:endParaRPr lang="zh-CN" sz="1200" b="0" i="0" u="none" strike="noStrike" cap="none" spc="0">
              <a:ln>
                <a:noFill/>
              </a:ln>
              <a:solidFill>
                <a:srgbClr val="FEFEFE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矩形 2"/>
          <p:cNvSpPr/>
          <p:nvPr/>
        </p:nvSpPr>
        <p:spPr bwMode="auto">
          <a:xfrm>
            <a:off x="6520736" y="5102816"/>
            <a:ext cx="944880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受让方签收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线条"/>
          <p:cNvSpPr/>
          <p:nvPr/>
        </p:nvSpPr>
        <p:spPr bwMode="auto">
          <a:xfrm>
            <a:off x="2438192" y="5288473"/>
            <a:ext cx="1155126" cy="0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线条"/>
          <p:cNvSpPr/>
          <p:nvPr/>
        </p:nvSpPr>
        <p:spPr bwMode="auto">
          <a:xfrm>
            <a:off x="4690740" y="5296510"/>
            <a:ext cx="1252607" cy="0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线条"/>
          <p:cNvSpPr/>
          <p:nvPr/>
        </p:nvSpPr>
        <p:spPr bwMode="auto">
          <a:xfrm>
            <a:off x="7632005" y="5338959"/>
            <a:ext cx="651837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6" name="成组"/>
          <p:cNvGrpSpPr/>
          <p:nvPr/>
        </p:nvGrpSpPr>
        <p:grpSpPr bwMode="auto">
          <a:xfrm>
            <a:off x="8430360" y="5152212"/>
            <a:ext cx="429850" cy="320041"/>
            <a:chOff x="0" y="0"/>
            <a:chExt cx="429847" cy="320040"/>
          </a:xfrm>
          <a:solidFill>
            <a:srgbClr val="FF9401"/>
          </a:solidFill>
        </p:grpSpPr>
        <p:sp>
          <p:nvSpPr>
            <p:cNvPr id="87" name="Freeform 5"/>
            <p:cNvSpPr/>
            <p:nvPr/>
          </p:nvSpPr>
          <p:spPr bwMode="auto">
            <a:xfrm>
              <a:off x="53575" y="0"/>
              <a:ext cx="376274" cy="301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8" h="21407" extrusionOk="0">
                  <a:moveTo>
                    <a:pt x="20645" y="5796"/>
                  </a:moveTo>
                  <a:cubicBezTo>
                    <a:pt x="19902" y="3580"/>
                    <a:pt x="18596" y="1047"/>
                    <a:pt x="17752" y="1461"/>
                  </a:cubicBezTo>
                  <a:cubicBezTo>
                    <a:pt x="16968" y="1875"/>
                    <a:pt x="16446" y="2216"/>
                    <a:pt x="15943" y="2143"/>
                  </a:cubicBezTo>
                  <a:cubicBezTo>
                    <a:pt x="15421" y="2070"/>
                    <a:pt x="14577" y="1924"/>
                    <a:pt x="13492" y="1120"/>
                  </a:cubicBezTo>
                  <a:cubicBezTo>
                    <a:pt x="13271" y="974"/>
                    <a:pt x="12246" y="0"/>
                    <a:pt x="11623" y="0"/>
                  </a:cubicBezTo>
                  <a:cubicBezTo>
                    <a:pt x="10940" y="73"/>
                    <a:pt x="10277" y="365"/>
                    <a:pt x="10378" y="560"/>
                  </a:cubicBezTo>
                  <a:cubicBezTo>
                    <a:pt x="10558" y="901"/>
                    <a:pt x="11864" y="1242"/>
                    <a:pt x="12146" y="1656"/>
                  </a:cubicBezTo>
                  <a:cubicBezTo>
                    <a:pt x="12367" y="1924"/>
                    <a:pt x="12829" y="2557"/>
                    <a:pt x="12990" y="3166"/>
                  </a:cubicBezTo>
                  <a:cubicBezTo>
                    <a:pt x="13170" y="3799"/>
                    <a:pt x="13271" y="4895"/>
                    <a:pt x="14014" y="5991"/>
                  </a:cubicBezTo>
                  <a:cubicBezTo>
                    <a:pt x="14296" y="6405"/>
                    <a:pt x="14135" y="7500"/>
                    <a:pt x="13392" y="8182"/>
                  </a:cubicBezTo>
                  <a:cubicBezTo>
                    <a:pt x="12648" y="8815"/>
                    <a:pt x="11523" y="8474"/>
                    <a:pt x="10900" y="7720"/>
                  </a:cubicBezTo>
                  <a:cubicBezTo>
                    <a:pt x="10217" y="6892"/>
                    <a:pt x="9534" y="5382"/>
                    <a:pt x="9192" y="5016"/>
                  </a:cubicBezTo>
                  <a:cubicBezTo>
                    <a:pt x="8850" y="4627"/>
                    <a:pt x="8007" y="4822"/>
                    <a:pt x="7605" y="5090"/>
                  </a:cubicBezTo>
                  <a:cubicBezTo>
                    <a:pt x="6982" y="5577"/>
                    <a:pt x="4932" y="7354"/>
                    <a:pt x="3747" y="8401"/>
                  </a:cubicBezTo>
                  <a:cubicBezTo>
                    <a:pt x="3124" y="8937"/>
                    <a:pt x="1597" y="10812"/>
                    <a:pt x="1255" y="11275"/>
                  </a:cubicBezTo>
                  <a:cubicBezTo>
                    <a:pt x="914" y="11762"/>
                    <a:pt x="-111" y="13418"/>
                    <a:pt x="10" y="14027"/>
                  </a:cubicBezTo>
                  <a:cubicBezTo>
                    <a:pt x="110" y="14660"/>
                    <a:pt x="512" y="15269"/>
                    <a:pt x="914" y="15195"/>
                  </a:cubicBezTo>
                  <a:cubicBezTo>
                    <a:pt x="1316" y="15195"/>
                    <a:pt x="1537" y="14928"/>
                    <a:pt x="1938" y="14514"/>
                  </a:cubicBezTo>
                  <a:cubicBezTo>
                    <a:pt x="2320" y="14100"/>
                    <a:pt x="3867" y="12030"/>
                    <a:pt x="4149" y="12103"/>
                  </a:cubicBezTo>
                  <a:cubicBezTo>
                    <a:pt x="4370" y="12103"/>
                    <a:pt x="4651" y="12444"/>
                    <a:pt x="4249" y="13004"/>
                  </a:cubicBezTo>
                  <a:cubicBezTo>
                    <a:pt x="4088" y="13272"/>
                    <a:pt x="2501" y="15001"/>
                    <a:pt x="2220" y="15415"/>
                  </a:cubicBezTo>
                  <a:cubicBezTo>
                    <a:pt x="2099" y="15609"/>
                    <a:pt x="1657" y="16291"/>
                    <a:pt x="1878" y="16851"/>
                  </a:cubicBezTo>
                  <a:cubicBezTo>
                    <a:pt x="2099" y="17338"/>
                    <a:pt x="2561" y="17947"/>
                    <a:pt x="2903" y="17874"/>
                  </a:cubicBezTo>
                  <a:cubicBezTo>
                    <a:pt x="3245" y="17801"/>
                    <a:pt x="3405" y="17606"/>
                    <a:pt x="3867" y="17192"/>
                  </a:cubicBezTo>
                  <a:cubicBezTo>
                    <a:pt x="4309" y="16705"/>
                    <a:pt x="5796" y="14660"/>
                    <a:pt x="6078" y="14660"/>
                  </a:cubicBezTo>
                  <a:cubicBezTo>
                    <a:pt x="6359" y="14660"/>
                    <a:pt x="6480" y="14928"/>
                    <a:pt x="6299" y="15415"/>
                  </a:cubicBezTo>
                  <a:cubicBezTo>
                    <a:pt x="6138" y="15877"/>
                    <a:pt x="4370" y="17752"/>
                    <a:pt x="4149" y="18093"/>
                  </a:cubicBezTo>
                  <a:cubicBezTo>
                    <a:pt x="3928" y="18434"/>
                    <a:pt x="3968" y="18848"/>
                    <a:pt x="4088" y="19043"/>
                  </a:cubicBezTo>
                  <a:cubicBezTo>
                    <a:pt x="4209" y="19262"/>
                    <a:pt x="5053" y="19530"/>
                    <a:pt x="5455" y="19384"/>
                  </a:cubicBezTo>
                  <a:cubicBezTo>
                    <a:pt x="5837" y="19262"/>
                    <a:pt x="6178" y="18507"/>
                    <a:pt x="6701" y="18434"/>
                  </a:cubicBezTo>
                  <a:cubicBezTo>
                    <a:pt x="6922" y="18434"/>
                    <a:pt x="7042" y="18702"/>
                    <a:pt x="6761" y="19116"/>
                  </a:cubicBezTo>
                  <a:cubicBezTo>
                    <a:pt x="6480" y="19530"/>
                    <a:pt x="6419" y="19457"/>
                    <a:pt x="6359" y="19725"/>
                  </a:cubicBezTo>
                  <a:cubicBezTo>
                    <a:pt x="6299" y="20017"/>
                    <a:pt x="6299" y="20626"/>
                    <a:pt x="6480" y="20845"/>
                  </a:cubicBezTo>
                  <a:cubicBezTo>
                    <a:pt x="6761" y="21186"/>
                    <a:pt x="7263" y="21600"/>
                    <a:pt x="7544" y="21308"/>
                  </a:cubicBezTo>
                  <a:cubicBezTo>
                    <a:pt x="7946" y="20967"/>
                    <a:pt x="8348" y="20626"/>
                    <a:pt x="8228" y="20358"/>
                  </a:cubicBezTo>
                  <a:cubicBezTo>
                    <a:pt x="8107" y="20090"/>
                    <a:pt x="7826" y="19603"/>
                    <a:pt x="8388" y="18775"/>
                  </a:cubicBezTo>
                  <a:cubicBezTo>
                    <a:pt x="8730" y="18288"/>
                    <a:pt x="8911" y="18507"/>
                    <a:pt x="9072" y="18166"/>
                  </a:cubicBezTo>
                  <a:cubicBezTo>
                    <a:pt x="9313" y="17752"/>
                    <a:pt x="8107" y="16510"/>
                    <a:pt x="9252" y="15415"/>
                  </a:cubicBezTo>
                  <a:cubicBezTo>
                    <a:pt x="10157" y="14587"/>
                    <a:pt x="11121" y="15683"/>
                    <a:pt x="11342" y="15609"/>
                  </a:cubicBezTo>
                  <a:cubicBezTo>
                    <a:pt x="11583" y="15536"/>
                    <a:pt x="11000" y="13954"/>
                    <a:pt x="12427" y="13491"/>
                  </a:cubicBezTo>
                  <a:cubicBezTo>
                    <a:pt x="13211" y="13199"/>
                    <a:pt x="14296" y="13759"/>
                    <a:pt x="14637" y="14660"/>
                  </a:cubicBezTo>
                  <a:cubicBezTo>
                    <a:pt x="14858" y="15269"/>
                    <a:pt x="15039" y="13199"/>
                    <a:pt x="16004" y="13077"/>
                  </a:cubicBezTo>
                  <a:cubicBezTo>
                    <a:pt x="16908" y="12931"/>
                    <a:pt x="17752" y="13272"/>
                    <a:pt x="17752" y="13272"/>
                  </a:cubicBezTo>
                  <a:cubicBezTo>
                    <a:pt x="17752" y="13272"/>
                    <a:pt x="18435" y="12663"/>
                    <a:pt x="18596" y="12444"/>
                  </a:cubicBezTo>
                  <a:cubicBezTo>
                    <a:pt x="19279" y="11908"/>
                    <a:pt x="20304" y="11567"/>
                    <a:pt x="20826" y="11153"/>
                  </a:cubicBezTo>
                  <a:cubicBezTo>
                    <a:pt x="21489" y="10861"/>
                    <a:pt x="21389" y="7987"/>
                    <a:pt x="20645" y="579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>
                <a:lnSpc>
                  <a:spcPct val="100000"/>
                </a:lnSpc>
                <a:defRPr sz="1800">
                  <a:solidFill>
                    <a:srgbClr val="4B4B4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88" name="Freeform 6"/>
            <p:cNvSpPr/>
            <p:nvPr/>
          </p:nvSpPr>
          <p:spPr bwMode="auto">
            <a:xfrm>
              <a:off x="0" y="13138"/>
              <a:ext cx="288699" cy="1626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5" h="21109" extrusionOk="0">
                  <a:moveTo>
                    <a:pt x="2731" y="14944"/>
                  </a:moveTo>
                  <a:cubicBezTo>
                    <a:pt x="4003" y="15431"/>
                    <a:pt x="5726" y="15210"/>
                    <a:pt x="6229" y="14590"/>
                  </a:cubicBezTo>
                  <a:cubicBezTo>
                    <a:pt x="8190" y="11802"/>
                    <a:pt x="10417" y="8969"/>
                    <a:pt x="12298" y="7066"/>
                  </a:cubicBezTo>
                  <a:cubicBezTo>
                    <a:pt x="14180" y="5074"/>
                    <a:pt x="15055" y="4941"/>
                    <a:pt x="15744" y="5694"/>
                  </a:cubicBezTo>
                  <a:cubicBezTo>
                    <a:pt x="16406" y="6446"/>
                    <a:pt x="16645" y="3082"/>
                    <a:pt x="17228" y="3082"/>
                  </a:cubicBezTo>
                  <a:cubicBezTo>
                    <a:pt x="17228" y="3082"/>
                    <a:pt x="17016" y="6712"/>
                    <a:pt x="17546" y="7685"/>
                  </a:cubicBezTo>
                  <a:cubicBezTo>
                    <a:pt x="17997" y="8438"/>
                    <a:pt x="18209" y="10208"/>
                    <a:pt x="19322" y="11448"/>
                  </a:cubicBezTo>
                  <a:cubicBezTo>
                    <a:pt x="19772" y="11935"/>
                    <a:pt x="20223" y="12067"/>
                    <a:pt x="20912" y="11448"/>
                  </a:cubicBezTo>
                  <a:cubicBezTo>
                    <a:pt x="21495" y="10961"/>
                    <a:pt x="21495" y="10430"/>
                    <a:pt x="21495" y="10430"/>
                  </a:cubicBezTo>
                  <a:cubicBezTo>
                    <a:pt x="21495" y="10430"/>
                    <a:pt x="20302" y="7951"/>
                    <a:pt x="20302" y="7685"/>
                  </a:cubicBezTo>
                  <a:cubicBezTo>
                    <a:pt x="20223" y="7464"/>
                    <a:pt x="19772" y="4056"/>
                    <a:pt x="19269" y="3348"/>
                  </a:cubicBezTo>
                  <a:cubicBezTo>
                    <a:pt x="18739" y="2595"/>
                    <a:pt x="15134" y="205"/>
                    <a:pt x="14922" y="205"/>
                  </a:cubicBezTo>
                  <a:cubicBezTo>
                    <a:pt x="14684" y="205"/>
                    <a:pt x="13650" y="-149"/>
                    <a:pt x="13120" y="72"/>
                  </a:cubicBezTo>
                  <a:cubicBezTo>
                    <a:pt x="12590" y="338"/>
                    <a:pt x="9092" y="2684"/>
                    <a:pt x="8323" y="2684"/>
                  </a:cubicBezTo>
                  <a:cubicBezTo>
                    <a:pt x="7660" y="2817"/>
                    <a:pt x="5116" y="1223"/>
                    <a:pt x="4957" y="958"/>
                  </a:cubicBezTo>
                  <a:cubicBezTo>
                    <a:pt x="4825" y="692"/>
                    <a:pt x="3685" y="1444"/>
                    <a:pt x="2863" y="3082"/>
                  </a:cubicBezTo>
                  <a:cubicBezTo>
                    <a:pt x="2042" y="4720"/>
                    <a:pt x="1379" y="6579"/>
                    <a:pt x="558" y="9456"/>
                  </a:cubicBezTo>
                  <a:cubicBezTo>
                    <a:pt x="-105" y="11935"/>
                    <a:pt x="-105" y="17556"/>
                    <a:pt x="187" y="17954"/>
                  </a:cubicBezTo>
                  <a:cubicBezTo>
                    <a:pt x="478" y="18308"/>
                    <a:pt x="2651" y="20212"/>
                    <a:pt x="2943" y="21053"/>
                  </a:cubicBezTo>
                  <a:cubicBezTo>
                    <a:pt x="3022" y="21451"/>
                    <a:pt x="2943" y="19681"/>
                    <a:pt x="4533" y="17423"/>
                  </a:cubicBezTo>
                  <a:cubicBezTo>
                    <a:pt x="4825" y="16803"/>
                    <a:pt x="3632" y="16449"/>
                    <a:pt x="2731" y="14944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>
                <a:lnSpc>
                  <a:spcPct val="100000"/>
                </a:lnSpc>
                <a:defRPr sz="1800">
                  <a:solidFill>
                    <a:srgbClr val="4B4B4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89" name="Freeform 7"/>
            <p:cNvSpPr/>
            <p:nvPr/>
          </p:nvSpPr>
          <p:spPr bwMode="auto">
            <a:xfrm>
              <a:off x="212251" y="194844"/>
              <a:ext cx="169762" cy="125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0" h="20042" extrusionOk="0">
                  <a:moveTo>
                    <a:pt x="15921" y="388"/>
                  </a:moveTo>
                  <a:cubicBezTo>
                    <a:pt x="14815" y="993"/>
                    <a:pt x="13930" y="2752"/>
                    <a:pt x="14284" y="4565"/>
                  </a:cubicBezTo>
                  <a:cubicBezTo>
                    <a:pt x="14417" y="5390"/>
                    <a:pt x="14151" y="6434"/>
                    <a:pt x="13399" y="4895"/>
                  </a:cubicBezTo>
                  <a:cubicBezTo>
                    <a:pt x="12292" y="2587"/>
                    <a:pt x="11318" y="1158"/>
                    <a:pt x="9282" y="1817"/>
                  </a:cubicBezTo>
                  <a:cubicBezTo>
                    <a:pt x="7290" y="2587"/>
                    <a:pt x="6803" y="4565"/>
                    <a:pt x="7689" y="6269"/>
                  </a:cubicBezTo>
                  <a:cubicBezTo>
                    <a:pt x="8043" y="7094"/>
                    <a:pt x="7556" y="8138"/>
                    <a:pt x="6803" y="7094"/>
                  </a:cubicBezTo>
                  <a:cubicBezTo>
                    <a:pt x="5785" y="5390"/>
                    <a:pt x="3661" y="4455"/>
                    <a:pt x="2554" y="5390"/>
                  </a:cubicBezTo>
                  <a:cubicBezTo>
                    <a:pt x="1448" y="6434"/>
                    <a:pt x="1182" y="7863"/>
                    <a:pt x="1669" y="9402"/>
                  </a:cubicBezTo>
                  <a:cubicBezTo>
                    <a:pt x="2156" y="10941"/>
                    <a:pt x="3794" y="12974"/>
                    <a:pt x="3174" y="12480"/>
                  </a:cubicBezTo>
                  <a:cubicBezTo>
                    <a:pt x="2421" y="12040"/>
                    <a:pt x="1536" y="11271"/>
                    <a:pt x="695" y="12040"/>
                  </a:cubicBezTo>
                  <a:cubicBezTo>
                    <a:pt x="-190" y="12810"/>
                    <a:pt x="-57" y="14953"/>
                    <a:pt x="164" y="15887"/>
                  </a:cubicBezTo>
                  <a:cubicBezTo>
                    <a:pt x="430" y="16822"/>
                    <a:pt x="1049" y="17316"/>
                    <a:pt x="2067" y="18416"/>
                  </a:cubicBezTo>
                  <a:cubicBezTo>
                    <a:pt x="3041" y="19350"/>
                    <a:pt x="5033" y="20889"/>
                    <a:pt x="6405" y="19460"/>
                  </a:cubicBezTo>
                  <a:cubicBezTo>
                    <a:pt x="7910" y="17921"/>
                    <a:pt x="6538" y="16547"/>
                    <a:pt x="6803" y="16052"/>
                  </a:cubicBezTo>
                  <a:cubicBezTo>
                    <a:pt x="7069" y="15778"/>
                    <a:pt x="8308" y="18251"/>
                    <a:pt x="10300" y="16217"/>
                  </a:cubicBezTo>
                  <a:cubicBezTo>
                    <a:pt x="11938" y="14513"/>
                    <a:pt x="10433" y="12480"/>
                    <a:pt x="10654" y="12370"/>
                  </a:cubicBezTo>
                  <a:cubicBezTo>
                    <a:pt x="10787" y="12205"/>
                    <a:pt x="12690" y="15283"/>
                    <a:pt x="15036" y="12974"/>
                  </a:cubicBezTo>
                  <a:cubicBezTo>
                    <a:pt x="17913" y="10171"/>
                    <a:pt x="14815" y="7863"/>
                    <a:pt x="15302" y="7368"/>
                  </a:cubicBezTo>
                  <a:cubicBezTo>
                    <a:pt x="15921" y="6929"/>
                    <a:pt x="17161" y="11271"/>
                    <a:pt x="19551" y="8633"/>
                  </a:cubicBezTo>
                  <a:cubicBezTo>
                    <a:pt x="21277" y="6599"/>
                    <a:pt x="21410" y="4291"/>
                    <a:pt x="20171" y="2257"/>
                  </a:cubicBezTo>
                  <a:cubicBezTo>
                    <a:pt x="19285" y="718"/>
                    <a:pt x="17913" y="-711"/>
                    <a:pt x="15921" y="388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>
                <a:lnSpc>
                  <a:spcPct val="100000"/>
                </a:lnSpc>
                <a:defRPr sz="1800">
                  <a:solidFill>
                    <a:srgbClr val="4B4B4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>
                <a:solidFill>
                  <a:srgbClr val="FF0000"/>
                </a:solidFill>
              </a:endParaRPr>
            </a:p>
          </p:txBody>
        </p:sp>
      </p:grpSp>
      <p:sp>
        <p:nvSpPr>
          <p:cNvPr id="90" name="债权转出"/>
          <p:cNvSpPr/>
          <p:nvPr/>
        </p:nvSpPr>
        <p:spPr bwMode="auto">
          <a:xfrm>
            <a:off x="8913786" y="5242615"/>
            <a:ext cx="93475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Helvetica"/>
              </a:rPr>
              <a:t>债权转出</a:t>
            </a:r>
            <a:endParaRPr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91" name="Freeform 96"/>
          <p:cNvSpPr>
            <a:spLocks noChangeArrowheads="1"/>
          </p:cNvSpPr>
          <p:nvPr/>
        </p:nvSpPr>
        <p:spPr bwMode="auto">
          <a:xfrm>
            <a:off x="5970409" y="5137740"/>
            <a:ext cx="408083" cy="412652"/>
          </a:xfrm>
          <a:custGeom>
            <a:avLst/>
            <a:gdLst>
              <a:gd name="T0" fmla="*/ 2147483646 w 602"/>
              <a:gd name="T1" fmla="*/ 2147483646 h 580"/>
              <a:gd name="T2" fmla="*/ 2147483646 w 602"/>
              <a:gd name="T3" fmla="*/ 2147483646 h 580"/>
              <a:gd name="T4" fmla="*/ 2147483646 w 602"/>
              <a:gd name="T5" fmla="*/ 2147483646 h 580"/>
              <a:gd name="T6" fmla="*/ 2147483646 w 602"/>
              <a:gd name="T7" fmla="*/ 2147483646 h 580"/>
              <a:gd name="T8" fmla="*/ 1320341830 w 602"/>
              <a:gd name="T9" fmla="*/ 2147483646 h 580"/>
              <a:gd name="T10" fmla="*/ 0 w 602"/>
              <a:gd name="T11" fmla="*/ 2147483646 h 580"/>
              <a:gd name="T12" fmla="*/ 0 w 602"/>
              <a:gd name="T13" fmla="*/ 2147483646 h 580"/>
              <a:gd name="T14" fmla="*/ 0 w 602"/>
              <a:gd name="T15" fmla="*/ 2147483646 h 580"/>
              <a:gd name="T16" fmla="*/ 2147483646 w 602"/>
              <a:gd name="T17" fmla="*/ 2147483646 h 580"/>
              <a:gd name="T18" fmla="*/ 2147483646 w 602"/>
              <a:gd name="T19" fmla="*/ 2147483646 h 580"/>
              <a:gd name="T20" fmla="*/ 2147483646 w 602"/>
              <a:gd name="T21" fmla="*/ 2147483646 h 580"/>
              <a:gd name="T22" fmla="*/ 2147483646 w 602"/>
              <a:gd name="T23" fmla="*/ 2147483646 h 580"/>
              <a:gd name="T24" fmla="*/ 2147483646 w 602"/>
              <a:gd name="T25" fmla="*/ 2147483646 h 580"/>
              <a:gd name="T26" fmla="*/ 2147483646 w 602"/>
              <a:gd name="T27" fmla="*/ 2147483646 h 580"/>
              <a:gd name="T28" fmla="*/ 2147483646 w 602"/>
              <a:gd name="T29" fmla="*/ 2147483646 h 580"/>
              <a:gd name="T30" fmla="*/ 2147483646 w 602"/>
              <a:gd name="T31" fmla="*/ 2147483646 h 580"/>
              <a:gd name="T32" fmla="*/ 2147483646 w 602"/>
              <a:gd name="T33" fmla="*/ 0 h 580"/>
              <a:gd name="T34" fmla="*/ 2147483646 w 602"/>
              <a:gd name="T35" fmla="*/ 2147483646 h 580"/>
              <a:gd name="T36" fmla="*/ 2147483646 w 602"/>
              <a:gd name="T37" fmla="*/ 2147483646 h 580"/>
              <a:gd name="T38" fmla="*/ 2147483646 w 602"/>
              <a:gd name="T39" fmla="*/ 2147483646 h 580"/>
              <a:gd name="T40" fmla="*/ 2147483646 w 602"/>
              <a:gd name="T41" fmla="*/ 2147483646 h 580"/>
              <a:gd name="T42" fmla="*/ 2147483646 w 602"/>
              <a:gd name="T43" fmla="*/ 2147483646 h 580"/>
              <a:gd name="T44" fmla="*/ 2147483646 w 602"/>
              <a:gd name="T45" fmla="*/ 2147483646 h 580"/>
              <a:gd name="T46" fmla="*/ 2147483646 w 602"/>
              <a:gd name="T47" fmla="*/ 2147483646 h 580"/>
              <a:gd name="T48" fmla="*/ 2147483646 w 602"/>
              <a:gd name="T49" fmla="*/ 2147483646 h 580"/>
              <a:gd name="T50" fmla="*/ 2147483646 w 602"/>
              <a:gd name="T51" fmla="*/ 2147483646 h 580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602" h="580" extrusionOk="0">
                <a:moveTo>
                  <a:pt x="601" y="551"/>
                </a:moveTo>
                <a:lnTo>
                  <a:pt x="601" y="551"/>
                </a:lnTo>
                <a:cubicBezTo>
                  <a:pt x="601" y="572"/>
                  <a:pt x="594" y="579"/>
                  <a:pt x="572" y="579"/>
                </a:cubicBezTo>
                <a:cubicBezTo>
                  <a:pt x="28" y="579"/>
                  <a:pt x="28" y="579"/>
                  <a:pt x="28" y="579"/>
                </a:cubicBezTo>
                <a:cubicBezTo>
                  <a:pt x="14" y="579"/>
                  <a:pt x="0" y="572"/>
                  <a:pt x="0" y="551"/>
                </a:cubicBezTo>
                <a:cubicBezTo>
                  <a:pt x="0" y="551"/>
                  <a:pt x="0" y="452"/>
                  <a:pt x="78" y="410"/>
                </a:cubicBezTo>
                <a:cubicBezTo>
                  <a:pt x="120" y="388"/>
                  <a:pt x="106" y="410"/>
                  <a:pt x="163" y="381"/>
                </a:cubicBezTo>
                <a:cubicBezTo>
                  <a:pt x="219" y="360"/>
                  <a:pt x="233" y="353"/>
                  <a:pt x="233" y="353"/>
                </a:cubicBezTo>
                <a:cubicBezTo>
                  <a:pt x="233" y="296"/>
                  <a:pt x="233" y="296"/>
                  <a:pt x="233" y="296"/>
                </a:cubicBezTo>
                <a:cubicBezTo>
                  <a:pt x="233" y="296"/>
                  <a:pt x="212" y="275"/>
                  <a:pt x="205" y="226"/>
                </a:cubicBezTo>
                <a:cubicBezTo>
                  <a:pt x="191" y="233"/>
                  <a:pt x="191" y="212"/>
                  <a:pt x="191" y="198"/>
                </a:cubicBezTo>
                <a:cubicBezTo>
                  <a:pt x="191" y="183"/>
                  <a:pt x="184" y="148"/>
                  <a:pt x="198" y="148"/>
                </a:cubicBezTo>
                <a:cubicBezTo>
                  <a:pt x="191" y="127"/>
                  <a:pt x="191" y="99"/>
                  <a:pt x="191" y="92"/>
                </a:cubicBezTo>
                <a:cubicBezTo>
                  <a:pt x="198" y="49"/>
                  <a:pt x="240" y="0"/>
                  <a:pt x="304" y="0"/>
                </a:cubicBezTo>
                <a:cubicBezTo>
                  <a:pt x="375" y="0"/>
                  <a:pt x="410" y="49"/>
                  <a:pt x="410" y="92"/>
                </a:cubicBezTo>
                <a:cubicBezTo>
                  <a:pt x="410" y="99"/>
                  <a:pt x="410" y="127"/>
                  <a:pt x="403" y="148"/>
                </a:cubicBezTo>
                <a:cubicBezTo>
                  <a:pt x="424" y="148"/>
                  <a:pt x="417" y="183"/>
                  <a:pt x="417" y="198"/>
                </a:cubicBezTo>
                <a:cubicBezTo>
                  <a:pt x="417" y="212"/>
                  <a:pt x="410" y="233"/>
                  <a:pt x="396" y="226"/>
                </a:cubicBezTo>
                <a:cubicBezTo>
                  <a:pt x="389" y="275"/>
                  <a:pt x="368" y="296"/>
                  <a:pt x="368" y="296"/>
                </a:cubicBezTo>
                <a:cubicBezTo>
                  <a:pt x="368" y="353"/>
                  <a:pt x="368" y="353"/>
                  <a:pt x="368" y="353"/>
                </a:cubicBezTo>
                <a:cubicBezTo>
                  <a:pt x="368" y="353"/>
                  <a:pt x="382" y="360"/>
                  <a:pt x="438" y="381"/>
                </a:cubicBezTo>
                <a:cubicBezTo>
                  <a:pt x="502" y="410"/>
                  <a:pt x="481" y="388"/>
                  <a:pt x="530" y="410"/>
                </a:cubicBezTo>
                <a:cubicBezTo>
                  <a:pt x="601" y="452"/>
                  <a:pt x="601" y="551"/>
                  <a:pt x="601" y="551"/>
                </a:cubicBezTo>
              </a:path>
            </a:pathLst>
          </a:custGeom>
          <a:solidFill>
            <a:srgbClr val="2864FF"/>
          </a:soli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zh-CN" sz="1350"/>
          </a:p>
        </p:txBody>
      </p:sp>
      <p:sp>
        <p:nvSpPr>
          <p:cNvPr id="92" name="Freeform 96"/>
          <p:cNvSpPr>
            <a:spLocks noChangeArrowheads="1"/>
          </p:cNvSpPr>
          <p:nvPr/>
        </p:nvSpPr>
        <p:spPr bwMode="auto">
          <a:xfrm>
            <a:off x="480309" y="6063555"/>
            <a:ext cx="408083" cy="412652"/>
          </a:xfrm>
          <a:custGeom>
            <a:avLst/>
            <a:gdLst>
              <a:gd name="T0" fmla="*/ 2147483646 w 602"/>
              <a:gd name="T1" fmla="*/ 2147483646 h 580"/>
              <a:gd name="T2" fmla="*/ 2147483646 w 602"/>
              <a:gd name="T3" fmla="*/ 2147483646 h 580"/>
              <a:gd name="T4" fmla="*/ 2147483646 w 602"/>
              <a:gd name="T5" fmla="*/ 2147483646 h 580"/>
              <a:gd name="T6" fmla="*/ 2147483646 w 602"/>
              <a:gd name="T7" fmla="*/ 2147483646 h 580"/>
              <a:gd name="T8" fmla="*/ 1320341830 w 602"/>
              <a:gd name="T9" fmla="*/ 2147483646 h 580"/>
              <a:gd name="T10" fmla="*/ 0 w 602"/>
              <a:gd name="T11" fmla="*/ 2147483646 h 580"/>
              <a:gd name="T12" fmla="*/ 0 w 602"/>
              <a:gd name="T13" fmla="*/ 2147483646 h 580"/>
              <a:gd name="T14" fmla="*/ 0 w 602"/>
              <a:gd name="T15" fmla="*/ 2147483646 h 580"/>
              <a:gd name="T16" fmla="*/ 2147483646 w 602"/>
              <a:gd name="T17" fmla="*/ 2147483646 h 580"/>
              <a:gd name="T18" fmla="*/ 2147483646 w 602"/>
              <a:gd name="T19" fmla="*/ 2147483646 h 580"/>
              <a:gd name="T20" fmla="*/ 2147483646 w 602"/>
              <a:gd name="T21" fmla="*/ 2147483646 h 580"/>
              <a:gd name="T22" fmla="*/ 2147483646 w 602"/>
              <a:gd name="T23" fmla="*/ 2147483646 h 580"/>
              <a:gd name="T24" fmla="*/ 2147483646 w 602"/>
              <a:gd name="T25" fmla="*/ 2147483646 h 580"/>
              <a:gd name="T26" fmla="*/ 2147483646 w 602"/>
              <a:gd name="T27" fmla="*/ 2147483646 h 580"/>
              <a:gd name="T28" fmla="*/ 2147483646 w 602"/>
              <a:gd name="T29" fmla="*/ 2147483646 h 580"/>
              <a:gd name="T30" fmla="*/ 2147483646 w 602"/>
              <a:gd name="T31" fmla="*/ 2147483646 h 580"/>
              <a:gd name="T32" fmla="*/ 2147483646 w 602"/>
              <a:gd name="T33" fmla="*/ 0 h 580"/>
              <a:gd name="T34" fmla="*/ 2147483646 w 602"/>
              <a:gd name="T35" fmla="*/ 2147483646 h 580"/>
              <a:gd name="T36" fmla="*/ 2147483646 w 602"/>
              <a:gd name="T37" fmla="*/ 2147483646 h 580"/>
              <a:gd name="T38" fmla="*/ 2147483646 w 602"/>
              <a:gd name="T39" fmla="*/ 2147483646 h 580"/>
              <a:gd name="T40" fmla="*/ 2147483646 w 602"/>
              <a:gd name="T41" fmla="*/ 2147483646 h 580"/>
              <a:gd name="T42" fmla="*/ 2147483646 w 602"/>
              <a:gd name="T43" fmla="*/ 2147483646 h 580"/>
              <a:gd name="T44" fmla="*/ 2147483646 w 602"/>
              <a:gd name="T45" fmla="*/ 2147483646 h 580"/>
              <a:gd name="T46" fmla="*/ 2147483646 w 602"/>
              <a:gd name="T47" fmla="*/ 2147483646 h 580"/>
              <a:gd name="T48" fmla="*/ 2147483646 w 602"/>
              <a:gd name="T49" fmla="*/ 2147483646 h 580"/>
              <a:gd name="T50" fmla="*/ 2147483646 w 602"/>
              <a:gd name="T51" fmla="*/ 2147483646 h 580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602" h="580" extrusionOk="0">
                <a:moveTo>
                  <a:pt x="601" y="551"/>
                </a:moveTo>
                <a:lnTo>
                  <a:pt x="601" y="551"/>
                </a:lnTo>
                <a:cubicBezTo>
                  <a:pt x="601" y="572"/>
                  <a:pt x="594" y="579"/>
                  <a:pt x="572" y="579"/>
                </a:cubicBezTo>
                <a:cubicBezTo>
                  <a:pt x="28" y="579"/>
                  <a:pt x="28" y="579"/>
                  <a:pt x="28" y="579"/>
                </a:cubicBezTo>
                <a:cubicBezTo>
                  <a:pt x="14" y="579"/>
                  <a:pt x="0" y="572"/>
                  <a:pt x="0" y="551"/>
                </a:cubicBezTo>
                <a:cubicBezTo>
                  <a:pt x="0" y="551"/>
                  <a:pt x="0" y="452"/>
                  <a:pt x="78" y="410"/>
                </a:cubicBezTo>
                <a:cubicBezTo>
                  <a:pt x="120" y="388"/>
                  <a:pt x="106" y="410"/>
                  <a:pt x="163" y="381"/>
                </a:cubicBezTo>
                <a:cubicBezTo>
                  <a:pt x="219" y="360"/>
                  <a:pt x="233" y="353"/>
                  <a:pt x="233" y="353"/>
                </a:cubicBezTo>
                <a:cubicBezTo>
                  <a:pt x="233" y="296"/>
                  <a:pt x="233" y="296"/>
                  <a:pt x="233" y="296"/>
                </a:cubicBezTo>
                <a:cubicBezTo>
                  <a:pt x="233" y="296"/>
                  <a:pt x="212" y="275"/>
                  <a:pt x="205" y="226"/>
                </a:cubicBezTo>
                <a:cubicBezTo>
                  <a:pt x="191" y="233"/>
                  <a:pt x="191" y="212"/>
                  <a:pt x="191" y="198"/>
                </a:cubicBezTo>
                <a:cubicBezTo>
                  <a:pt x="191" y="183"/>
                  <a:pt x="184" y="148"/>
                  <a:pt x="198" y="148"/>
                </a:cubicBezTo>
                <a:cubicBezTo>
                  <a:pt x="191" y="127"/>
                  <a:pt x="191" y="99"/>
                  <a:pt x="191" y="92"/>
                </a:cubicBezTo>
                <a:cubicBezTo>
                  <a:pt x="198" y="49"/>
                  <a:pt x="240" y="0"/>
                  <a:pt x="304" y="0"/>
                </a:cubicBezTo>
                <a:cubicBezTo>
                  <a:pt x="375" y="0"/>
                  <a:pt x="410" y="49"/>
                  <a:pt x="410" y="92"/>
                </a:cubicBezTo>
                <a:cubicBezTo>
                  <a:pt x="410" y="99"/>
                  <a:pt x="410" y="127"/>
                  <a:pt x="403" y="148"/>
                </a:cubicBezTo>
                <a:cubicBezTo>
                  <a:pt x="424" y="148"/>
                  <a:pt x="417" y="183"/>
                  <a:pt x="417" y="198"/>
                </a:cubicBezTo>
                <a:cubicBezTo>
                  <a:pt x="417" y="212"/>
                  <a:pt x="410" y="233"/>
                  <a:pt x="396" y="226"/>
                </a:cubicBezTo>
                <a:cubicBezTo>
                  <a:pt x="389" y="275"/>
                  <a:pt x="368" y="296"/>
                  <a:pt x="368" y="296"/>
                </a:cubicBezTo>
                <a:cubicBezTo>
                  <a:pt x="368" y="353"/>
                  <a:pt x="368" y="353"/>
                  <a:pt x="368" y="353"/>
                </a:cubicBezTo>
                <a:cubicBezTo>
                  <a:pt x="368" y="353"/>
                  <a:pt x="382" y="360"/>
                  <a:pt x="438" y="381"/>
                </a:cubicBezTo>
                <a:cubicBezTo>
                  <a:pt x="502" y="410"/>
                  <a:pt x="481" y="388"/>
                  <a:pt x="530" y="410"/>
                </a:cubicBezTo>
                <a:cubicBezTo>
                  <a:pt x="601" y="452"/>
                  <a:pt x="601" y="551"/>
                  <a:pt x="601" y="551"/>
                </a:cubicBezTo>
              </a:path>
            </a:pathLst>
          </a:custGeom>
          <a:solidFill>
            <a:srgbClr val="FF9401"/>
          </a:soli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zh-CN" sz="1350"/>
          </a:p>
        </p:txBody>
      </p:sp>
      <p:sp>
        <p:nvSpPr>
          <p:cNvPr id="93" name="线条"/>
          <p:cNvSpPr/>
          <p:nvPr/>
        </p:nvSpPr>
        <p:spPr bwMode="auto">
          <a:xfrm>
            <a:off x="914400" y="6364605"/>
            <a:ext cx="1324610" cy="6985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algn="l">
              <a:lnSpc>
                <a:spcPct val="100000"/>
              </a:lnSpc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94" name="他人发起一笔债权转让"/>
          <p:cNvSpPr/>
          <p:nvPr/>
        </p:nvSpPr>
        <p:spPr bwMode="auto">
          <a:xfrm>
            <a:off x="772160" y="6007735"/>
            <a:ext cx="164528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Helvetica"/>
              </a:rPr>
              <a:t>他人发起一笔债权转让</a:t>
            </a:r>
            <a:endParaRPr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95" name="签收转让邀请"/>
          <p:cNvSpPr/>
          <p:nvPr/>
        </p:nvSpPr>
        <p:spPr bwMode="auto">
          <a:xfrm>
            <a:off x="2884746" y="6218016"/>
            <a:ext cx="1264661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Helvetica"/>
              </a:rPr>
              <a:t>签收转让邀请</a:t>
            </a:r>
            <a:endParaRPr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96" name="线条"/>
          <p:cNvSpPr/>
          <p:nvPr/>
        </p:nvSpPr>
        <p:spPr bwMode="auto">
          <a:xfrm>
            <a:off x="3931424" y="6371904"/>
            <a:ext cx="576001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>
            <a:noAutofit/>
          </a:bodyPr>
          <a:lstStyle/>
          <a:p>
            <a:pPr lvl="0" algn="l">
              <a:lnSpc>
                <a:spcPct val="100000"/>
              </a:lnSpc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>
              <a:sym typeface="+mn-ea"/>
            </a:endParaRPr>
          </a:p>
        </p:txBody>
      </p:sp>
      <p:sp>
        <p:nvSpPr>
          <p:cNvPr id="97" name="电子债权凭证签收成功"/>
          <p:cNvSpPr/>
          <p:nvPr/>
        </p:nvSpPr>
        <p:spPr bwMode="auto">
          <a:xfrm>
            <a:off x="4541520" y="6221095"/>
            <a:ext cx="1614170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Helvetica"/>
              </a:rPr>
              <a:t>电子债权凭证签收成功</a:t>
            </a:r>
            <a:endParaRPr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98" name="合法电子债权凭证"/>
          <p:cNvSpPr/>
          <p:nvPr/>
        </p:nvSpPr>
        <p:spPr bwMode="auto">
          <a:xfrm>
            <a:off x="6620510" y="6076315"/>
            <a:ext cx="1363980" cy="275590"/>
          </a:xfrm>
          <a:prstGeom prst="rect">
            <a:avLst/>
          </a:prstGeom>
          <a:solidFill>
            <a:srgbClr val="FF9401"/>
          </a:solidFill>
          <a:ln w="19050">
            <a:solidFill>
              <a:srgbClr val="FFFFFF"/>
            </a:solidFill>
            <a:miter/>
          </a:ln>
        </p:spPr>
        <p:txBody>
          <a:bodyPr wrap="square" lIns="45719" rIns="45719">
            <a:spAutoFit/>
          </a:bodyPr>
          <a:lstStyle>
            <a:lvl1pPr algn="l">
              <a:lnSpc>
                <a:spcPct val="100000"/>
              </a:lnSpc>
              <a:defRPr sz="1500">
                <a:solidFill>
                  <a:srgbClr val="000000"/>
                </a:solidFill>
                <a:latin typeface="Libian SC Regular"/>
                <a:ea typeface="Libian SC Regular"/>
                <a:cs typeface="Libian SC Regular"/>
              </a:defRPr>
            </a:lvl1pPr>
          </a:lstStyle>
          <a:p>
            <a:pPr lvl="0" algn="l">
              <a:defRPr/>
            </a:pPr>
            <a:r>
              <a:rPr sz="12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合法电子债权凭证</a:t>
            </a:r>
            <a:endParaRPr sz="12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99" name="成组"/>
          <p:cNvGrpSpPr/>
          <p:nvPr/>
        </p:nvGrpSpPr>
        <p:grpSpPr bwMode="auto">
          <a:xfrm>
            <a:off x="6215780" y="6126053"/>
            <a:ext cx="379732" cy="463551"/>
            <a:chOff x="0" y="0"/>
            <a:chExt cx="379730" cy="463549"/>
          </a:xfrm>
          <a:solidFill>
            <a:srgbClr val="FF9401"/>
          </a:solidFill>
        </p:grpSpPr>
        <p:sp>
          <p:nvSpPr>
            <p:cNvPr id="100" name="Freeform 10"/>
            <p:cNvSpPr/>
            <p:nvPr/>
          </p:nvSpPr>
          <p:spPr bwMode="auto">
            <a:xfrm>
              <a:off x="53113" y="23470"/>
              <a:ext cx="99741" cy="94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2274" y="13698"/>
                  </a:moveTo>
                  <a:cubicBezTo>
                    <a:pt x="3411" y="17912"/>
                    <a:pt x="6253" y="21600"/>
                    <a:pt x="10800" y="21600"/>
                  </a:cubicBezTo>
                  <a:cubicBezTo>
                    <a:pt x="15347" y="21600"/>
                    <a:pt x="18189" y="17912"/>
                    <a:pt x="19326" y="13698"/>
                  </a:cubicBezTo>
                  <a:cubicBezTo>
                    <a:pt x="20463" y="13171"/>
                    <a:pt x="21600" y="11590"/>
                    <a:pt x="21032" y="10537"/>
                  </a:cubicBezTo>
                  <a:cubicBezTo>
                    <a:pt x="21032" y="9483"/>
                    <a:pt x="20463" y="8956"/>
                    <a:pt x="19895" y="8956"/>
                  </a:cubicBezTo>
                  <a:cubicBezTo>
                    <a:pt x="19895" y="3688"/>
                    <a:pt x="15916" y="0"/>
                    <a:pt x="10800" y="0"/>
                  </a:cubicBezTo>
                  <a:cubicBezTo>
                    <a:pt x="5684" y="0"/>
                    <a:pt x="1705" y="3688"/>
                    <a:pt x="1705" y="8956"/>
                  </a:cubicBezTo>
                  <a:cubicBezTo>
                    <a:pt x="568" y="8956"/>
                    <a:pt x="0" y="9483"/>
                    <a:pt x="0" y="10537"/>
                  </a:cubicBezTo>
                  <a:cubicBezTo>
                    <a:pt x="0" y="11590"/>
                    <a:pt x="568" y="13698"/>
                    <a:pt x="2274" y="13698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</a:p>
          </p:txBody>
        </p:sp>
        <p:sp>
          <p:nvSpPr>
            <p:cNvPr id="101" name="Freeform 11"/>
            <p:cNvSpPr/>
            <p:nvPr/>
          </p:nvSpPr>
          <p:spPr bwMode="auto">
            <a:xfrm>
              <a:off x="0" y="123222"/>
              <a:ext cx="283646" cy="34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66" y="5290"/>
                  </a:moveTo>
                  <a:cubicBezTo>
                    <a:pt x="19766" y="5290"/>
                    <a:pt x="19766" y="5290"/>
                    <a:pt x="19766" y="5290"/>
                  </a:cubicBezTo>
                  <a:cubicBezTo>
                    <a:pt x="19358" y="5290"/>
                    <a:pt x="18543" y="5437"/>
                    <a:pt x="17728" y="5437"/>
                  </a:cubicBezTo>
                  <a:cubicBezTo>
                    <a:pt x="17321" y="5584"/>
                    <a:pt x="16913" y="5584"/>
                    <a:pt x="16709" y="5584"/>
                  </a:cubicBezTo>
                  <a:cubicBezTo>
                    <a:pt x="16506" y="5584"/>
                    <a:pt x="16506" y="5584"/>
                    <a:pt x="16302" y="5584"/>
                  </a:cubicBezTo>
                  <a:cubicBezTo>
                    <a:pt x="16302" y="5584"/>
                    <a:pt x="16302" y="5437"/>
                    <a:pt x="16098" y="5437"/>
                  </a:cubicBezTo>
                  <a:cubicBezTo>
                    <a:pt x="15691" y="4702"/>
                    <a:pt x="14875" y="3673"/>
                    <a:pt x="14468" y="2792"/>
                  </a:cubicBezTo>
                  <a:cubicBezTo>
                    <a:pt x="14060" y="2351"/>
                    <a:pt x="13857" y="1910"/>
                    <a:pt x="13653" y="1616"/>
                  </a:cubicBezTo>
                  <a:cubicBezTo>
                    <a:pt x="13653" y="1469"/>
                    <a:pt x="13449" y="1469"/>
                    <a:pt x="13449" y="1322"/>
                  </a:cubicBezTo>
                  <a:cubicBezTo>
                    <a:pt x="13449" y="1176"/>
                    <a:pt x="13449" y="1176"/>
                    <a:pt x="13449" y="1176"/>
                  </a:cubicBezTo>
                  <a:cubicBezTo>
                    <a:pt x="13245" y="1029"/>
                    <a:pt x="13245" y="882"/>
                    <a:pt x="13042" y="882"/>
                  </a:cubicBezTo>
                  <a:cubicBezTo>
                    <a:pt x="12838" y="735"/>
                    <a:pt x="12430" y="441"/>
                    <a:pt x="11004" y="294"/>
                  </a:cubicBezTo>
                  <a:cubicBezTo>
                    <a:pt x="10596" y="147"/>
                    <a:pt x="10392" y="0"/>
                    <a:pt x="9985" y="0"/>
                  </a:cubicBezTo>
                  <a:cubicBezTo>
                    <a:pt x="9985" y="0"/>
                    <a:pt x="9985" y="0"/>
                    <a:pt x="9985" y="0"/>
                  </a:cubicBezTo>
                  <a:cubicBezTo>
                    <a:pt x="9985" y="0"/>
                    <a:pt x="9985" y="0"/>
                    <a:pt x="9985" y="0"/>
                  </a:cubicBezTo>
                  <a:cubicBezTo>
                    <a:pt x="9985" y="588"/>
                    <a:pt x="9781" y="1763"/>
                    <a:pt x="8762" y="3233"/>
                  </a:cubicBezTo>
                  <a:cubicBezTo>
                    <a:pt x="8558" y="2204"/>
                    <a:pt x="8355" y="1322"/>
                    <a:pt x="8355" y="1322"/>
                  </a:cubicBezTo>
                  <a:cubicBezTo>
                    <a:pt x="8762" y="735"/>
                    <a:pt x="8762" y="735"/>
                    <a:pt x="8762" y="735"/>
                  </a:cubicBezTo>
                  <a:cubicBezTo>
                    <a:pt x="8151" y="294"/>
                    <a:pt x="8151" y="294"/>
                    <a:pt x="8151" y="294"/>
                  </a:cubicBezTo>
                  <a:cubicBezTo>
                    <a:pt x="7743" y="294"/>
                    <a:pt x="7743" y="294"/>
                    <a:pt x="7743" y="294"/>
                  </a:cubicBezTo>
                  <a:cubicBezTo>
                    <a:pt x="7132" y="735"/>
                    <a:pt x="7132" y="735"/>
                    <a:pt x="7132" y="735"/>
                  </a:cubicBezTo>
                  <a:cubicBezTo>
                    <a:pt x="7540" y="1322"/>
                    <a:pt x="7540" y="1322"/>
                    <a:pt x="7540" y="1322"/>
                  </a:cubicBezTo>
                  <a:cubicBezTo>
                    <a:pt x="7336" y="1322"/>
                    <a:pt x="7132" y="2204"/>
                    <a:pt x="7132" y="3233"/>
                  </a:cubicBezTo>
                  <a:cubicBezTo>
                    <a:pt x="6113" y="1763"/>
                    <a:pt x="5706" y="588"/>
                    <a:pt x="5706" y="0"/>
                  </a:cubicBezTo>
                  <a:cubicBezTo>
                    <a:pt x="5706" y="0"/>
                    <a:pt x="5706" y="0"/>
                    <a:pt x="5706" y="0"/>
                  </a:cubicBezTo>
                  <a:cubicBezTo>
                    <a:pt x="5706" y="0"/>
                    <a:pt x="5706" y="0"/>
                    <a:pt x="5706" y="0"/>
                  </a:cubicBezTo>
                  <a:cubicBezTo>
                    <a:pt x="5502" y="0"/>
                    <a:pt x="5094" y="147"/>
                    <a:pt x="4891" y="294"/>
                  </a:cubicBezTo>
                  <a:cubicBezTo>
                    <a:pt x="4075" y="441"/>
                    <a:pt x="2853" y="735"/>
                    <a:pt x="2038" y="1029"/>
                  </a:cubicBezTo>
                  <a:cubicBezTo>
                    <a:pt x="1630" y="1322"/>
                    <a:pt x="408" y="2498"/>
                    <a:pt x="0" y="6465"/>
                  </a:cubicBezTo>
                  <a:cubicBezTo>
                    <a:pt x="0" y="7788"/>
                    <a:pt x="204" y="10139"/>
                    <a:pt x="204" y="10139"/>
                  </a:cubicBezTo>
                  <a:cubicBezTo>
                    <a:pt x="408" y="10727"/>
                    <a:pt x="611" y="11314"/>
                    <a:pt x="1426" y="11314"/>
                  </a:cubicBezTo>
                  <a:cubicBezTo>
                    <a:pt x="2445" y="11314"/>
                    <a:pt x="2853" y="10873"/>
                    <a:pt x="2853" y="10286"/>
                  </a:cubicBezTo>
                  <a:cubicBezTo>
                    <a:pt x="2853" y="10286"/>
                    <a:pt x="2649" y="8229"/>
                    <a:pt x="2853" y="6612"/>
                  </a:cubicBezTo>
                  <a:cubicBezTo>
                    <a:pt x="2853" y="5290"/>
                    <a:pt x="3260" y="3380"/>
                    <a:pt x="3668" y="3380"/>
                  </a:cubicBezTo>
                  <a:cubicBezTo>
                    <a:pt x="3668" y="3380"/>
                    <a:pt x="3668" y="3380"/>
                    <a:pt x="3668" y="3380"/>
                  </a:cubicBezTo>
                  <a:cubicBezTo>
                    <a:pt x="3668" y="9551"/>
                    <a:pt x="3668" y="9551"/>
                    <a:pt x="3668" y="9551"/>
                  </a:cubicBezTo>
                  <a:cubicBezTo>
                    <a:pt x="3668" y="9845"/>
                    <a:pt x="3668" y="10139"/>
                    <a:pt x="3668" y="10286"/>
                  </a:cubicBezTo>
                  <a:cubicBezTo>
                    <a:pt x="3668" y="20278"/>
                    <a:pt x="3668" y="20278"/>
                    <a:pt x="3668" y="20278"/>
                  </a:cubicBezTo>
                  <a:cubicBezTo>
                    <a:pt x="3668" y="21012"/>
                    <a:pt x="4483" y="21600"/>
                    <a:pt x="5502" y="21600"/>
                  </a:cubicBezTo>
                  <a:cubicBezTo>
                    <a:pt x="5502" y="21600"/>
                    <a:pt x="5502" y="21600"/>
                    <a:pt x="5502" y="21600"/>
                  </a:cubicBezTo>
                  <a:cubicBezTo>
                    <a:pt x="5502" y="21600"/>
                    <a:pt x="5502" y="21600"/>
                    <a:pt x="5502" y="21600"/>
                  </a:cubicBezTo>
                  <a:cubicBezTo>
                    <a:pt x="6521" y="21600"/>
                    <a:pt x="7336" y="21012"/>
                    <a:pt x="7336" y="20278"/>
                  </a:cubicBezTo>
                  <a:cubicBezTo>
                    <a:pt x="7336" y="11314"/>
                    <a:pt x="7336" y="11314"/>
                    <a:pt x="7336" y="11314"/>
                  </a:cubicBezTo>
                  <a:cubicBezTo>
                    <a:pt x="8355" y="11314"/>
                    <a:pt x="8355" y="11314"/>
                    <a:pt x="8355" y="11314"/>
                  </a:cubicBezTo>
                  <a:cubicBezTo>
                    <a:pt x="8355" y="20278"/>
                    <a:pt x="8355" y="20278"/>
                    <a:pt x="8355" y="20278"/>
                  </a:cubicBezTo>
                  <a:cubicBezTo>
                    <a:pt x="8355" y="21012"/>
                    <a:pt x="9170" y="21600"/>
                    <a:pt x="10189" y="21600"/>
                  </a:cubicBezTo>
                  <a:cubicBezTo>
                    <a:pt x="10189" y="21600"/>
                    <a:pt x="10189" y="21600"/>
                    <a:pt x="10189" y="21600"/>
                  </a:cubicBezTo>
                  <a:cubicBezTo>
                    <a:pt x="10189" y="21600"/>
                    <a:pt x="10189" y="21600"/>
                    <a:pt x="10189" y="21600"/>
                  </a:cubicBezTo>
                  <a:cubicBezTo>
                    <a:pt x="11208" y="21600"/>
                    <a:pt x="12023" y="21012"/>
                    <a:pt x="12023" y="20278"/>
                  </a:cubicBezTo>
                  <a:cubicBezTo>
                    <a:pt x="12023" y="10286"/>
                    <a:pt x="12023" y="10286"/>
                    <a:pt x="12023" y="10286"/>
                  </a:cubicBezTo>
                  <a:cubicBezTo>
                    <a:pt x="12226" y="10139"/>
                    <a:pt x="12226" y="9845"/>
                    <a:pt x="12226" y="9551"/>
                  </a:cubicBezTo>
                  <a:cubicBezTo>
                    <a:pt x="12226" y="4261"/>
                    <a:pt x="12226" y="4261"/>
                    <a:pt x="12226" y="4261"/>
                  </a:cubicBezTo>
                  <a:cubicBezTo>
                    <a:pt x="12226" y="4261"/>
                    <a:pt x="12226" y="4408"/>
                    <a:pt x="12430" y="4555"/>
                  </a:cubicBezTo>
                  <a:cubicBezTo>
                    <a:pt x="12838" y="5143"/>
                    <a:pt x="13245" y="5878"/>
                    <a:pt x="13653" y="6318"/>
                  </a:cubicBezTo>
                  <a:cubicBezTo>
                    <a:pt x="13857" y="6612"/>
                    <a:pt x="14060" y="6759"/>
                    <a:pt x="14264" y="7053"/>
                  </a:cubicBezTo>
                  <a:cubicBezTo>
                    <a:pt x="14264" y="7053"/>
                    <a:pt x="14468" y="7200"/>
                    <a:pt x="14468" y="7347"/>
                  </a:cubicBezTo>
                  <a:cubicBezTo>
                    <a:pt x="14468" y="7347"/>
                    <a:pt x="14672" y="7347"/>
                    <a:pt x="14672" y="7494"/>
                  </a:cubicBezTo>
                  <a:cubicBezTo>
                    <a:pt x="14875" y="7494"/>
                    <a:pt x="15079" y="7641"/>
                    <a:pt x="15283" y="7641"/>
                  </a:cubicBezTo>
                  <a:cubicBezTo>
                    <a:pt x="15283" y="7641"/>
                    <a:pt x="15283" y="7641"/>
                    <a:pt x="15283" y="7641"/>
                  </a:cubicBezTo>
                  <a:cubicBezTo>
                    <a:pt x="15487" y="7641"/>
                    <a:pt x="15487" y="7641"/>
                    <a:pt x="15691" y="7641"/>
                  </a:cubicBezTo>
                  <a:cubicBezTo>
                    <a:pt x="15691" y="7788"/>
                    <a:pt x="15894" y="7788"/>
                    <a:pt x="15894" y="7788"/>
                  </a:cubicBezTo>
                  <a:cubicBezTo>
                    <a:pt x="16098" y="7788"/>
                    <a:pt x="16302" y="7641"/>
                    <a:pt x="16506" y="7641"/>
                  </a:cubicBezTo>
                  <a:cubicBezTo>
                    <a:pt x="17321" y="7641"/>
                    <a:pt x="18136" y="7494"/>
                    <a:pt x="18951" y="7494"/>
                  </a:cubicBezTo>
                  <a:cubicBezTo>
                    <a:pt x="19766" y="7347"/>
                    <a:pt x="20377" y="7200"/>
                    <a:pt x="20377" y="7200"/>
                  </a:cubicBezTo>
                  <a:cubicBezTo>
                    <a:pt x="21192" y="7053"/>
                    <a:pt x="21600" y="6612"/>
                    <a:pt x="21600" y="6024"/>
                  </a:cubicBezTo>
                  <a:cubicBezTo>
                    <a:pt x="21396" y="5437"/>
                    <a:pt x="20581" y="5143"/>
                    <a:pt x="19766" y="529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</a:p>
          </p:txBody>
        </p:sp>
        <p:sp>
          <p:nvSpPr>
            <p:cNvPr id="102" name="Freeform 12"/>
            <p:cNvSpPr/>
            <p:nvPr/>
          </p:nvSpPr>
          <p:spPr bwMode="auto">
            <a:xfrm>
              <a:off x="230503" y="0"/>
              <a:ext cx="149228" cy="209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9" h="21600" extrusionOk="0">
                  <a:moveTo>
                    <a:pt x="11824" y="9840"/>
                  </a:moveTo>
                  <a:cubicBezTo>
                    <a:pt x="11451" y="9600"/>
                    <a:pt x="11451" y="9600"/>
                    <a:pt x="11451" y="9600"/>
                  </a:cubicBezTo>
                  <a:cubicBezTo>
                    <a:pt x="10334" y="9360"/>
                    <a:pt x="8844" y="8880"/>
                    <a:pt x="8472" y="8880"/>
                  </a:cubicBezTo>
                  <a:cubicBezTo>
                    <a:pt x="8472" y="8880"/>
                    <a:pt x="8100" y="8640"/>
                    <a:pt x="8100" y="8640"/>
                  </a:cubicBezTo>
                  <a:cubicBezTo>
                    <a:pt x="6982" y="8400"/>
                    <a:pt x="6610" y="8160"/>
                    <a:pt x="5865" y="7680"/>
                  </a:cubicBezTo>
                  <a:cubicBezTo>
                    <a:pt x="5120" y="6960"/>
                    <a:pt x="5493" y="6240"/>
                    <a:pt x="6237" y="5760"/>
                  </a:cubicBezTo>
                  <a:cubicBezTo>
                    <a:pt x="7355" y="5040"/>
                    <a:pt x="8844" y="4800"/>
                    <a:pt x="9962" y="4800"/>
                  </a:cubicBezTo>
                  <a:cubicBezTo>
                    <a:pt x="10706" y="4800"/>
                    <a:pt x="13686" y="4560"/>
                    <a:pt x="17410" y="6480"/>
                  </a:cubicBezTo>
                  <a:cubicBezTo>
                    <a:pt x="18155" y="6960"/>
                    <a:pt x="19644" y="6240"/>
                    <a:pt x="20389" y="5760"/>
                  </a:cubicBezTo>
                  <a:cubicBezTo>
                    <a:pt x="20762" y="5280"/>
                    <a:pt x="20762" y="4800"/>
                    <a:pt x="20389" y="4320"/>
                  </a:cubicBezTo>
                  <a:cubicBezTo>
                    <a:pt x="19272" y="3360"/>
                    <a:pt x="15548" y="2640"/>
                    <a:pt x="13686" y="2400"/>
                  </a:cubicBezTo>
                  <a:cubicBezTo>
                    <a:pt x="13313" y="2160"/>
                    <a:pt x="12568" y="2160"/>
                    <a:pt x="11824" y="2160"/>
                  </a:cubicBezTo>
                  <a:cubicBezTo>
                    <a:pt x="11824" y="480"/>
                    <a:pt x="11824" y="480"/>
                    <a:pt x="11824" y="480"/>
                  </a:cubicBezTo>
                  <a:cubicBezTo>
                    <a:pt x="11824" y="240"/>
                    <a:pt x="11451" y="0"/>
                    <a:pt x="11079" y="0"/>
                  </a:cubicBezTo>
                  <a:cubicBezTo>
                    <a:pt x="8844" y="0"/>
                    <a:pt x="8844" y="0"/>
                    <a:pt x="8844" y="0"/>
                  </a:cubicBezTo>
                  <a:cubicBezTo>
                    <a:pt x="8472" y="0"/>
                    <a:pt x="8100" y="240"/>
                    <a:pt x="8100" y="480"/>
                  </a:cubicBezTo>
                  <a:cubicBezTo>
                    <a:pt x="8100" y="2160"/>
                    <a:pt x="8100" y="2160"/>
                    <a:pt x="8100" y="2160"/>
                  </a:cubicBezTo>
                  <a:cubicBezTo>
                    <a:pt x="5865" y="2400"/>
                    <a:pt x="4003" y="2880"/>
                    <a:pt x="2513" y="3600"/>
                  </a:cubicBezTo>
                  <a:cubicBezTo>
                    <a:pt x="279" y="5040"/>
                    <a:pt x="-466" y="7200"/>
                    <a:pt x="1024" y="8880"/>
                  </a:cubicBezTo>
                  <a:cubicBezTo>
                    <a:pt x="1396" y="9600"/>
                    <a:pt x="2513" y="10320"/>
                    <a:pt x="3631" y="10800"/>
                  </a:cubicBezTo>
                  <a:cubicBezTo>
                    <a:pt x="4748" y="11040"/>
                    <a:pt x="9217" y="12480"/>
                    <a:pt x="11451" y="12960"/>
                  </a:cubicBezTo>
                  <a:cubicBezTo>
                    <a:pt x="12568" y="13440"/>
                    <a:pt x="12568" y="13440"/>
                    <a:pt x="12568" y="13440"/>
                  </a:cubicBezTo>
                  <a:cubicBezTo>
                    <a:pt x="13313" y="13680"/>
                    <a:pt x="14058" y="13920"/>
                    <a:pt x="14431" y="14400"/>
                  </a:cubicBezTo>
                  <a:cubicBezTo>
                    <a:pt x="15175" y="15120"/>
                    <a:pt x="14803" y="15840"/>
                    <a:pt x="14058" y="16320"/>
                  </a:cubicBezTo>
                  <a:cubicBezTo>
                    <a:pt x="13313" y="16800"/>
                    <a:pt x="12196" y="17040"/>
                    <a:pt x="10706" y="17040"/>
                  </a:cubicBezTo>
                  <a:cubicBezTo>
                    <a:pt x="9589" y="17040"/>
                    <a:pt x="8472" y="16800"/>
                    <a:pt x="6982" y="16560"/>
                  </a:cubicBezTo>
                  <a:cubicBezTo>
                    <a:pt x="6237" y="16320"/>
                    <a:pt x="5493" y="16080"/>
                    <a:pt x="4748" y="15600"/>
                  </a:cubicBezTo>
                  <a:cubicBezTo>
                    <a:pt x="4748" y="15600"/>
                    <a:pt x="4375" y="1560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003" y="14880"/>
                    <a:pt x="3258" y="14880"/>
                    <a:pt x="2886" y="14880"/>
                  </a:cubicBezTo>
                  <a:cubicBezTo>
                    <a:pt x="1768" y="14880"/>
                    <a:pt x="651" y="15360"/>
                    <a:pt x="279" y="15840"/>
                  </a:cubicBezTo>
                  <a:cubicBezTo>
                    <a:pt x="-94" y="16320"/>
                    <a:pt x="-94" y="16800"/>
                    <a:pt x="279" y="17040"/>
                  </a:cubicBezTo>
                  <a:cubicBezTo>
                    <a:pt x="1768" y="18480"/>
                    <a:pt x="4748" y="19440"/>
                    <a:pt x="8100" y="19680"/>
                  </a:cubicBezTo>
                  <a:cubicBezTo>
                    <a:pt x="8100" y="21360"/>
                    <a:pt x="8100" y="21360"/>
                    <a:pt x="8100" y="21360"/>
                  </a:cubicBezTo>
                  <a:cubicBezTo>
                    <a:pt x="8100" y="21600"/>
                    <a:pt x="8472" y="21600"/>
                    <a:pt x="8844" y="21600"/>
                  </a:cubicBezTo>
                  <a:cubicBezTo>
                    <a:pt x="11079" y="21600"/>
                    <a:pt x="11079" y="21600"/>
                    <a:pt x="11079" y="21600"/>
                  </a:cubicBezTo>
                  <a:cubicBezTo>
                    <a:pt x="11451" y="21600"/>
                    <a:pt x="11824" y="21600"/>
                    <a:pt x="11824" y="21360"/>
                  </a:cubicBezTo>
                  <a:cubicBezTo>
                    <a:pt x="11824" y="19680"/>
                    <a:pt x="11824" y="19680"/>
                    <a:pt x="11824" y="19680"/>
                  </a:cubicBezTo>
                  <a:cubicBezTo>
                    <a:pt x="14431" y="19680"/>
                    <a:pt x="16665" y="19200"/>
                    <a:pt x="17782" y="18480"/>
                  </a:cubicBezTo>
                  <a:cubicBezTo>
                    <a:pt x="20017" y="17280"/>
                    <a:pt x="21134" y="15120"/>
                    <a:pt x="20017" y="13440"/>
                  </a:cubicBezTo>
                  <a:cubicBezTo>
                    <a:pt x="18900" y="11520"/>
                    <a:pt x="14803" y="10560"/>
                    <a:pt x="11824" y="98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</a:p>
          </p:txBody>
        </p:sp>
      </p:grpSp>
      <p:pic>
        <p:nvPicPr>
          <p:cNvPr id="104" name="图片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170" y="1485265"/>
            <a:ext cx="891540" cy="284480"/>
          </a:xfrm>
          <a:prstGeom prst="rect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235" y="2938145"/>
            <a:ext cx="891540" cy="284480"/>
          </a:xfrm>
          <a:prstGeom prst="rect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465" y="4615180"/>
            <a:ext cx="891540" cy="284480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005" y="5107940"/>
            <a:ext cx="891540" cy="284480"/>
          </a:xfrm>
          <a:prstGeom prst="rect">
            <a:avLst/>
          </a:prstGeom>
        </p:spPr>
      </p:pic>
      <p:sp>
        <p:nvSpPr>
          <p:cNvPr id="2" name="Freeform 96"/>
          <p:cNvSpPr>
            <a:spLocks noChangeArrowheads="1"/>
          </p:cNvSpPr>
          <p:nvPr/>
        </p:nvSpPr>
        <p:spPr bwMode="auto">
          <a:xfrm>
            <a:off x="7632314" y="1325820"/>
            <a:ext cx="408083" cy="412652"/>
          </a:xfrm>
          <a:custGeom>
            <a:avLst/>
            <a:gdLst>
              <a:gd name="T0" fmla="*/ 2147483646 w 602"/>
              <a:gd name="T1" fmla="*/ 2147483646 h 580"/>
              <a:gd name="T2" fmla="*/ 2147483646 w 602"/>
              <a:gd name="T3" fmla="*/ 2147483646 h 580"/>
              <a:gd name="T4" fmla="*/ 2147483646 w 602"/>
              <a:gd name="T5" fmla="*/ 2147483646 h 580"/>
              <a:gd name="T6" fmla="*/ 2147483646 w 602"/>
              <a:gd name="T7" fmla="*/ 2147483646 h 580"/>
              <a:gd name="T8" fmla="*/ 1320341830 w 602"/>
              <a:gd name="T9" fmla="*/ 2147483646 h 580"/>
              <a:gd name="T10" fmla="*/ 0 w 602"/>
              <a:gd name="T11" fmla="*/ 2147483646 h 580"/>
              <a:gd name="T12" fmla="*/ 0 w 602"/>
              <a:gd name="T13" fmla="*/ 2147483646 h 580"/>
              <a:gd name="T14" fmla="*/ 0 w 602"/>
              <a:gd name="T15" fmla="*/ 2147483646 h 580"/>
              <a:gd name="T16" fmla="*/ 2147483646 w 602"/>
              <a:gd name="T17" fmla="*/ 2147483646 h 580"/>
              <a:gd name="T18" fmla="*/ 2147483646 w 602"/>
              <a:gd name="T19" fmla="*/ 2147483646 h 580"/>
              <a:gd name="T20" fmla="*/ 2147483646 w 602"/>
              <a:gd name="T21" fmla="*/ 2147483646 h 580"/>
              <a:gd name="T22" fmla="*/ 2147483646 w 602"/>
              <a:gd name="T23" fmla="*/ 2147483646 h 580"/>
              <a:gd name="T24" fmla="*/ 2147483646 w 602"/>
              <a:gd name="T25" fmla="*/ 2147483646 h 580"/>
              <a:gd name="T26" fmla="*/ 2147483646 w 602"/>
              <a:gd name="T27" fmla="*/ 2147483646 h 580"/>
              <a:gd name="T28" fmla="*/ 2147483646 w 602"/>
              <a:gd name="T29" fmla="*/ 2147483646 h 580"/>
              <a:gd name="T30" fmla="*/ 2147483646 w 602"/>
              <a:gd name="T31" fmla="*/ 2147483646 h 580"/>
              <a:gd name="T32" fmla="*/ 2147483646 w 602"/>
              <a:gd name="T33" fmla="*/ 0 h 580"/>
              <a:gd name="T34" fmla="*/ 2147483646 w 602"/>
              <a:gd name="T35" fmla="*/ 2147483646 h 580"/>
              <a:gd name="T36" fmla="*/ 2147483646 w 602"/>
              <a:gd name="T37" fmla="*/ 2147483646 h 580"/>
              <a:gd name="T38" fmla="*/ 2147483646 w 602"/>
              <a:gd name="T39" fmla="*/ 2147483646 h 580"/>
              <a:gd name="T40" fmla="*/ 2147483646 w 602"/>
              <a:gd name="T41" fmla="*/ 2147483646 h 580"/>
              <a:gd name="T42" fmla="*/ 2147483646 w 602"/>
              <a:gd name="T43" fmla="*/ 2147483646 h 580"/>
              <a:gd name="T44" fmla="*/ 2147483646 w 602"/>
              <a:gd name="T45" fmla="*/ 2147483646 h 580"/>
              <a:gd name="T46" fmla="*/ 2147483646 w 602"/>
              <a:gd name="T47" fmla="*/ 2147483646 h 580"/>
              <a:gd name="T48" fmla="*/ 2147483646 w 602"/>
              <a:gd name="T49" fmla="*/ 2147483646 h 580"/>
              <a:gd name="T50" fmla="*/ 2147483646 w 602"/>
              <a:gd name="T51" fmla="*/ 2147483646 h 580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602" h="580" extrusionOk="0">
                <a:moveTo>
                  <a:pt x="601" y="551"/>
                </a:moveTo>
                <a:lnTo>
                  <a:pt x="601" y="551"/>
                </a:lnTo>
                <a:cubicBezTo>
                  <a:pt x="601" y="572"/>
                  <a:pt x="594" y="579"/>
                  <a:pt x="572" y="579"/>
                </a:cubicBezTo>
                <a:cubicBezTo>
                  <a:pt x="28" y="579"/>
                  <a:pt x="28" y="579"/>
                  <a:pt x="28" y="579"/>
                </a:cubicBezTo>
                <a:cubicBezTo>
                  <a:pt x="14" y="579"/>
                  <a:pt x="0" y="572"/>
                  <a:pt x="0" y="551"/>
                </a:cubicBezTo>
                <a:cubicBezTo>
                  <a:pt x="0" y="551"/>
                  <a:pt x="0" y="452"/>
                  <a:pt x="78" y="410"/>
                </a:cubicBezTo>
                <a:cubicBezTo>
                  <a:pt x="120" y="388"/>
                  <a:pt x="106" y="410"/>
                  <a:pt x="163" y="381"/>
                </a:cubicBezTo>
                <a:cubicBezTo>
                  <a:pt x="219" y="360"/>
                  <a:pt x="233" y="353"/>
                  <a:pt x="233" y="353"/>
                </a:cubicBezTo>
                <a:cubicBezTo>
                  <a:pt x="233" y="296"/>
                  <a:pt x="233" y="296"/>
                  <a:pt x="233" y="296"/>
                </a:cubicBezTo>
                <a:cubicBezTo>
                  <a:pt x="233" y="296"/>
                  <a:pt x="212" y="275"/>
                  <a:pt x="205" y="226"/>
                </a:cubicBezTo>
                <a:cubicBezTo>
                  <a:pt x="191" y="233"/>
                  <a:pt x="191" y="212"/>
                  <a:pt x="191" y="198"/>
                </a:cubicBezTo>
                <a:cubicBezTo>
                  <a:pt x="191" y="183"/>
                  <a:pt x="184" y="148"/>
                  <a:pt x="198" y="148"/>
                </a:cubicBezTo>
                <a:cubicBezTo>
                  <a:pt x="191" y="127"/>
                  <a:pt x="191" y="99"/>
                  <a:pt x="191" y="92"/>
                </a:cubicBezTo>
                <a:cubicBezTo>
                  <a:pt x="198" y="49"/>
                  <a:pt x="240" y="0"/>
                  <a:pt x="304" y="0"/>
                </a:cubicBezTo>
                <a:cubicBezTo>
                  <a:pt x="375" y="0"/>
                  <a:pt x="410" y="49"/>
                  <a:pt x="410" y="92"/>
                </a:cubicBezTo>
                <a:cubicBezTo>
                  <a:pt x="410" y="99"/>
                  <a:pt x="410" y="127"/>
                  <a:pt x="403" y="148"/>
                </a:cubicBezTo>
                <a:cubicBezTo>
                  <a:pt x="424" y="148"/>
                  <a:pt x="417" y="183"/>
                  <a:pt x="417" y="198"/>
                </a:cubicBezTo>
                <a:cubicBezTo>
                  <a:pt x="417" y="212"/>
                  <a:pt x="410" y="233"/>
                  <a:pt x="396" y="226"/>
                </a:cubicBezTo>
                <a:cubicBezTo>
                  <a:pt x="389" y="275"/>
                  <a:pt x="368" y="296"/>
                  <a:pt x="368" y="296"/>
                </a:cubicBezTo>
                <a:cubicBezTo>
                  <a:pt x="368" y="353"/>
                  <a:pt x="368" y="353"/>
                  <a:pt x="368" y="353"/>
                </a:cubicBezTo>
                <a:cubicBezTo>
                  <a:pt x="368" y="353"/>
                  <a:pt x="382" y="360"/>
                  <a:pt x="438" y="381"/>
                </a:cubicBezTo>
                <a:cubicBezTo>
                  <a:pt x="502" y="410"/>
                  <a:pt x="481" y="388"/>
                  <a:pt x="530" y="410"/>
                </a:cubicBezTo>
                <a:cubicBezTo>
                  <a:pt x="601" y="452"/>
                  <a:pt x="601" y="551"/>
                  <a:pt x="601" y="551"/>
                </a:cubicBezTo>
              </a:path>
            </a:pathLst>
          </a:custGeom>
          <a:solidFill>
            <a:srgbClr val="FF9401"/>
          </a:solidFill>
          <a:ln>
            <a:noFill/>
          </a:ln>
        </p:spPr>
        <p:txBody>
          <a:bodyPr wrap="none" anchor="ctr"/>
          <a:p>
            <a:pPr>
              <a:defRPr/>
            </a:pPr>
            <a:endParaRPr lang="zh-CN" sz="1350"/>
          </a:p>
        </p:txBody>
      </p:sp>
      <p:sp>
        <p:nvSpPr>
          <p:cNvPr id="108" name="Freeform 96"/>
          <p:cNvSpPr>
            <a:spLocks noChangeArrowheads="1"/>
          </p:cNvSpPr>
          <p:nvPr/>
        </p:nvSpPr>
        <p:spPr bwMode="auto">
          <a:xfrm>
            <a:off x="2389119" y="6063555"/>
            <a:ext cx="408083" cy="412652"/>
          </a:xfrm>
          <a:custGeom>
            <a:avLst/>
            <a:gdLst>
              <a:gd name="T0" fmla="*/ 2147483646 w 602"/>
              <a:gd name="T1" fmla="*/ 2147483646 h 580"/>
              <a:gd name="T2" fmla="*/ 2147483646 w 602"/>
              <a:gd name="T3" fmla="*/ 2147483646 h 580"/>
              <a:gd name="T4" fmla="*/ 2147483646 w 602"/>
              <a:gd name="T5" fmla="*/ 2147483646 h 580"/>
              <a:gd name="T6" fmla="*/ 2147483646 w 602"/>
              <a:gd name="T7" fmla="*/ 2147483646 h 580"/>
              <a:gd name="T8" fmla="*/ 1320341830 w 602"/>
              <a:gd name="T9" fmla="*/ 2147483646 h 580"/>
              <a:gd name="T10" fmla="*/ 0 w 602"/>
              <a:gd name="T11" fmla="*/ 2147483646 h 580"/>
              <a:gd name="T12" fmla="*/ 0 w 602"/>
              <a:gd name="T13" fmla="*/ 2147483646 h 580"/>
              <a:gd name="T14" fmla="*/ 0 w 602"/>
              <a:gd name="T15" fmla="*/ 2147483646 h 580"/>
              <a:gd name="T16" fmla="*/ 2147483646 w 602"/>
              <a:gd name="T17" fmla="*/ 2147483646 h 580"/>
              <a:gd name="T18" fmla="*/ 2147483646 w 602"/>
              <a:gd name="T19" fmla="*/ 2147483646 h 580"/>
              <a:gd name="T20" fmla="*/ 2147483646 w 602"/>
              <a:gd name="T21" fmla="*/ 2147483646 h 580"/>
              <a:gd name="T22" fmla="*/ 2147483646 w 602"/>
              <a:gd name="T23" fmla="*/ 2147483646 h 580"/>
              <a:gd name="T24" fmla="*/ 2147483646 w 602"/>
              <a:gd name="T25" fmla="*/ 2147483646 h 580"/>
              <a:gd name="T26" fmla="*/ 2147483646 w 602"/>
              <a:gd name="T27" fmla="*/ 2147483646 h 580"/>
              <a:gd name="T28" fmla="*/ 2147483646 w 602"/>
              <a:gd name="T29" fmla="*/ 2147483646 h 580"/>
              <a:gd name="T30" fmla="*/ 2147483646 w 602"/>
              <a:gd name="T31" fmla="*/ 2147483646 h 580"/>
              <a:gd name="T32" fmla="*/ 2147483646 w 602"/>
              <a:gd name="T33" fmla="*/ 0 h 580"/>
              <a:gd name="T34" fmla="*/ 2147483646 w 602"/>
              <a:gd name="T35" fmla="*/ 2147483646 h 580"/>
              <a:gd name="T36" fmla="*/ 2147483646 w 602"/>
              <a:gd name="T37" fmla="*/ 2147483646 h 580"/>
              <a:gd name="T38" fmla="*/ 2147483646 w 602"/>
              <a:gd name="T39" fmla="*/ 2147483646 h 580"/>
              <a:gd name="T40" fmla="*/ 2147483646 w 602"/>
              <a:gd name="T41" fmla="*/ 2147483646 h 580"/>
              <a:gd name="T42" fmla="*/ 2147483646 w 602"/>
              <a:gd name="T43" fmla="*/ 2147483646 h 580"/>
              <a:gd name="T44" fmla="*/ 2147483646 w 602"/>
              <a:gd name="T45" fmla="*/ 2147483646 h 580"/>
              <a:gd name="T46" fmla="*/ 2147483646 w 602"/>
              <a:gd name="T47" fmla="*/ 2147483646 h 580"/>
              <a:gd name="T48" fmla="*/ 2147483646 w 602"/>
              <a:gd name="T49" fmla="*/ 2147483646 h 580"/>
              <a:gd name="T50" fmla="*/ 2147483646 w 602"/>
              <a:gd name="T51" fmla="*/ 2147483646 h 580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602" h="580" extrusionOk="0">
                <a:moveTo>
                  <a:pt x="601" y="551"/>
                </a:moveTo>
                <a:lnTo>
                  <a:pt x="601" y="551"/>
                </a:lnTo>
                <a:cubicBezTo>
                  <a:pt x="601" y="572"/>
                  <a:pt x="594" y="579"/>
                  <a:pt x="572" y="579"/>
                </a:cubicBezTo>
                <a:cubicBezTo>
                  <a:pt x="28" y="579"/>
                  <a:pt x="28" y="579"/>
                  <a:pt x="28" y="579"/>
                </a:cubicBezTo>
                <a:cubicBezTo>
                  <a:pt x="14" y="579"/>
                  <a:pt x="0" y="572"/>
                  <a:pt x="0" y="551"/>
                </a:cubicBezTo>
                <a:cubicBezTo>
                  <a:pt x="0" y="551"/>
                  <a:pt x="0" y="452"/>
                  <a:pt x="78" y="410"/>
                </a:cubicBezTo>
                <a:cubicBezTo>
                  <a:pt x="120" y="388"/>
                  <a:pt x="106" y="410"/>
                  <a:pt x="163" y="381"/>
                </a:cubicBezTo>
                <a:cubicBezTo>
                  <a:pt x="219" y="360"/>
                  <a:pt x="233" y="353"/>
                  <a:pt x="233" y="353"/>
                </a:cubicBezTo>
                <a:cubicBezTo>
                  <a:pt x="233" y="296"/>
                  <a:pt x="233" y="296"/>
                  <a:pt x="233" y="296"/>
                </a:cubicBezTo>
                <a:cubicBezTo>
                  <a:pt x="233" y="296"/>
                  <a:pt x="212" y="275"/>
                  <a:pt x="205" y="226"/>
                </a:cubicBezTo>
                <a:cubicBezTo>
                  <a:pt x="191" y="233"/>
                  <a:pt x="191" y="212"/>
                  <a:pt x="191" y="198"/>
                </a:cubicBezTo>
                <a:cubicBezTo>
                  <a:pt x="191" y="183"/>
                  <a:pt x="184" y="148"/>
                  <a:pt x="198" y="148"/>
                </a:cubicBezTo>
                <a:cubicBezTo>
                  <a:pt x="191" y="127"/>
                  <a:pt x="191" y="99"/>
                  <a:pt x="191" y="92"/>
                </a:cubicBezTo>
                <a:cubicBezTo>
                  <a:pt x="198" y="49"/>
                  <a:pt x="240" y="0"/>
                  <a:pt x="304" y="0"/>
                </a:cubicBezTo>
                <a:cubicBezTo>
                  <a:pt x="375" y="0"/>
                  <a:pt x="410" y="49"/>
                  <a:pt x="410" y="92"/>
                </a:cubicBezTo>
                <a:cubicBezTo>
                  <a:pt x="410" y="99"/>
                  <a:pt x="410" y="127"/>
                  <a:pt x="403" y="148"/>
                </a:cubicBezTo>
                <a:cubicBezTo>
                  <a:pt x="424" y="148"/>
                  <a:pt x="417" y="183"/>
                  <a:pt x="417" y="198"/>
                </a:cubicBezTo>
                <a:cubicBezTo>
                  <a:pt x="417" y="212"/>
                  <a:pt x="410" y="233"/>
                  <a:pt x="396" y="226"/>
                </a:cubicBezTo>
                <a:cubicBezTo>
                  <a:pt x="389" y="275"/>
                  <a:pt x="368" y="296"/>
                  <a:pt x="368" y="296"/>
                </a:cubicBezTo>
                <a:cubicBezTo>
                  <a:pt x="368" y="353"/>
                  <a:pt x="368" y="353"/>
                  <a:pt x="368" y="353"/>
                </a:cubicBezTo>
                <a:cubicBezTo>
                  <a:pt x="368" y="353"/>
                  <a:pt x="382" y="360"/>
                  <a:pt x="438" y="381"/>
                </a:cubicBezTo>
                <a:cubicBezTo>
                  <a:pt x="502" y="410"/>
                  <a:pt x="481" y="388"/>
                  <a:pt x="530" y="410"/>
                </a:cubicBezTo>
                <a:cubicBezTo>
                  <a:pt x="601" y="452"/>
                  <a:pt x="601" y="551"/>
                  <a:pt x="601" y="551"/>
                </a:cubicBezTo>
              </a:path>
            </a:pathLst>
          </a:custGeom>
          <a:solidFill>
            <a:srgbClr val="8EAADB"/>
          </a:solidFill>
          <a:ln>
            <a:noFill/>
          </a:ln>
        </p:spPr>
        <p:txBody>
          <a:bodyPr wrap="none" anchor="ctr"/>
          <a:p>
            <a:pPr>
              <a:defRPr/>
            </a:pPr>
            <a:endParaRPr lang="zh-CN" sz="1350"/>
          </a:p>
        </p:txBody>
      </p:sp>
      <p:sp>
        <p:nvSpPr>
          <p:cNvPr id="109" name="融易单"/>
          <p:cNvSpPr/>
          <p:nvPr/>
        </p:nvSpPr>
        <p:spPr bwMode="auto">
          <a:xfrm>
            <a:off x="479702" y="2041577"/>
            <a:ext cx="1499870" cy="306705"/>
          </a:xfrm>
          <a:prstGeom prst="rect">
            <a:avLst/>
          </a:prstGeom>
          <a:solidFill>
            <a:srgbClr val="2864FF"/>
          </a:solidFill>
          <a:ln w="12700">
            <a:noFill/>
            <a:miter lim="400000"/>
          </a:ln>
        </p:spPr>
        <p:txBody>
          <a:bodyPr wrap="none" lIns="45719" rIns="45719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rgbClr val="4B4B4B"/>
                </a:solidFill>
                <a:latin typeface="WeibeiSC-Bold"/>
                <a:ea typeface="WeibeiSC-Bold"/>
                <a:cs typeface="WeibeiSC-Bold"/>
              </a:defRPr>
            </a:lvl1pPr>
          </a:lstStyle>
          <a:p>
            <a:pPr marL="342900" indent="-342900">
              <a:buFont typeface="+mj-lt"/>
              <a:buAutoNum type="arabicPeriod" startAt="2"/>
              <a:defRPr/>
            </a:pPr>
            <a:r>
              <a:rPr 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上传资产资料</a:t>
            </a:r>
            <a:endParaRPr lang="zh-CN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110" name="融易单"/>
          <p:cNvSpPr/>
          <p:nvPr/>
        </p:nvSpPr>
        <p:spPr bwMode="auto">
          <a:xfrm>
            <a:off x="450492" y="3734487"/>
            <a:ext cx="1144270" cy="306705"/>
          </a:xfrm>
          <a:prstGeom prst="rect">
            <a:avLst/>
          </a:prstGeom>
          <a:solidFill>
            <a:srgbClr val="FF9401"/>
          </a:solidFill>
          <a:ln w="12700">
            <a:noFill/>
            <a:miter lim="400000"/>
          </a:ln>
        </p:spPr>
        <p:txBody>
          <a:bodyPr wrap="none" lIns="45719" rIns="45719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rgbClr val="4B4B4B"/>
                </a:solidFill>
                <a:latin typeface="WeibeiSC-Bold"/>
                <a:ea typeface="WeibeiSC-Bold"/>
                <a:cs typeface="WeibeiSC-Bold"/>
              </a:defRPr>
            </a:lvl1pPr>
          </a:lstStyle>
          <a:p>
            <a:pPr marL="342900" indent="-342900">
              <a:buFont typeface="+mj-lt"/>
              <a:buAutoNum type="arabicPeriod" startAt="3"/>
              <a:defRPr/>
            </a:pPr>
            <a:r>
              <a:rPr 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凭证交易</a:t>
            </a:r>
            <a:endParaRPr lang="zh-CN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111" name="融易单"/>
          <p:cNvSpPr/>
          <p:nvPr/>
        </p:nvSpPr>
        <p:spPr bwMode="auto">
          <a:xfrm>
            <a:off x="450492" y="5589322"/>
            <a:ext cx="1499870" cy="306705"/>
          </a:xfrm>
          <a:prstGeom prst="rect">
            <a:avLst/>
          </a:prstGeom>
          <a:solidFill>
            <a:srgbClr val="2864FF"/>
          </a:solidFill>
          <a:ln w="12700">
            <a:noFill/>
            <a:miter lim="400000"/>
          </a:ln>
        </p:spPr>
        <p:txBody>
          <a:bodyPr wrap="none" lIns="45719" rIns="45719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rgbClr val="4B4B4B"/>
                </a:solidFill>
                <a:latin typeface="WeibeiSC-Bold"/>
                <a:ea typeface="WeibeiSC-Bold"/>
                <a:cs typeface="WeibeiSC-Bold"/>
              </a:defRPr>
            </a:lvl1pPr>
          </a:lstStyle>
          <a:p>
            <a:pPr marL="342900" indent="-342900">
              <a:buFont typeface="+mj-lt"/>
              <a:buAutoNum type="arabicPeriod" startAt="4"/>
              <a:defRPr/>
            </a:pPr>
            <a:r>
              <a:rPr 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凭证签收持有</a:t>
            </a:r>
            <a:endParaRPr lang="zh-CN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59" name="灯片编号占位符 19"/>
          <p:cNvSpPr>
            <a:spLocks noGrp="1"/>
          </p:cNvSpPr>
          <p:nvPr/>
        </p:nvSpPr>
        <p:spPr>
          <a:xfrm>
            <a:off x="8610648" y="6356781"/>
            <a:ext cx="2742815" cy="364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554355" rtl="0" eaLnBrk="1" latinLnBrk="0" hangingPunct="1">
              <a:defRPr sz="725" kern="1200">
                <a:solidFill>
                  <a:sysClr val="windowText" lastClr="000000">
                    <a:tint val="75000"/>
                  </a:sysClr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277495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554355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832485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108710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1386840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1663700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1941195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2218055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序号"/>
          <p:cNvSpPr/>
          <p:nvPr>
            <p:custDataLst>
              <p:tags r:id="rId1"/>
            </p:custDataLst>
          </p:nvPr>
        </p:nvSpPr>
        <p:spPr bwMode="auto">
          <a:xfrm>
            <a:off x="4894970" y="3665104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41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项标题"/>
          <p:cNvSpPr/>
          <p:nvPr>
            <p:custDataLst>
              <p:tags r:id="rId2"/>
            </p:custDataLst>
          </p:nvPr>
        </p:nvSpPr>
        <p:spPr bwMode="auto">
          <a:xfrm>
            <a:off x="679117" y="3646054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sz="2000" b="1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银行准入维护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7" name="直接连接符 12"/>
          <p:cNvCxnSpPr/>
          <p:nvPr>
            <p:custDataLst>
              <p:tags r:id="rId3"/>
            </p:custDataLst>
          </p:nvPr>
        </p:nvCxnSpPr>
        <p:spPr bwMode="auto">
          <a:xfrm>
            <a:off x="622300" y="4390711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序号"/>
          <p:cNvSpPr/>
          <p:nvPr>
            <p:custDataLst>
              <p:tags r:id="rId4"/>
            </p:custDataLst>
          </p:nvPr>
        </p:nvSpPr>
        <p:spPr bwMode="auto">
          <a:xfrm>
            <a:off x="10543295" y="1893173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52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项标题"/>
          <p:cNvSpPr/>
          <p:nvPr>
            <p:custDataLst>
              <p:tags r:id="rId5"/>
            </p:custDataLst>
          </p:nvPr>
        </p:nvSpPr>
        <p:spPr bwMode="auto">
          <a:xfrm>
            <a:off x="6328078" y="1882378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6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sz="2000" b="1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交易管理</a:t>
            </a:r>
            <a:endParaRPr lang="zh-CN" alt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0" name="直接连接符 15"/>
          <p:cNvCxnSpPr/>
          <p:nvPr>
            <p:custDataLst>
              <p:tags r:id="rId6"/>
            </p:custDataLst>
          </p:nvPr>
        </p:nvCxnSpPr>
        <p:spPr bwMode="auto">
          <a:xfrm>
            <a:off x="6271260" y="2611794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序号"/>
          <p:cNvSpPr/>
          <p:nvPr>
            <p:custDataLst>
              <p:tags r:id="rId7"/>
            </p:custDataLst>
          </p:nvPr>
        </p:nvSpPr>
        <p:spPr bwMode="auto">
          <a:xfrm>
            <a:off x="10543295" y="2746966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59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2" name="项标题"/>
          <p:cNvSpPr/>
          <p:nvPr>
            <p:custDataLst>
              <p:tags r:id="rId8"/>
            </p:custDataLst>
          </p:nvPr>
        </p:nvSpPr>
        <p:spPr bwMode="auto">
          <a:xfrm>
            <a:off x="6328078" y="2746966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7</a:t>
            </a:r>
            <a:r>
              <a:rPr lang="en-US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sz="2000" b="1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账号权限管理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直接连接符 22"/>
          <p:cNvCxnSpPr/>
          <p:nvPr>
            <p:custDataLst>
              <p:tags r:id="rId9"/>
            </p:custDataLst>
          </p:nvPr>
        </p:nvCxnSpPr>
        <p:spPr bwMode="auto">
          <a:xfrm>
            <a:off x="6271260" y="3478923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序号"/>
          <p:cNvSpPr/>
          <p:nvPr>
            <p:custDataLst>
              <p:tags r:id="rId10"/>
            </p:custDataLst>
          </p:nvPr>
        </p:nvSpPr>
        <p:spPr bwMode="auto">
          <a:xfrm>
            <a:off x="4901955" y="1874123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32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8" name="项标题"/>
          <p:cNvSpPr/>
          <p:nvPr>
            <p:custDataLst>
              <p:tags r:id="rId11"/>
            </p:custDataLst>
          </p:nvPr>
        </p:nvSpPr>
        <p:spPr bwMode="auto">
          <a:xfrm>
            <a:off x="679450" y="1868805"/>
            <a:ext cx="3843020" cy="730250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注册及开通</a:t>
            </a:r>
            <a:endParaRPr lang="zh-CN" altLang="en-US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直接连接符 26"/>
          <p:cNvCxnSpPr/>
          <p:nvPr>
            <p:custDataLst>
              <p:tags r:id="rId12"/>
            </p:custDataLst>
          </p:nvPr>
        </p:nvCxnSpPr>
        <p:spPr bwMode="auto">
          <a:xfrm>
            <a:off x="622935" y="2609889"/>
            <a:ext cx="4872990" cy="2540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序号"/>
          <p:cNvSpPr/>
          <p:nvPr>
            <p:custDataLst>
              <p:tags r:id="rId13"/>
            </p:custDataLst>
          </p:nvPr>
        </p:nvSpPr>
        <p:spPr bwMode="auto">
          <a:xfrm>
            <a:off x="4894970" y="2760936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37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1" name="项标题"/>
          <p:cNvSpPr/>
          <p:nvPr>
            <p:custDataLst>
              <p:tags r:id="rId14"/>
            </p:custDataLst>
          </p:nvPr>
        </p:nvSpPr>
        <p:spPr bwMode="auto">
          <a:xfrm>
            <a:off x="679117" y="2757761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altLang="en-US" sz="2000" b="1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上传资料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直接连接符 29"/>
          <p:cNvCxnSpPr/>
          <p:nvPr>
            <p:custDataLst>
              <p:tags r:id="rId15"/>
            </p:custDataLst>
          </p:nvPr>
        </p:nvCxnSpPr>
        <p:spPr bwMode="auto">
          <a:xfrm>
            <a:off x="622300" y="3485273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30"/>
          <p:cNvSpPr/>
          <p:nvPr/>
        </p:nvSpPr>
        <p:spPr bwMode="auto">
          <a:xfrm>
            <a:off x="1229360" y="2759710"/>
            <a:ext cx="4064000" cy="914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2000" b="0" i="0" u="none" strike="noStrike" kern="0" cap="none" spc="0">
              <a:ln>
                <a:noFill/>
              </a:ln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文本框 31"/>
          <p:cNvSpPr/>
          <p:nvPr/>
        </p:nvSpPr>
        <p:spPr bwMode="auto">
          <a:xfrm>
            <a:off x="1036955" y="2776855"/>
            <a:ext cx="4064000" cy="914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kern="0" cap="none" spc="0">
              <a:ln>
                <a:noFill/>
              </a:ln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" name="序号"/>
          <p:cNvSpPr/>
          <p:nvPr>
            <p:custDataLst>
              <p:tags r:id="rId16"/>
            </p:custDataLst>
          </p:nvPr>
        </p:nvSpPr>
        <p:spPr bwMode="auto">
          <a:xfrm>
            <a:off x="10543295" y="3665458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62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6" name="项标题"/>
          <p:cNvSpPr/>
          <p:nvPr>
            <p:custDataLst>
              <p:tags r:id="rId17"/>
            </p:custDataLst>
          </p:nvPr>
        </p:nvSpPr>
        <p:spPr bwMode="auto">
          <a:xfrm>
            <a:off x="6328078" y="3650853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>
              <a:lnSpc>
                <a:spcPct val="100000"/>
              </a:lnSpc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8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sz="2000" b="1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开票管理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直接连接符 15"/>
          <p:cNvCxnSpPr/>
          <p:nvPr>
            <p:custDataLst>
              <p:tags r:id="rId18"/>
            </p:custDataLst>
          </p:nvPr>
        </p:nvCxnSpPr>
        <p:spPr bwMode="auto">
          <a:xfrm>
            <a:off x="6271260" y="4392334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序号"/>
          <p:cNvSpPr/>
          <p:nvPr>
            <p:custDataLst>
              <p:tags r:id="rId19"/>
            </p:custDataLst>
          </p:nvPr>
        </p:nvSpPr>
        <p:spPr bwMode="auto">
          <a:xfrm>
            <a:off x="4894970" y="4554739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44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项标题"/>
          <p:cNvSpPr/>
          <p:nvPr>
            <p:custDataLst>
              <p:tags r:id="rId20"/>
            </p:custDataLst>
          </p:nvPr>
        </p:nvSpPr>
        <p:spPr bwMode="auto">
          <a:xfrm>
            <a:off x="679117" y="4535689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4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sz="2000" b="1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凭证融资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4" name="直接连接符 12"/>
          <p:cNvCxnSpPr/>
          <p:nvPr>
            <p:custDataLst>
              <p:tags r:id="rId21"/>
            </p:custDataLst>
          </p:nvPr>
        </p:nvCxnSpPr>
        <p:spPr bwMode="auto">
          <a:xfrm>
            <a:off x="622300" y="5280346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序号"/>
          <p:cNvSpPr/>
          <p:nvPr>
            <p:custDataLst>
              <p:tags r:id="rId22"/>
            </p:custDataLst>
          </p:nvPr>
        </p:nvSpPr>
        <p:spPr bwMode="auto">
          <a:xfrm>
            <a:off x="10557900" y="4556363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65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0" name="项标题"/>
          <p:cNvSpPr/>
          <p:nvPr>
            <p:custDataLst>
              <p:tags r:id="rId23"/>
            </p:custDataLst>
          </p:nvPr>
        </p:nvSpPr>
        <p:spPr bwMode="auto">
          <a:xfrm>
            <a:off x="6342683" y="4541758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>
              <a:lnSpc>
                <a:spcPct val="100000"/>
              </a:lnSpc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9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sz="2000" b="1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企业信息变更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直接连接符 15"/>
          <p:cNvCxnSpPr/>
          <p:nvPr>
            <p:custDataLst>
              <p:tags r:id="rId24"/>
            </p:custDataLst>
          </p:nvPr>
        </p:nvCxnSpPr>
        <p:spPr bwMode="auto">
          <a:xfrm>
            <a:off x="6285865" y="5283239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序号"/>
          <p:cNvSpPr/>
          <p:nvPr>
            <p:custDataLst>
              <p:tags r:id="rId25"/>
            </p:custDataLst>
          </p:nvPr>
        </p:nvSpPr>
        <p:spPr bwMode="auto">
          <a:xfrm>
            <a:off x="4897510" y="5437743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49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项标题"/>
          <p:cNvSpPr/>
          <p:nvPr>
            <p:custDataLst>
              <p:tags r:id="rId26"/>
            </p:custDataLst>
          </p:nvPr>
        </p:nvSpPr>
        <p:spPr bwMode="auto">
          <a:xfrm>
            <a:off x="682293" y="5423138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5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sz="2000" b="1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凭证转让与签收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直接连接符 15"/>
          <p:cNvCxnSpPr/>
          <p:nvPr>
            <p:custDataLst>
              <p:tags r:id="rId27"/>
            </p:custDataLst>
          </p:nvPr>
        </p:nvCxnSpPr>
        <p:spPr bwMode="auto">
          <a:xfrm>
            <a:off x="625475" y="6164619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灯片编号占位符 3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占位符 4"/>
          <p:cNvSpPr>
            <a:spLocks noGrp="1"/>
          </p:cNvSpPr>
          <p:nvPr>
            <p:ph type="body" sz="quarter" idx="10"/>
          </p:nvPr>
        </p:nvSpPr>
        <p:spPr bwMode="auto">
          <a:xfrm>
            <a:off x="1734376" y="882788"/>
            <a:ext cx="3054350" cy="674687"/>
          </a:xfrm>
        </p:spPr>
        <p:txBody>
          <a:bodyPr/>
          <a:p>
            <a:pPr>
              <a:defRPr/>
            </a:pPr>
            <a:r>
              <a:rPr sz="3500">
                <a:solidFill>
                  <a:srgbClr val="2864FF"/>
                </a:solidFill>
              </a:rPr>
              <a:t>目</a:t>
            </a:r>
            <a:r>
              <a:rPr lang="en-US" sz="3500">
                <a:solidFill>
                  <a:srgbClr val="2864FF"/>
                </a:solidFill>
              </a:rPr>
              <a:t> </a:t>
            </a:r>
            <a:r>
              <a:rPr sz="3500">
                <a:solidFill>
                  <a:srgbClr val="2864FF"/>
                </a:solidFill>
              </a:rPr>
              <a:t>录</a:t>
            </a:r>
            <a:endParaRPr sz="3500">
              <a:solidFill>
                <a:srgbClr val="2864FF"/>
              </a:solidFill>
            </a:endParaRPr>
          </a:p>
        </p:txBody>
      </p:sp>
    </p:spTree>
    <p:custDataLst>
      <p:tags r:id="rId2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232005" cy="68567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E6E6E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53890" y="3394103"/>
            <a:ext cx="3357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65J" panose="00020600040101010101" charset="-122"/>
                <a:sym typeface="+mn-ea"/>
              </a:rPr>
              <a:t>注册及开通</a:t>
            </a:r>
            <a:endParaRPr kumimoji="0" lang="zh-CN" altLang="en-US" sz="5000" b="1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65J" panose="0002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01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56928"/>
            <a:ext cx="2504128" cy="51069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26995" y="4394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930" y="909955"/>
            <a:ext cx="11236325" cy="5600065"/>
          </a:xfrm>
          <a:prstGeom prst="rect">
            <a:avLst/>
          </a:prstGeom>
        </p:spPr>
      </p:pic>
      <p:sp>
        <p:nvSpPr>
          <p:cNvPr id="18" name="灯片编号占位符 17"/>
          <p:cNvSpPr>
            <a:spLocks noGrp="1"/>
          </p:cNvSpPr>
          <p:nvPr>
            <p:ph type="sldNum" sz="quarter" idx="4294967295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44"/>
          <p:cNvSpPr txBox="1"/>
          <p:nvPr/>
        </p:nvSpPr>
        <p:spPr>
          <a:xfrm>
            <a:off x="205050" y="232962"/>
            <a:ext cx="661860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注册及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登录：https://llt.hbsltzb.com/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78760" y="48577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7" name="文本框 1"/>
          <p:cNvSpPr/>
          <p:nvPr/>
        </p:nvSpPr>
        <p:spPr bwMode="auto">
          <a:xfrm>
            <a:off x="521335" y="2450465"/>
            <a:ext cx="11170920" cy="2676525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请客户使用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火狐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谷歌浏览器登录客户端：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平台共有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“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主体信用、物的信用、数据信用、供应链票据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”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等分页，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请选择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“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主体信用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—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银行保理业务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—</a:t>
            </a:r>
            <a:r>
              <a:rPr 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我要办理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”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产品进行注册和激活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-简"/>
              <a:sym typeface="+mn-ea"/>
            </a:endParaRPr>
          </a:p>
          <a:p>
            <a:pPr marL="285750" indent="-285750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客户可以通过三种方式注册登录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联链通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平台：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自主注册：客户自行在平台网站上自主申请注册，内管审核通过后完成注册；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自主建档：由平台邀请客户，客户在收到内管端发送的邀请后，自行在平台上注册并完成企业信息录入；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非自主建档：由运营服务人员在内管端完成企业全部信息录入后，获取邀请短信后在平台进行登录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激活。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sndAc>
      <p:stSnd>
        <p:snd r:embed="rId2" name="explode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749906" y="951485"/>
            <a:ext cx="10692767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点击右上角“登录“，点击弹窗左下角“注册”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可点击“注册指引”了解注册流程。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294967295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050" y="1781175"/>
            <a:ext cx="10116820" cy="49561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1029306" y="1112775"/>
            <a:ext cx="10692767" cy="11988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在信息填写页面，填写信息后勾选”我已阅读并确认《用户协议》和《隐私政策》”(两份协议，点击均可查看详细内容) ;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点击”注册“，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平台会发送注册邀请码到填写的电子邮箱和手机短信，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页面会自动跳转到门户首页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294967295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1740" t="10538" r="9313"/>
          <a:stretch>
            <a:fillRect/>
          </a:stretch>
        </p:blipFill>
        <p:spPr>
          <a:xfrm>
            <a:off x="2155825" y="2383790"/>
            <a:ext cx="7989570" cy="438594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741651" y="891160"/>
            <a:ext cx="10692767" cy="11988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注册成功后，页面会有”注册成功“的提示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注册成功，被授权人收到平台发送的邀请短信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和邮件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，重新进入平台页面输入手机号和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初始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密码进行登录(首次登录修改密码)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294967295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45" y="2244725"/>
            <a:ext cx="7684770" cy="34105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2903855"/>
            <a:ext cx="7101840" cy="315087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1983105"/>
            <a:ext cx="7278370" cy="3077210"/>
          </a:xfrm>
          <a:prstGeom prst="rect">
            <a:avLst/>
          </a:prstGeom>
        </p:spPr>
      </p:pic>
      <p:sp>
        <p:nvSpPr>
          <p:cNvPr id="6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1"/>
          <p:cNvSpPr/>
          <p:nvPr/>
        </p:nvSpPr>
        <p:spPr bwMode="auto">
          <a:xfrm>
            <a:off x="354330" y="792480"/>
            <a:ext cx="11460480" cy="100393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登录之后，门户首页右上角自动反显当前企业名称，可申请办理各业务;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主体信用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银行保理业务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银行保理产品入口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我要办理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进行建档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Clr>
                <a:srgbClr val="ED7D31"/>
              </a:buClr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注:自主注册的供应商在办理各业务之前，需要进行建档</a:t>
            </a:r>
            <a:r>
              <a:rPr 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885" y="3153410"/>
            <a:ext cx="6003925" cy="2847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1029306" y="1112775"/>
            <a:ext cx="10692767" cy="4603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开始建档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进入建档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环节。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294967295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045" y="1657350"/>
            <a:ext cx="8677275" cy="3543300"/>
          </a:xfrm>
          <a:prstGeom prst="rect">
            <a:avLst/>
          </a:prstGeom>
        </p:spPr>
      </p:pic>
      <p:sp>
        <p:nvSpPr>
          <p:cNvPr id="7" name="TextBox 44"/>
          <p:cNvSpPr txBox="1"/>
          <p:nvPr/>
        </p:nvSpPr>
        <p:spPr>
          <a:xfrm>
            <a:off x="298395" y="32059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1018511" y="1181990"/>
            <a:ext cx="10692767" cy="11988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经办人收到平台发送的邀请短信后，使用手机号和默认密码登录登录平台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（首次登录需修改密码）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登录后有新窗口弹出，若无新窗口弹出，查看浏览器是否有阻碍弹窗；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登录后，点击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开始建档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进入建档环节。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294967295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44"/>
          <p:cNvSpPr txBox="1"/>
          <p:nvPr/>
        </p:nvSpPr>
        <p:spPr>
          <a:xfrm>
            <a:off x="205050" y="224707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6305" y="3099435"/>
            <a:ext cx="4610735" cy="2394585"/>
          </a:xfrm>
          <a:prstGeom prst="rect">
            <a:avLst/>
          </a:prstGeom>
          <a:ln>
            <a:solidFill>
              <a:srgbClr val="FF6600"/>
            </a:solidFill>
          </a:ln>
        </p:spPr>
      </p:pic>
      <p:sp>
        <p:nvSpPr>
          <p:cNvPr id="8" name="右箭头 7"/>
          <p:cNvSpPr/>
          <p:nvPr/>
        </p:nvSpPr>
        <p:spPr>
          <a:xfrm>
            <a:off x="6672580" y="4074160"/>
            <a:ext cx="638810" cy="55689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2965450"/>
            <a:ext cx="5999480" cy="266192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sndAc>
      <p:stSnd>
        <p:snd r:embed="rId3" name="explode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803275" y="1112520"/>
            <a:ext cx="10918825" cy="4603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上传必传（标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*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为必传）的企业证件影像件，（影像件需为原件拍照或者复印件加盖公章）上传完毕后点击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294967295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新图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335" y="1786255"/>
            <a:ext cx="9791065" cy="44881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1029306" y="1112775"/>
            <a:ext cx="10692767" cy="4603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进入补充完善企业信息的流程，填写企业基本信息和企业关联人信息（标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*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为必填），点击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294967295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新图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30" y="1863090"/>
            <a:ext cx="9751060" cy="406273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1029306" y="1112775"/>
            <a:ext cx="10692767" cy="11988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进入上传企业授权书环节，点击下载授权书，打印后盖公章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法人签字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盖章后上传，点击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Clr>
                <a:srgbClr val="ED7D31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注：盖章文件一式两份，且平台需上传两份企业授权书。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294967295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新图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460" y="2028825"/>
            <a:ext cx="10092690" cy="414147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" y="2188845"/>
            <a:ext cx="9794875" cy="3801745"/>
          </a:xfrm>
          <a:prstGeom prst="rect">
            <a:avLst/>
          </a:prstGeom>
        </p:spPr>
      </p:pic>
      <p:sp>
        <p:nvSpPr>
          <p:cNvPr id="5" name="文本框 1"/>
          <p:cNvSpPr/>
          <p:nvPr/>
        </p:nvSpPr>
        <p:spPr bwMode="auto">
          <a:xfrm>
            <a:off x="1029306" y="1112775"/>
            <a:ext cx="10692767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lnSpc>
                <a:spcPct val="10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进入添加银行账户环节，点击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新增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0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在弹窗中输入收付款账号，并点击选择，选择银行，点击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保存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，返回到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列表页面。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00000"/>
              </a:lnSpc>
              <a:buClr>
                <a:srgbClr val="ED7D31"/>
              </a:buClr>
              <a:buFont typeface="Wingdings" panose="05000000000000000000" pitchFamily="2" charset="2"/>
              <a:buNone/>
              <a:defRPr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294967295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575" y="4002405"/>
            <a:ext cx="3974465" cy="282829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6358255" y="4221480"/>
            <a:ext cx="2459355" cy="1631315"/>
          </a:xfrm>
          <a:prstGeom prst="straightConnector1">
            <a:avLst/>
          </a:prstGeom>
          <a:ln w="82550" cap="sq">
            <a:solidFill>
              <a:srgbClr val="FF0000"/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1029306" y="1112775"/>
            <a:ext cx="10692767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lnSpc>
                <a:spcPct val="10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可添加多个收款账户，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若仅添加一个收款账户，则该账户为默认账户；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0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若有多个账户，则勾选其中一个账户，则设置其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为默认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账户；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0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添加完成后点击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294967295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2404110"/>
            <a:ext cx="10610850" cy="3111500"/>
          </a:xfrm>
          <a:prstGeom prst="rect">
            <a:avLst/>
          </a:prstGeom>
        </p:spPr>
      </p:pic>
      <p:sp>
        <p:nvSpPr>
          <p:cNvPr id="2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2239010"/>
            <a:ext cx="8801735" cy="3928110"/>
          </a:xfrm>
          <a:prstGeom prst="rect">
            <a:avLst/>
          </a:prstGeom>
        </p:spPr>
      </p:pic>
      <p:sp>
        <p:nvSpPr>
          <p:cNvPr id="10" name="文本框 1"/>
          <p:cNvSpPr/>
          <p:nvPr/>
        </p:nvSpPr>
        <p:spPr bwMode="auto">
          <a:xfrm>
            <a:off x="1029306" y="1112775"/>
            <a:ext cx="10692767" cy="4603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进入被授权人人脸识别环节，识别完成后等待识别结果，或者点击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点击此处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获得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结果。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467600" y="5080000"/>
            <a:ext cx="584200" cy="36830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文本框 1"/>
          <p:cNvSpPr/>
          <p:nvPr/>
        </p:nvSpPr>
        <p:spPr bwMode="auto">
          <a:xfrm>
            <a:off x="1029306" y="1112775"/>
            <a:ext cx="10692767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扫码后进入小程序识别环节，点击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开始识别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进入识别页面后，点击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开始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，识别成功后点击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关闭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0" y="2310130"/>
            <a:ext cx="2224405" cy="4194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060" y="2314258"/>
            <a:ext cx="1911985" cy="41859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0" y="2291715"/>
            <a:ext cx="2299970" cy="42310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9" name="直接箭头连接符 8"/>
          <p:cNvCxnSpPr/>
          <p:nvPr/>
        </p:nvCxnSpPr>
        <p:spPr>
          <a:xfrm>
            <a:off x="4315460" y="4323080"/>
            <a:ext cx="688340" cy="20320"/>
          </a:xfrm>
          <a:prstGeom prst="straightConnector1">
            <a:avLst/>
          </a:prstGeom>
          <a:ln w="82550" cap="sq">
            <a:solidFill>
              <a:srgbClr val="FF0000"/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7477760" y="4302760"/>
            <a:ext cx="688340" cy="20320"/>
          </a:xfrm>
          <a:prstGeom prst="straightConnector1">
            <a:avLst/>
          </a:prstGeom>
          <a:ln w="82550" cap="sq">
            <a:solidFill>
              <a:srgbClr val="FF0000"/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9055" y="2150745"/>
            <a:ext cx="9826625" cy="2556510"/>
          </a:xfrm>
          <a:prstGeom prst="rect">
            <a:avLst/>
          </a:prstGeom>
        </p:spPr>
      </p:pic>
      <p:sp>
        <p:nvSpPr>
          <p:cNvPr id="10" name="文本框 1"/>
          <p:cNvSpPr/>
          <p:nvPr/>
        </p:nvSpPr>
        <p:spPr bwMode="auto">
          <a:xfrm>
            <a:off x="1029306" y="1112775"/>
            <a:ext cx="10692767" cy="4603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企业建档申请完成，等待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平台审核。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9550" y="1448435"/>
            <a:ext cx="6372225" cy="3961130"/>
          </a:xfrm>
          <a:prstGeom prst="rect">
            <a:avLst/>
          </a:prstGeom>
        </p:spPr>
      </p:pic>
      <p:sp>
        <p:nvSpPr>
          <p:cNvPr id="10" name="文本框 1"/>
          <p:cNvSpPr/>
          <p:nvPr/>
        </p:nvSpPr>
        <p:spPr bwMode="auto">
          <a:xfrm>
            <a:off x="1029306" y="1112775"/>
            <a:ext cx="10692767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若建档申请被退回，则登录之后，点击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重新开始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页面会显示退回原因，可根据退回原因定位需要修改的地方进行修改，修改后再次提交至平台进行审核。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695" y="5158105"/>
            <a:ext cx="10011410" cy="13557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extBox 44"/>
          <p:cNvSpPr txBox="1"/>
          <p:nvPr/>
        </p:nvSpPr>
        <p:spPr>
          <a:xfrm>
            <a:off x="205050" y="232962"/>
            <a:ext cx="256222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账户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激活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1"/>
          <p:cNvSpPr/>
          <p:nvPr/>
        </p:nvSpPr>
        <p:spPr bwMode="auto">
          <a:xfrm>
            <a:off x="1029306" y="1112775"/>
            <a:ext cx="10692767" cy="279971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对于自主建档和自主注册的用户：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平台审核通过后，会收到账户审核成功的短信后，使用已注册的手机号码与密码登录电脑PC端 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-简"/>
              <a:sym typeface="+mn-ea"/>
            </a:endParaRPr>
          </a:p>
          <a:p>
            <a:pPr marL="742950" lvl="1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进入企业认证通过页面，点击“激活账户”。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对于非自主建档的用户：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经办人会在企业建档审核通过后收到平台发送的邀请短信后，使用手机号和默认密码登录登录平台；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-简"/>
              <a:sym typeface="+mn-ea"/>
            </a:endParaRPr>
          </a:p>
          <a:p>
            <a:pPr marL="742950" lvl="1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首次登录需修改密码；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-简"/>
              <a:sym typeface="+mn-ea"/>
            </a:endParaRPr>
          </a:p>
          <a:p>
            <a:pPr marL="742950" lvl="1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直接进入协议签署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页面。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-简"/>
              <a:sym typeface="+mn-ea"/>
            </a:endParaRPr>
          </a:p>
          <a:p>
            <a:pPr marL="285750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登录后有新窗口弹出，若无新窗口弹出，请查看浏览器是否有阻碍弹窗。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065" y="3522345"/>
            <a:ext cx="3874135" cy="2720340"/>
          </a:xfrm>
          <a:prstGeom prst="rect">
            <a:avLst/>
          </a:prstGeom>
          <a:ln>
            <a:solidFill>
              <a:srgbClr val="FF6600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7540625" y="6438900"/>
            <a:ext cx="28105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仅自主建档和自主注册用户有该页面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6506845" y="4145915"/>
            <a:ext cx="986155" cy="58166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35" y="3522345"/>
            <a:ext cx="5430520" cy="255841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30" y="1933575"/>
            <a:ext cx="5231765" cy="2660015"/>
          </a:xfrm>
          <a:prstGeom prst="rect">
            <a:avLst/>
          </a:prstGeom>
        </p:spPr>
      </p:pic>
      <p:sp>
        <p:nvSpPr>
          <p:cNvPr id="10" name="文本框 1"/>
          <p:cNvSpPr/>
          <p:nvPr/>
        </p:nvSpPr>
        <p:spPr bwMode="auto">
          <a:xfrm>
            <a:off x="488315" y="734695"/>
            <a:ext cx="11381105" cy="119888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登录点击银行保理业务，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银行保理产品入口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点击“我要办理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进入激活账户协议阅读签署页面，查看阅读协议，每个协议徐阅读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秒以上；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确认并签署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”;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转产融平台界面，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进行产融建档认证</a:t>
            </a:r>
            <a:endParaRPr 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TextBox 44"/>
          <p:cNvSpPr txBox="1"/>
          <p:nvPr/>
        </p:nvSpPr>
        <p:spPr>
          <a:xfrm>
            <a:off x="190445" y="232962"/>
            <a:ext cx="256222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账户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激活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65" y="4090670"/>
            <a:ext cx="5231130" cy="263080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100" y="1652905"/>
            <a:ext cx="4113530" cy="25222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320" y="3841750"/>
            <a:ext cx="4329430" cy="2879725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 bwMode="auto">
          <a:xfrm>
            <a:off x="549275" y="782955"/>
            <a:ext cx="10988040" cy="829945"/>
          </a:xfrm>
          <a:prstGeom prst="rect">
            <a:avLst/>
          </a:prstGeom>
          <a:solidFill>
            <a:srgbClr val="F57A01">
              <a:alpha val="5000"/>
            </a:srgbClr>
          </a:solidFill>
        </p:spPr>
        <p:txBody>
          <a:bodyPr wrap="square" lIns="91440" rIns="91440" rtlCol="0">
            <a:no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342265" lvl="0" algn="l">
              <a:buClr>
                <a:srgbClr val="000000"/>
              </a:buClr>
              <a:buSzTx/>
              <a:buFont typeface="+mj-lt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【进入企业建档认证】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开始认证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】按钮或点击“企业认证”的待办，即可进入企业建档认证的流程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265" lvl="0" algn="l">
              <a:buClr>
                <a:srgbClr val="000000"/>
              </a:buClr>
              <a:buSzTx/>
              <a:buFont typeface="+mj-lt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pc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端认证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右箭头 12"/>
          <p:cNvSpPr/>
          <p:nvPr/>
        </p:nvSpPr>
        <p:spPr bwMode="auto">
          <a:xfrm>
            <a:off x="5911728" y="3448581"/>
            <a:ext cx="349251" cy="27178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805" y="2045970"/>
            <a:ext cx="5424805" cy="3608070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100" y="2001520"/>
            <a:ext cx="5385435" cy="3652520"/>
          </a:xfrm>
          <a:prstGeom prst="rect">
            <a:avLst/>
          </a:prstGeom>
        </p:spPr>
      </p:pic>
      <p:sp>
        <p:nvSpPr>
          <p:cNvPr id="11" name="TextBox 44"/>
          <p:cNvSpPr txBox="1"/>
          <p:nvPr/>
        </p:nvSpPr>
        <p:spPr>
          <a:xfrm>
            <a:off x="205050" y="177082"/>
            <a:ext cx="324040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产融建档认证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19268"/>
          <a:stretch>
            <a:fillRect/>
          </a:stretch>
        </p:blipFill>
        <p:spPr>
          <a:xfrm>
            <a:off x="481965" y="2187575"/>
            <a:ext cx="10998200" cy="407606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120380" y="4445000"/>
            <a:ext cx="452120" cy="17589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TextBox 44"/>
          <p:cNvSpPr txBox="1"/>
          <p:nvPr/>
        </p:nvSpPr>
        <p:spPr>
          <a:xfrm>
            <a:off x="205050" y="177082"/>
            <a:ext cx="324040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产融建档认证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1965" y="678815"/>
            <a:ext cx="10998835" cy="1337945"/>
          </a:xfrm>
          <a:prstGeom prst="rect">
            <a:avLst/>
          </a:prstGeom>
          <a:solidFill>
            <a:srgbClr val="F57A01">
              <a:alpha val="5000"/>
            </a:srgbClr>
          </a:solidFill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电脑端登录：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输入手机号和密码进行登录</a:t>
            </a:r>
            <a:endParaRPr lang="en-US" altLang="zh-CN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进入电脑端企业认证环节：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根据对应的企业角色点击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立即认证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进行建档操作</a:t>
            </a:r>
            <a:endParaRPr lang="zh-CN" altLang="en-US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选择企业角色类型：</a:t>
            </a:r>
            <a:b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企业为</a:t>
            </a: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分公司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请选择</a:t>
            </a: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分公司认证入口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分支机构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；其他企业请选择</a:t>
            </a: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总公司认证入口</a:t>
            </a: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徽标&#10;&#10;中度可信度描述已自动生成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10994842" y="182848"/>
            <a:ext cx="993091" cy="438582"/>
          </a:xfrm>
          <a:prstGeom prst="rect">
            <a:avLst/>
          </a:prstGeom>
        </p:spPr>
      </p:pic>
      <p:cxnSp>
        <p:nvCxnSpPr>
          <p:cNvPr id="6" name="直线连接符 5"/>
          <p:cNvCxnSpPr/>
          <p:nvPr/>
        </p:nvCxnSpPr>
        <p:spPr>
          <a:xfrm>
            <a:off x="10861894" y="239579"/>
            <a:ext cx="0" cy="32512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12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r="1743"/>
          <a:stretch>
            <a:fillRect/>
          </a:stretch>
        </p:blipFill>
        <p:spPr>
          <a:xfrm>
            <a:off x="482600" y="2560320"/>
            <a:ext cx="5941060" cy="3685540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365" y="2560320"/>
            <a:ext cx="4760595" cy="3693160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sp>
        <p:nvSpPr>
          <p:cNvPr id="8" name="右箭头 12"/>
          <p:cNvSpPr/>
          <p:nvPr/>
        </p:nvSpPr>
        <p:spPr bwMode="auto">
          <a:xfrm>
            <a:off x="6475730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TextBox 44"/>
          <p:cNvSpPr txBox="1"/>
          <p:nvPr/>
        </p:nvSpPr>
        <p:spPr>
          <a:xfrm>
            <a:off x="205050" y="177082"/>
            <a:ext cx="324040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产融建档认证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2600" y="690245"/>
            <a:ext cx="11008360" cy="1291590"/>
          </a:xfrm>
          <a:prstGeom prst="rect">
            <a:avLst/>
          </a:prstGeom>
          <a:solidFill>
            <a:srgbClr val="F57A01">
              <a:alpha val="5000"/>
            </a:srgbClr>
          </a:solidFill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0000"/>
              </a:buClr>
              <a:buFont typeface="+mj-lt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企业收款账户信息（注册环节对开户行无要求）：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</a:t>
            </a:r>
            <a:r>
              <a:rPr 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在上方点击搜索开户行，输入开户行的</a:t>
            </a:r>
            <a:r>
              <a:rPr lang="zh-CN" sz="140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关键词</a:t>
            </a:r>
            <a:r>
              <a:rPr lang="en-US" altLang="zh-CN" sz="140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sz="140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联行号</a:t>
            </a:r>
            <a:r>
              <a:rPr 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，点击选择列表中的开户行，相关开户行信息将自动显示</a:t>
            </a:r>
            <a:b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）若</a:t>
            </a:r>
            <a:r>
              <a:rPr lang="zh-CN" altLang="en-US" sz="120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未搜索到正确开户行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，请及时联系平台核查，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请勿自行填写开户行信息！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企业收款账号信息将直接决定企业能否正常收到账款，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请务必核实无误后再点击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下一步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！</a:t>
            </a: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7410" y="2221865"/>
            <a:ext cx="6394450" cy="4197985"/>
          </a:xfrm>
          <a:prstGeom prst="rect">
            <a:avLst/>
          </a:prstGeom>
          <a:ln>
            <a:solidFill>
              <a:srgbClr val="2864FF"/>
            </a:solidFill>
          </a:ln>
        </p:spPr>
      </p:pic>
      <p:sp>
        <p:nvSpPr>
          <p:cNvPr id="11" name="TextBox 44"/>
          <p:cNvSpPr txBox="1"/>
          <p:nvPr/>
        </p:nvSpPr>
        <p:spPr>
          <a:xfrm>
            <a:off x="205050" y="177082"/>
            <a:ext cx="324040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产融建档认证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2600" y="690245"/>
            <a:ext cx="11016615" cy="1337945"/>
          </a:xfrm>
          <a:prstGeom prst="rect">
            <a:avLst/>
          </a:prstGeom>
          <a:solidFill>
            <a:srgbClr val="F57A01">
              <a:alpha val="5000"/>
            </a:srgbClr>
          </a:solidFill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</a:t>
            </a:r>
            <a:r>
              <a:rPr lang="zh-CN" altLang="en-US" sz="1400" b="1" dirty="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被授权人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身份证影像件：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如与有影像件需要调整可以手动修改</a:t>
            </a:r>
            <a:b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被授权人即贵司授权办理讯易链平台业务的经办人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确认被授权人信息：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请确认被授权人信息是否正确，如有误可进行手动调整（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手机号不支持此环节进行修改，如需修改请联系运营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确认被授权人邮箱：确认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被授权人的邮箱地址，</a:t>
            </a:r>
            <a:r>
              <a:rPr lang="zh-CN" altLang="en-US" sz="1400" dirty="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用以接收平台通知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，确认所有信息完整且无误后，点击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下一步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2743200"/>
            <a:ext cx="3769995" cy="2858135"/>
          </a:xfrm>
          <a:prstGeom prst="rect">
            <a:avLst/>
          </a:prstGeom>
          <a:ln>
            <a:solidFill>
              <a:srgbClr val="2864FF">
                <a:alpha val="99000"/>
              </a:srgbClr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b="5878"/>
          <a:stretch>
            <a:fillRect/>
          </a:stretch>
        </p:blipFill>
        <p:spPr>
          <a:xfrm>
            <a:off x="4870450" y="2442210"/>
            <a:ext cx="2055495" cy="3914775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b="5676"/>
          <a:stretch>
            <a:fillRect/>
          </a:stretch>
        </p:blipFill>
        <p:spPr>
          <a:xfrm>
            <a:off x="7200900" y="2442210"/>
            <a:ext cx="2036445" cy="3914775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r="3489" b="5416"/>
          <a:stretch>
            <a:fillRect/>
          </a:stretch>
        </p:blipFill>
        <p:spPr>
          <a:xfrm>
            <a:off x="9512300" y="2442210"/>
            <a:ext cx="1967230" cy="3914775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15" name="图片 19"/>
          <p:cNvPicPr>
            <a:picLocks noChangeAspect="1"/>
          </p:cNvPicPr>
          <p:nvPr/>
        </p:nvPicPr>
        <p:blipFill>
          <a:blip r:embed="rId5"/>
          <a:srcRect t="17975" b="47839"/>
          <a:stretch>
            <a:fillRect/>
          </a:stretch>
        </p:blipFill>
        <p:spPr bwMode="auto">
          <a:xfrm>
            <a:off x="7200900" y="3067050"/>
            <a:ext cx="2000250" cy="1480185"/>
          </a:xfrm>
          <a:prstGeom prst="rect">
            <a:avLst/>
          </a:prstGeom>
        </p:spPr>
      </p:pic>
      <p:sp>
        <p:nvSpPr>
          <p:cNvPr id="10" name="右箭头 12"/>
          <p:cNvSpPr/>
          <p:nvPr/>
        </p:nvSpPr>
        <p:spPr bwMode="auto">
          <a:xfrm>
            <a:off x="6962140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右箭头 12"/>
          <p:cNvSpPr/>
          <p:nvPr/>
        </p:nvSpPr>
        <p:spPr bwMode="auto">
          <a:xfrm>
            <a:off x="9273540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右箭头 12"/>
          <p:cNvSpPr/>
          <p:nvPr/>
        </p:nvSpPr>
        <p:spPr bwMode="auto">
          <a:xfrm>
            <a:off x="4393565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TextBox 44"/>
          <p:cNvSpPr txBox="1"/>
          <p:nvPr/>
        </p:nvSpPr>
        <p:spPr>
          <a:xfrm>
            <a:off x="205050" y="177082"/>
            <a:ext cx="324040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产融建档认证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2600" y="690245"/>
            <a:ext cx="10996930" cy="1522095"/>
          </a:xfrm>
          <a:prstGeom prst="rect">
            <a:avLst/>
          </a:prstGeom>
          <a:solidFill>
            <a:srgbClr val="F57A01">
              <a:alpha val="5000"/>
            </a:srgbClr>
          </a:solidFill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Clr>
                <a:srgbClr val="000000"/>
              </a:buClr>
              <a:buFont typeface="+mj-lt"/>
              <a:buNone/>
            </a:pPr>
            <a:r>
              <a:rPr lang="zh-CN" altLang="en-US" sz="1400" b="1" dirty="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被授权人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进行人脸识别认证：</a:t>
            </a:r>
            <a:b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）进入人脸识别认证：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开始人脸识别认证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，点击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允许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前往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蜜蜂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签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小程序进行人脸识别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）人脸识别处理：点击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开始识别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，点击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开始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，录制完成后等待系统处理结果，如识别成功，请点击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返回蜜蜂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证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b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请全程保持全脸正对识别框，</a:t>
            </a:r>
            <a:r>
              <a:rPr lang="zh-CN" sz="120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不要戴眼镜、帽子等遮挡物</a:t>
            </a:r>
            <a:br>
              <a:rPr 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人脸识别仅有</a:t>
            </a:r>
            <a:r>
              <a:rPr lang="en-US" altLang="zh-CN" sz="1200" b="1" dirty="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b="1" dirty="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r>
              <a:rPr lang="zh-CN" altLang="en-US" sz="1200" b="1" dirty="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，如全部识别失败，请联系平台处理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2725420"/>
            <a:ext cx="3455035" cy="2643505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965" y="2701290"/>
            <a:ext cx="6181725" cy="3484245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sp>
        <p:nvSpPr>
          <p:cNvPr id="12" name="右箭头 12"/>
          <p:cNvSpPr/>
          <p:nvPr/>
        </p:nvSpPr>
        <p:spPr bwMode="auto">
          <a:xfrm>
            <a:off x="4521835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TextBox 44"/>
          <p:cNvSpPr txBox="1"/>
          <p:nvPr/>
        </p:nvSpPr>
        <p:spPr>
          <a:xfrm>
            <a:off x="205050" y="177082"/>
            <a:ext cx="324040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产融建档认证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2600" y="805815"/>
            <a:ext cx="11007090" cy="1291590"/>
          </a:xfrm>
          <a:prstGeom prst="rect">
            <a:avLst/>
          </a:prstGeom>
          <a:solidFill>
            <a:srgbClr val="F57A01">
              <a:alpha val="5000"/>
            </a:srgbClr>
          </a:solidFill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《企业授权确认书》可以选择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线上签署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b="1" dirty="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线下签署</a:t>
            </a:r>
            <a:b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若选择</a:t>
            </a:r>
            <a:r>
              <a:rPr lang="zh-CN" altLang="en-US" sz="1400" b="1" dirty="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线上签署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《企业授权确认书》，</a:t>
            </a:r>
            <a:r>
              <a:rPr lang="zh-CN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可同步开通电子签章，</a:t>
            </a:r>
            <a:r>
              <a:rPr lang="zh-CN" sz="1400" b="1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用于后续线上签署融资协议</a:t>
            </a:r>
            <a:r>
              <a:rPr lang="zh-CN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b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）选择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线上签署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进入签署授权书环节，授权书签署方式选择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线上签署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b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）阅读并签署协议：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分别阅读两份协议并点击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我已阅读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，勾选下方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我已阅读并同意以上协议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，点击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提交认证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417"/>
          <a:stretch>
            <a:fillRect/>
          </a:stretch>
        </p:blipFill>
        <p:spPr>
          <a:xfrm>
            <a:off x="482600" y="2708910"/>
            <a:ext cx="2708275" cy="2540000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820" y="3122930"/>
            <a:ext cx="3842385" cy="1875790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150" y="2708910"/>
            <a:ext cx="3822700" cy="3444875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sp>
        <p:nvSpPr>
          <p:cNvPr id="12" name="右箭头 12"/>
          <p:cNvSpPr/>
          <p:nvPr/>
        </p:nvSpPr>
        <p:spPr bwMode="auto">
          <a:xfrm>
            <a:off x="3251200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" name="右箭头 12"/>
          <p:cNvSpPr/>
          <p:nvPr/>
        </p:nvSpPr>
        <p:spPr bwMode="auto">
          <a:xfrm>
            <a:off x="7415530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TextBox 44"/>
          <p:cNvSpPr txBox="1"/>
          <p:nvPr/>
        </p:nvSpPr>
        <p:spPr>
          <a:xfrm>
            <a:off x="205050" y="177082"/>
            <a:ext cx="324040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产融建档认证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2600" y="690245"/>
            <a:ext cx="11017250" cy="1522095"/>
          </a:xfrm>
          <a:prstGeom prst="rect">
            <a:avLst/>
          </a:prstGeom>
          <a:solidFill>
            <a:srgbClr val="F57A01">
              <a:alpha val="5000"/>
            </a:srgbClr>
          </a:solidFill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若选择线上签署《企业授权确认书》，</a:t>
            </a:r>
            <a:r>
              <a:rPr lang="zh-CN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可同步开通电子签章，</a:t>
            </a:r>
            <a:r>
              <a:rPr lang="zh-CN" sz="1400" b="1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用于后续线上签署融资协议</a:t>
            </a:r>
            <a:r>
              <a:rPr lang="zh-CN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b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选择认证方式（选择其一即可）：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开始认证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”，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完成认证后请耐心等待平台审核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注：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如提供的法定代表人手机号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</a:t>
            </a:r>
            <a:r>
              <a:rPr lang="zh-CN" altLang="en-US" sz="120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法定代表人本人身份证注册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，则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仅</a:t>
            </a:r>
            <a:r>
              <a:rPr lang="zh-CN" altLang="en-US" sz="1200" b="1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②法定代表人人脸识别认证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方式（详见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下一页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①法定代表人短信认证：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获取验证码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，平台将发送</a:t>
            </a:r>
            <a:r>
              <a:rPr lang="zh-CN" sz="120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短信验证码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至法定代表人手机号，输入验证码点击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确定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即可完成协议签署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294967295"/>
          </p:nvPr>
        </p:nvSpPr>
        <p:spPr>
          <a:xfrm>
            <a:off x="9449435" y="6431280"/>
            <a:ext cx="2742565" cy="364490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6540" y="3074035"/>
            <a:ext cx="2520000" cy="2389625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6638"/>
          <a:stretch>
            <a:fillRect/>
          </a:stretch>
        </p:blipFill>
        <p:spPr>
          <a:xfrm>
            <a:off x="4589145" y="3074035"/>
            <a:ext cx="3240000" cy="2491978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sp>
        <p:nvSpPr>
          <p:cNvPr id="30" name="右箭头 12"/>
          <p:cNvSpPr/>
          <p:nvPr/>
        </p:nvSpPr>
        <p:spPr bwMode="auto">
          <a:xfrm>
            <a:off x="4217035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5" name="右箭头 12"/>
          <p:cNvSpPr/>
          <p:nvPr/>
        </p:nvSpPr>
        <p:spPr bwMode="auto">
          <a:xfrm>
            <a:off x="8025765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0215" y="690245"/>
            <a:ext cx="10982960" cy="1844040"/>
          </a:xfrm>
          <a:prstGeom prst="rect">
            <a:avLst/>
          </a:prstGeom>
          <a:solidFill>
            <a:srgbClr val="F57A01">
              <a:alpha val="5000"/>
            </a:srgbClr>
          </a:solidFill>
        </p:spPr>
        <p:txBody>
          <a:bodyPr wrap="square" rtlCol="0">
            <a:noAutofit/>
          </a:bodyPr>
          <a:p>
            <a:pPr marL="342265" indent="0" fontAlgn="auto">
              <a:lnSpc>
                <a:spcPct val="150000"/>
              </a:lnSpc>
              <a:buClr>
                <a:srgbClr val="000000"/>
              </a:buClr>
              <a:buFont typeface="+mj-lt"/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选择认证方式（选择其一即可）：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开始认证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”，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完成认证后请耐心等待平台审核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注：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如提供的法定代表人手机号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</a:t>
            </a:r>
            <a:r>
              <a:rPr lang="zh-CN" altLang="en-US" sz="120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法定代表人本人身份证注册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，则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仅</a:t>
            </a:r>
            <a:r>
              <a:rPr lang="zh-CN" altLang="en-US" sz="1200" b="1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②法定代表人人脸识别认证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方式（详见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本页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②法定代表人人脸认证：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a.</a:t>
            </a:r>
            <a:r>
              <a:rPr lang="zh-CN" sz="1200">
                <a:solidFill>
                  <a:srgbClr val="04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被授权人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保存二维码图片，发送至法定代表人使用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b.</a:t>
            </a: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法定代表人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手机微信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扫描二维码，前往小程序进行法定代表人授权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法定代表人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可点击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查看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阅读授权书内容，如确认同意文件内容，点击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确认授权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即可前往人脸识别认证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205" y="2821305"/>
            <a:ext cx="1744980" cy="3553460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sp>
        <p:nvSpPr>
          <p:cNvPr id="11" name="TextBox 44"/>
          <p:cNvSpPr txBox="1"/>
          <p:nvPr/>
        </p:nvSpPr>
        <p:spPr>
          <a:xfrm>
            <a:off x="205050" y="177082"/>
            <a:ext cx="324040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产融建档认证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15" y="690245"/>
            <a:ext cx="11230610" cy="1520190"/>
          </a:xfrm>
          <a:prstGeom prst="rect">
            <a:avLst/>
          </a:prstGeom>
          <a:solidFill>
            <a:srgbClr val="F57A01">
              <a:alpha val="5000"/>
            </a:srgbClr>
          </a:solidFill>
        </p:spPr>
        <p:txBody>
          <a:bodyPr wrap="square" rtlCol="0">
            <a:noAutofit/>
          </a:bodyPr>
          <a:p>
            <a:pPr marL="342265" indent="0" fontAlgn="auto">
              <a:lnSpc>
                <a:spcPct val="150000"/>
              </a:lnSpc>
              <a:buClr>
                <a:srgbClr val="000000"/>
              </a:buClr>
              <a:buFont typeface="+mj-lt"/>
              <a:buNone/>
            </a:pPr>
            <a:r>
              <a:rPr 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②法定代表人人脸认证：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法定代表人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前往认证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，点击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允许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，前往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蜜蜂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签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小程序，点击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开始识别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，点击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开始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，录制完成后等待系统处理结果</a:t>
            </a:r>
            <a:b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e.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若识别成功，即完成协议签署，并成功提交企业认证申请至平台审核</a:t>
            </a:r>
            <a:b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请全程保持全脸正对识别框，</a:t>
            </a:r>
            <a:r>
              <a:rPr lang="zh-CN" sz="120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不要戴眼镜、帽子等遮挡物</a:t>
            </a:r>
            <a:b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人脸识别仅有</a:t>
            </a:r>
            <a:r>
              <a:rPr lang="en-US" altLang="zh-CN" sz="1200" b="1" dirty="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 b="1" dirty="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r>
              <a:rPr lang="zh-CN" altLang="en-US" sz="1200" b="1" dirty="0">
                <a:solidFill>
                  <a:srgbClr val="286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，如全部识别失败，请联系平台处理</a:t>
            </a:r>
            <a:b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1750" y="2454910"/>
            <a:ext cx="1925320" cy="3985260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770" y="2454910"/>
            <a:ext cx="1964055" cy="3953510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7" name="图片 19"/>
          <p:cNvPicPr>
            <a:picLocks noChangeAspect="1"/>
          </p:cNvPicPr>
          <p:nvPr/>
        </p:nvPicPr>
        <p:blipFill>
          <a:blip r:embed="rId3"/>
          <a:srcRect t="17975" b="47839"/>
          <a:stretch>
            <a:fillRect/>
          </a:stretch>
        </p:blipFill>
        <p:spPr bwMode="auto">
          <a:xfrm>
            <a:off x="5124450" y="3085465"/>
            <a:ext cx="1852295" cy="1370330"/>
          </a:xfrm>
          <a:prstGeom prst="rect">
            <a:avLst/>
          </a:prstGeom>
        </p:spPr>
      </p:pic>
      <p:sp>
        <p:nvSpPr>
          <p:cNvPr id="10" name="右箭头 12"/>
          <p:cNvSpPr/>
          <p:nvPr/>
        </p:nvSpPr>
        <p:spPr bwMode="auto">
          <a:xfrm>
            <a:off x="2480945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右箭头 12"/>
          <p:cNvSpPr/>
          <p:nvPr/>
        </p:nvSpPr>
        <p:spPr bwMode="auto">
          <a:xfrm>
            <a:off x="4832985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5" name="右箭头 12"/>
          <p:cNvSpPr/>
          <p:nvPr>
            <p:custDataLst>
              <p:tags r:id="rId4"/>
            </p:custDataLst>
          </p:nvPr>
        </p:nvSpPr>
        <p:spPr bwMode="auto">
          <a:xfrm>
            <a:off x="7113905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3" name="右箭头 12"/>
          <p:cNvSpPr/>
          <p:nvPr>
            <p:custDataLst>
              <p:tags r:id="rId5"/>
            </p:custDataLst>
          </p:nvPr>
        </p:nvSpPr>
        <p:spPr bwMode="auto">
          <a:xfrm>
            <a:off x="9438005" y="4031615"/>
            <a:ext cx="201930" cy="2254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" y="2467610"/>
            <a:ext cx="1947545" cy="3984625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4470" y="2468245"/>
            <a:ext cx="2014855" cy="3983990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2670" y="2448560"/>
            <a:ext cx="1968500" cy="4003675"/>
          </a:xfrm>
          <a:prstGeom prst="rect">
            <a:avLst/>
          </a:prstGeom>
          <a:ln w="12700">
            <a:solidFill>
              <a:srgbClr val="2864FF"/>
            </a:solidFill>
          </a:ln>
        </p:spPr>
      </p:pic>
      <p:sp>
        <p:nvSpPr>
          <p:cNvPr id="11" name="TextBox 44"/>
          <p:cNvSpPr txBox="1"/>
          <p:nvPr/>
        </p:nvSpPr>
        <p:spPr>
          <a:xfrm>
            <a:off x="205050" y="177082"/>
            <a:ext cx="324040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产融建档认证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Box 44"/>
          <p:cNvSpPr txBox="1"/>
          <p:nvPr/>
        </p:nvSpPr>
        <p:spPr>
          <a:xfrm>
            <a:off x="190445" y="232962"/>
            <a:ext cx="256222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1.3.3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开通产品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1043" r="29868"/>
          <a:stretch>
            <a:fillRect/>
          </a:stretch>
        </p:blipFill>
        <p:spPr>
          <a:xfrm>
            <a:off x="577850" y="1685290"/>
            <a:ext cx="6101715" cy="38881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24137" t="2329" r="-984" b="368"/>
          <a:stretch>
            <a:fillRect/>
          </a:stretch>
        </p:blipFill>
        <p:spPr>
          <a:xfrm>
            <a:off x="6100445" y="1805940"/>
            <a:ext cx="5838190" cy="31019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825" y="4662170"/>
            <a:ext cx="4225925" cy="20478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195" y="3865880"/>
            <a:ext cx="674370" cy="2641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3005" y="2289175"/>
            <a:ext cx="679450" cy="165100"/>
          </a:xfrm>
          <a:prstGeom prst="rect">
            <a:avLst/>
          </a:prstGeom>
        </p:spPr>
      </p:pic>
      <p:sp>
        <p:nvSpPr>
          <p:cNvPr id="4" name="文本框 1"/>
          <p:cNvSpPr txBox="1"/>
          <p:nvPr/>
        </p:nvSpPr>
        <p:spPr bwMode="auto">
          <a:xfrm>
            <a:off x="498446" y="901955"/>
            <a:ext cx="10692767" cy="737235"/>
          </a:xfrm>
          <a:prstGeom prst="rect">
            <a:avLst/>
          </a:prstGeom>
          <a:solidFill>
            <a:srgbClr val="F57A01">
              <a:alpha val="5000"/>
            </a:srgbClr>
          </a:solidFill>
        </p:spPr>
        <p:txBody>
          <a:bodyPr wrap="square" lIns="91440" rIns="91440" rtlCol="0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342900" lvl="0" indent="-342900" algn="l">
              <a:buClr>
                <a:srgbClr val="000000"/>
              </a:buClr>
              <a:buSzTx/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进入产融首页，点击进入我的产品“</a:t>
            </a:r>
            <a:r>
              <a:rPr lang="zh-CN" altLang="en-US" sz="14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电子债权凭证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“， 点击进去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点立即开通；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0" indent="-342900" algn="l">
              <a:buClr>
                <a:srgbClr val="000000"/>
              </a:buClr>
              <a:buSzTx/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再次点击我的产品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线上保理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签署协议，一直到进入产品界面看到操作菜单既可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232005" cy="68567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E6E6E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53890" y="3404263"/>
            <a:ext cx="2722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000" b="1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+mn-ea"/>
              </a:rPr>
              <a:t>上传资料</a:t>
            </a:r>
            <a:endParaRPr lang="zh-CN" altLang="en-US" sz="5000" b="1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02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56928"/>
            <a:ext cx="2504128" cy="51069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18005"/>
            <a:ext cx="11316335" cy="4135120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一、登录平台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9425" y="689610"/>
            <a:ext cx="11540490" cy="98171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eaLnBrk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用户登录：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收到上传资料的短信通知后，请登录电脑端：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https://llt.hbsltzb.com/，选择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主体信用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”-“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银行保理业务产品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”-“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我要办理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sz="1400" u="sng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</a:t>
            </a:r>
            <a:r>
              <a:rPr 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建议使用</a:t>
            </a: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谷歌浏览器</a:t>
            </a:r>
            <a:r>
              <a:rPr 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或</a:t>
            </a: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搜狗浏览器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eaLnBrk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选择产品：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电子债券凭证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707515" y="4250055"/>
            <a:ext cx="1581150" cy="40767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61095" y="2132965"/>
            <a:ext cx="3176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如有多家企业，点击此处切换企业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73555" y="5132070"/>
            <a:ext cx="2369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选择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点电子债权凭证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产品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10861894" y="239579"/>
            <a:ext cx="0" cy="32512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二、上传资产资料</a:t>
            </a:r>
            <a:r>
              <a:rPr lang="en-US" altLang="zh-CN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进入上传资料</a:t>
            </a: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页面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1965" y="690245"/>
            <a:ext cx="10996930" cy="69786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eaLnBrk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进入上传资料页面（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种方式）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）方式一：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首页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】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【待办】，选择需上传贸易背景资料的资产，点击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处理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8135" b="30616"/>
          <a:stretch>
            <a:fillRect/>
          </a:stretch>
        </p:blipFill>
        <p:spPr>
          <a:xfrm>
            <a:off x="482600" y="1413510"/>
            <a:ext cx="10996295" cy="2160905"/>
          </a:xfrm>
          <a:prstGeom prst="rect">
            <a:avLst/>
          </a:prstGeom>
          <a:ln w="28575" cmpd="sng">
            <a:noFill/>
            <a:prstDash val="solid"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7632" b="50924"/>
          <a:stretch>
            <a:fillRect/>
          </a:stretch>
        </p:blipFill>
        <p:spPr>
          <a:xfrm>
            <a:off x="482600" y="4796790"/>
            <a:ext cx="10998200" cy="1586230"/>
          </a:xfrm>
          <a:prstGeom prst="rect">
            <a:avLst/>
          </a:prstGeom>
          <a:ln w="28575" cmpd="sng">
            <a:noFill/>
            <a:prstDash val="solid"/>
          </a:ln>
        </p:spPr>
      </p:pic>
      <p:sp>
        <p:nvSpPr>
          <p:cNvPr id="12" name="矩形 11"/>
          <p:cNvSpPr/>
          <p:nvPr/>
        </p:nvSpPr>
        <p:spPr>
          <a:xfrm>
            <a:off x="482600" y="1485265"/>
            <a:ext cx="1128395" cy="2178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2600" y="5373370"/>
            <a:ext cx="1128395" cy="2178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724515" y="5702935"/>
            <a:ext cx="615950" cy="1828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733405" y="3141980"/>
            <a:ext cx="386080" cy="1708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81965" y="4364355"/>
            <a:ext cx="10998835" cy="38608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）方式二：【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资产管理】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【上传资产资料】，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选择需上传贸易背景资料的资产，点击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上传资料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7985" b="7552"/>
          <a:stretch>
            <a:fillRect/>
          </a:stretch>
        </p:blipFill>
        <p:spPr>
          <a:xfrm>
            <a:off x="482600" y="3429635"/>
            <a:ext cx="10998200" cy="3096260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683196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二、上传资产资料</a:t>
            </a:r>
            <a:r>
              <a:rPr lang="en-US" altLang="zh-CN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核对资产信息及上传合同</a:t>
            </a: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影像件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90245"/>
            <a:ext cx="11028045" cy="266509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核对资产信息：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确认资产信息、贸易合同、发票信息均无误。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上传贸易合同影像件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【温馨提示】上传合同时请留意以下几点，助您快速通过审核：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）清晰完整：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请上传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清晰、页面扫描完整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的合同扫描件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（尽量上传完整版合同扫描件）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）主体一致：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合同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甲方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和发票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购买方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一致，合同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供应商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和发票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销售方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一致。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）金额足够：</a:t>
            </a:r>
            <a:r>
              <a:rPr lang="en-US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如合同包含总金额，该金额应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不低于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本次的资产金额。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）字段准确：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带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*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的字段（如合同名称、合同编号、合同金额、签署日期等），需按照合同影像件内容准确填写。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）关键页齐全：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若合同页数较多，请确保上传以下关键页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（关键页条款需完整，如涉及多页，均需上传）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，包括封面页、首页、工程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贸易内容页、工期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供货期限页、合同金额页、支付比例条款页、生效条款页、落款签章页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（签章需清晰可见且完整）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、补充协议（如有）。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704340" y="3789680"/>
            <a:ext cx="9680575" cy="64897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056495" y="3728085"/>
            <a:ext cx="1168400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核对资产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信息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056495" y="4367530"/>
            <a:ext cx="317690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核对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合同信息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240780" y="6238240"/>
            <a:ext cx="623570" cy="1460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04340" y="4438015"/>
            <a:ext cx="9680575" cy="90297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88480" y="6094095"/>
            <a:ext cx="389064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支持点击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本地上传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进行上传或拖拽形式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上传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8343" b="7886"/>
          <a:stretch>
            <a:fillRect/>
          </a:stretch>
        </p:blipFill>
        <p:spPr>
          <a:xfrm>
            <a:off x="482600" y="3501390"/>
            <a:ext cx="10998200" cy="3143250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683196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二、上传资产资料</a:t>
            </a:r>
            <a:r>
              <a:rPr lang="en-US" altLang="zh-CN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上传发票影像件及提交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90245"/>
            <a:ext cx="11024235" cy="264858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4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上传发票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影像件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【温馨提示】上传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发票时请留意以下几点，助您快速通过审核：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）清晰完整：</a:t>
            </a:r>
            <a:r>
              <a:rPr lang="en-US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请上传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清晰、页面完整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的发票图片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扫描件，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每张图片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或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每页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PDF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（支持多页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PDF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文件）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只放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一张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发票。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）主体一致：</a:t>
            </a:r>
            <a:r>
              <a:rPr lang="en-US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发票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购买方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和合同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甲方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一致，发票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销售方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和合同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供应商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一致。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）内容相符：</a:t>
            </a:r>
            <a:r>
              <a:rPr lang="en-US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发票的商品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服务名称及备注，要和合同内容对得上。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）金额足够：</a:t>
            </a:r>
            <a:r>
              <a:rPr lang="en-US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所有发票总金额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不能少于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本次的资产金额。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）按图索票：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如页面发票列表有默认展示的发票信息，</a:t>
            </a:r>
            <a:r>
              <a:rPr lang="en-US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请您对照页面的发票信息，逐张上传对应的发票。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）日期合理：</a:t>
            </a:r>
            <a:r>
              <a:rPr lang="en-US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发票开票日期应在合同签订日期之后（通常情况）。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）红票必传：</a:t>
            </a:r>
            <a:r>
              <a:rPr lang="en-US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请勿上传已作废或全额冲红的发票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；若有部分冲红，必须同时上传对应的红字发票原件。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701165" y="3861435"/>
            <a:ext cx="9615170" cy="6756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83840" y="4186555"/>
            <a:ext cx="7630160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如页面发票列表有默认展示的发票信息，</a:t>
            </a:r>
            <a:r>
              <a:rPr lang="en-US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请您对照页面的发票信息，逐张上传对应的发票。</a:t>
            </a: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 flipV="1">
            <a:off x="6278245" y="6466205"/>
            <a:ext cx="459105" cy="14097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88480" y="6324600"/>
            <a:ext cx="232092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资料上传后，点击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提交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按钮</a:t>
            </a: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278245" y="5582920"/>
            <a:ext cx="511175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925945" y="5445760"/>
            <a:ext cx="389064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支持点击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本地上传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进行上传或拖拽形式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上传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232005" cy="68567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E6E6E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95165" y="3394103"/>
            <a:ext cx="2722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5000" b="1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+mn-ea"/>
              </a:rPr>
              <a:t>银行</a:t>
            </a:r>
            <a:r>
              <a:rPr lang="zh-CN" altLang="en-US" sz="5000" b="1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+mn-ea"/>
              </a:rPr>
              <a:t>准入</a:t>
            </a:r>
            <a:endParaRPr kumimoji="0" lang="zh-CN" altLang="en-US" sz="5000" b="1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65J" panose="0002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03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56928"/>
            <a:ext cx="2504128" cy="51069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一、新增银行准入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9425" y="689610"/>
            <a:ext cx="11002010" cy="45275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eaLnBrk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进入银行准入详情页：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前往【银行准入维护】，点击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新增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，可进入银行准入详情页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2240" b="32749"/>
          <a:stretch>
            <a:fillRect/>
          </a:stretch>
        </p:blipFill>
        <p:spPr>
          <a:xfrm>
            <a:off x="483870" y="1267460"/>
            <a:ext cx="10998200" cy="101346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83870" y="3068955"/>
            <a:ext cx="10998200" cy="71501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选择银行：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下拉选择银行名称（所选择的银行为融资资金方，而非收款账户所在行）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银行选择完成后，可能需要选择核心企业，具体要求详见下一页</a:t>
            </a: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" y="3933190"/>
            <a:ext cx="10998000" cy="1065986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11032490" y="1265555"/>
            <a:ext cx="327025" cy="1517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468610" y="1429385"/>
            <a:ext cx="1013460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新增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495550" y="4262120"/>
            <a:ext cx="2075180" cy="1517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84065" y="4091305"/>
            <a:ext cx="2952750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输入关键字，下拉选择银行名称</a:t>
            </a:r>
            <a:endParaRPr 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一、新增银行准入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385445" y="716280"/>
            <a:ext cx="10998835" cy="178752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选择核心企业（如需）：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下拉选择核心企业名称</a:t>
            </a:r>
            <a:b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）需选择核心企业时：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在该银行下，需按凭证上的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每家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核心企业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逐条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提交银行准入</a:t>
            </a:r>
            <a:b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例如供应商持有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张凭证，凭证核心企业分别为核心企业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、核心企业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，融资资金方均为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，则融资前需提交核心企业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核心企业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的银行准入，共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</a:t>
            </a:r>
            <a:b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（需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先提交</a:t>
            </a:r>
            <a:r>
              <a:rPr lang="en-US" alt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家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核心企业的银行准入，待审核通过后，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再提交第</a:t>
            </a:r>
            <a:r>
              <a:rPr lang="en-US" alt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家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核心企业的银行准入）</a:t>
            </a:r>
            <a:b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）无需选择核心企业时：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在该银行下，仅需提交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次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银行准入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上传影像信息：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按要求上传影像件，部分文件可点击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下载模板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后填写出具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5" y="2708910"/>
            <a:ext cx="10998000" cy="361633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608570" y="2853055"/>
            <a:ext cx="3507105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输入关键字，下拉选择核心企业名称（如需）</a:t>
            </a:r>
            <a:endParaRPr 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520690" y="2996565"/>
            <a:ext cx="2087880" cy="2025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09190" y="3564890"/>
            <a:ext cx="8293100" cy="242379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322945" y="4580890"/>
            <a:ext cx="342900" cy="13462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28435" y="4653280"/>
            <a:ext cx="2240915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部分文件支持点击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下载模板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51405" y="3242310"/>
            <a:ext cx="7553325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上传对应的影像信息，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支持点击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本地上传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进行上传或拖拽形式上传（仅支持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jpdf/jpg/png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格式）</a:t>
            </a:r>
            <a:endParaRPr 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一、新增银行准入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385445" y="712470"/>
            <a:ext cx="10998835" cy="42291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5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保存已维护完成的银行准入信息、影像件：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保存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14135"/>
          <a:stretch>
            <a:fillRect/>
          </a:stretch>
        </p:blipFill>
        <p:spPr>
          <a:xfrm>
            <a:off x="385445" y="1155065"/>
            <a:ext cx="10998200" cy="3105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t="25"/>
          <a:stretch>
            <a:fillRect/>
          </a:stretch>
        </p:blipFill>
        <p:spPr>
          <a:xfrm>
            <a:off x="385445" y="5086032"/>
            <a:ext cx="10998200" cy="124364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4175" y="4370070"/>
            <a:ext cx="10998835" cy="65024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6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提交银行准入：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提交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，等待准入审核完成。当前页面支持查询准入进度，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未提交、审批拒绝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的银行准入可点击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修改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进行更新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280785" y="4078605"/>
            <a:ext cx="362585" cy="1568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671945" y="3937635"/>
            <a:ext cx="1013460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保存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88295" y="5877560"/>
            <a:ext cx="194945" cy="1739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408160" y="5733415"/>
            <a:ext cx="1013460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41670" y="5840095"/>
            <a:ext cx="453390" cy="45593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40145" y="5733415"/>
            <a:ext cx="2298700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支持查询当前准入进度</a:t>
            </a:r>
            <a:endParaRPr 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293350" y="6122035"/>
            <a:ext cx="194945" cy="1739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631555" y="6006465"/>
            <a:ext cx="1788160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支持点击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修改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更新</a:t>
            </a:r>
            <a:endParaRPr 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232005" cy="68567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E6E6E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41875" y="3394103"/>
            <a:ext cx="2722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000" b="1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+mn-ea"/>
              </a:rPr>
              <a:t>凭证融资</a:t>
            </a:r>
            <a:endParaRPr lang="zh-CN" altLang="en-US" sz="5000" b="1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04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56928"/>
            <a:ext cx="2504128" cy="51069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6356985"/>
            <a:ext cx="10998000" cy="33848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t="9379"/>
          <a:stretch>
            <a:fillRect/>
          </a:stretch>
        </p:blipFill>
        <p:spPr>
          <a:xfrm>
            <a:off x="479425" y="3141980"/>
            <a:ext cx="10998200" cy="3270250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融资申请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8790" y="690245"/>
            <a:ext cx="11002010" cy="4330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发起融资申请：【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凭证交易】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【融资申请】，选择对应的资产，点击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融资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79425" y="2660650"/>
            <a:ext cx="11000740" cy="43688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确认并填写相关融资信息：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选择资金方，核对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融资申请信息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rcRect t="16926" b="13947"/>
          <a:stretch>
            <a:fillRect/>
          </a:stretch>
        </p:blipFill>
        <p:spPr>
          <a:xfrm>
            <a:off x="482600" y="1196975"/>
            <a:ext cx="10998200" cy="129667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0978515" y="1238250"/>
            <a:ext cx="361950" cy="1549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920730" y="1370965"/>
            <a:ext cx="126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融资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17040" y="2133600"/>
            <a:ext cx="128905" cy="1447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847850" y="2061845"/>
            <a:ext cx="1596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勾选需融资的资产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063750" y="3573780"/>
            <a:ext cx="2978785" cy="10388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042535" y="3961130"/>
            <a:ext cx="126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点击选择资金方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216275" y="4690745"/>
            <a:ext cx="227965" cy="1498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143885" y="4798060"/>
            <a:ext cx="2931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可修改申请融资金额，修改后请保存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384290" y="6381115"/>
            <a:ext cx="318770" cy="1619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703060" y="6237605"/>
            <a:ext cx="126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231900"/>
            <a:ext cx="10998000" cy="5100522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融资申请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83235" y="686435"/>
            <a:ext cx="10964545" cy="42354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选择收款账户：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确认收款账户信息无误后，点击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确认提交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962650" y="4724400"/>
            <a:ext cx="421640" cy="1416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384290" y="4543425"/>
            <a:ext cx="1794510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确认提交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60775" y="3429000"/>
            <a:ext cx="128905" cy="1447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91585" y="3284855"/>
            <a:ext cx="3432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勾选本笔融资申请的收款账户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8255"/>
            <a:ext cx="12232005" cy="68567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E6E6E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53890" y="3404263"/>
            <a:ext cx="3357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000" b="1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+mn-ea"/>
              </a:rPr>
              <a:t>转让与</a:t>
            </a:r>
            <a:r>
              <a:rPr lang="zh-CN" altLang="en-US" sz="5000" b="1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+mn-ea"/>
              </a:rPr>
              <a:t>签收</a:t>
            </a:r>
            <a:endParaRPr lang="zh-CN" altLang="en-US" sz="5000" b="1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05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56928"/>
            <a:ext cx="2504128" cy="51069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16408"/>
          <a:stretch>
            <a:fillRect/>
          </a:stretch>
        </p:blipFill>
        <p:spPr>
          <a:xfrm>
            <a:off x="450215" y="6355715"/>
            <a:ext cx="10998200" cy="2393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707130"/>
            <a:ext cx="10998000" cy="2639061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一、转让申请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3235" y="690245"/>
            <a:ext cx="10981055" cy="44450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发起转让申请：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在【凭证交易】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【转让申请】，选择一笔可转让的资产，点击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转让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t="16421" b="2079"/>
          <a:stretch>
            <a:fillRect/>
          </a:stretch>
        </p:blipFill>
        <p:spPr>
          <a:xfrm>
            <a:off x="472440" y="1197610"/>
            <a:ext cx="11008360" cy="16198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83235" y="3213100"/>
            <a:ext cx="10997565" cy="43053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确认并填写相关转让信息：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填写申请转让金额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申请转让金额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，选择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资产接收方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，核对转让申请信息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978515" y="1238250"/>
            <a:ext cx="361950" cy="1549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984740" y="1075690"/>
            <a:ext cx="126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转让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17040" y="2133600"/>
            <a:ext cx="128905" cy="1447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47850" y="2061845"/>
            <a:ext cx="1596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勾选需转让的资产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496185" y="5157470"/>
            <a:ext cx="2057400" cy="2000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584065" y="5157470"/>
            <a:ext cx="468630" cy="2000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496185" y="4784725"/>
            <a:ext cx="6316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转让部分资产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全部资产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496185" y="5361940"/>
            <a:ext cx="2057400" cy="2000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553585" y="5292725"/>
            <a:ext cx="6786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输入关键字后，选择下拉选项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554220" y="5661025"/>
            <a:ext cx="4056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填写转让用途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734435" y="3908425"/>
            <a:ext cx="7186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若未找到资产接收方，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可点击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去邀请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425825" y="3996690"/>
            <a:ext cx="307975" cy="2197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496820" y="5622290"/>
            <a:ext cx="2057400" cy="469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600190" y="6382385"/>
            <a:ext cx="352425" cy="1549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960235" y="6275705"/>
            <a:ext cx="126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、转让申请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15" y="690245"/>
            <a:ext cx="11030585" cy="69151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sp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签署转让协议：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阅读并勾选已阅读并同意相关转让协议，点击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b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需签署的协议以实际配置为准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50215" y="4095750"/>
            <a:ext cx="11030585" cy="41402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sp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4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提交转让申请：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发送验证码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，平台将发送短信验证码给经办人，输入验证码后，点击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568450"/>
            <a:ext cx="10998000" cy="135615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3138805"/>
            <a:ext cx="10998000" cy="26894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5" y="4601210"/>
            <a:ext cx="10998000" cy="1567873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0560685" y="2205990"/>
            <a:ext cx="340360" cy="2603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480550" y="2466340"/>
            <a:ext cx="1596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点击查阅待签署合同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528435" y="3169920"/>
            <a:ext cx="352425" cy="1549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888480" y="3063240"/>
            <a:ext cx="126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确定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17040" y="2493645"/>
            <a:ext cx="128905" cy="1447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17040" y="2638425"/>
            <a:ext cx="291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勾选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已阅读并同意相关转让协议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95390" y="5387340"/>
            <a:ext cx="584835" cy="1416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88480" y="5280660"/>
            <a:ext cx="3314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发送验证码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，查收短信后输入验证码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02655" y="5826125"/>
            <a:ext cx="300990" cy="2000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84290" y="5732780"/>
            <a:ext cx="126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确定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二、资产签收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15" y="690245"/>
            <a:ext cx="10997565" cy="69151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sp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若其他企业转让了资产给自己，可通过以下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种方式进行资产签收：</a:t>
            </a:r>
            <a:b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）方式一：从首页中进入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（【首页】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【快捷操作】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【待办】）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10909" b="16824"/>
          <a:stretch>
            <a:fillRect/>
          </a:stretch>
        </p:blipFill>
        <p:spPr>
          <a:xfrm>
            <a:off x="450215" y="1490345"/>
            <a:ext cx="10998200" cy="19392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2600" y="4005580"/>
            <a:ext cx="10998835" cy="36830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spAutoFit/>
          </a:bodyPr>
          <a:p>
            <a:pPr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）方式二：从左侧菜单栏中进入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（【凭证交易】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【资产签收】）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4438015"/>
            <a:ext cx="10998000" cy="180820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084310" y="1946275"/>
            <a:ext cx="579120" cy="5467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18575" y="2493645"/>
            <a:ext cx="126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签收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674350" y="3141980"/>
            <a:ext cx="321310" cy="26543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73030" y="3429635"/>
            <a:ext cx="126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处理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730865" y="5157470"/>
            <a:ext cx="321310" cy="26543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046335" y="5445125"/>
            <a:ext cx="1548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单笔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可点击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签收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885170" y="4380230"/>
            <a:ext cx="468630" cy="1517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784715" y="4639945"/>
            <a:ext cx="1964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多笔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可点击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批量签收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5229860"/>
            <a:ext cx="10998000" cy="1482041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、资产签收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15" y="690245"/>
            <a:ext cx="11030585" cy="41402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sp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确认签收资产信息：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确认无误后，点击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下一步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</a:rPr>
            </a:fld>
            <a:endParaRPr lang="zh-CN" altLang="en-US" dirty="0" smtClean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510" b="9509"/>
          <a:stretch>
            <a:fillRect/>
          </a:stretch>
        </p:blipFill>
        <p:spPr>
          <a:xfrm>
            <a:off x="482600" y="1052830"/>
            <a:ext cx="10998200" cy="20034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2600" y="3051810"/>
            <a:ext cx="10998835" cy="72453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签署转让协议：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阅读并勾选已阅读并同意相关转让协议，点击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确认签收：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发送验证码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，平台将发送短信验证码给经办人，输入验证码后，点击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确认签收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3717925"/>
            <a:ext cx="10998000" cy="13218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5013960"/>
            <a:ext cx="10998000" cy="25177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600190" y="2855595"/>
            <a:ext cx="352425" cy="1955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60235" y="2708910"/>
            <a:ext cx="3176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确认资产信息无误，点击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704830" y="4320540"/>
            <a:ext cx="340360" cy="2603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624695" y="4580890"/>
            <a:ext cx="1596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点击查阅待签署合同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530975" y="5041265"/>
            <a:ext cx="387350" cy="1676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875145" y="4934585"/>
            <a:ext cx="126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确定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22120" y="4634865"/>
            <a:ext cx="99060" cy="1238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03705" y="4725035"/>
            <a:ext cx="291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勾选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已阅读并同意相关转让协议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473825" y="5930900"/>
            <a:ext cx="552450" cy="177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32625" y="5824220"/>
            <a:ext cx="3314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发送验证码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，查收短信后输入验证码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166485" y="6369685"/>
            <a:ext cx="353060" cy="2216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530975" y="6276340"/>
            <a:ext cx="126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确定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232005" cy="68567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E6E6E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26635" y="3404263"/>
            <a:ext cx="2722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000" b="1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+mn-ea"/>
              </a:rPr>
              <a:t>交易管理</a:t>
            </a:r>
            <a:endParaRPr lang="zh-CN" altLang="en-US" sz="5000" b="1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06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56928"/>
            <a:ext cx="2504128" cy="51069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一、交易记录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89610"/>
            <a:ext cx="11009630" cy="81597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查询交易记录：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在【凭证交易】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【交易管理】中，支持查询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包括转让、融资、签收等所有的交易记录，且支持导出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excel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查询资产详情信息：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查看详情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，可以查看资产的详情信息、合同及回单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5412"/>
          <a:stretch>
            <a:fillRect/>
          </a:stretch>
        </p:blipFill>
        <p:spPr>
          <a:xfrm>
            <a:off x="482600" y="1917065"/>
            <a:ext cx="10998200" cy="377317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631950" y="2005965"/>
            <a:ext cx="1494790" cy="2755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608945" y="1993265"/>
            <a:ext cx="838835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776585" y="2925445"/>
            <a:ext cx="450850" cy="230632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43885" y="1953260"/>
            <a:ext cx="2910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点击后可查询各类交易明细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76540" y="2249805"/>
            <a:ext cx="372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勾选资产，可下载对应的交易文件、导出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excel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明细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04340" y="4104005"/>
            <a:ext cx="204470" cy="15938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00415" y="3895090"/>
            <a:ext cx="2390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支持查询单笔资产信息、影像件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1196975"/>
            <a:ext cx="10998000" cy="28827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r="2658"/>
          <a:stretch>
            <a:fillRect/>
          </a:stretch>
        </p:blipFill>
        <p:spPr>
          <a:xfrm>
            <a:off x="6167755" y="3620770"/>
            <a:ext cx="5313045" cy="2917190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二、资产详情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7050" y="690245"/>
            <a:ext cx="10953750" cy="38290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查询资产详情信息：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查看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，可以查询到已交易资产的相关信息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243705"/>
            <a:ext cx="5400000" cy="2113044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945005" y="1941195"/>
            <a:ext cx="838835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36850" y="2087245"/>
            <a:ext cx="4142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点击可查看交易回单、交易合同、交易的电子债权凭证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73475" y="1941195"/>
            <a:ext cx="838835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右箭头 12"/>
          <p:cNvSpPr/>
          <p:nvPr/>
        </p:nvSpPr>
        <p:spPr bwMode="auto">
          <a:xfrm rot="5400000">
            <a:off x="3228340" y="3563620"/>
            <a:ext cx="245110" cy="26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5" name="右箭头 12"/>
          <p:cNvSpPr/>
          <p:nvPr/>
        </p:nvSpPr>
        <p:spPr bwMode="auto">
          <a:xfrm rot="5400000">
            <a:off x="8825865" y="3560445"/>
            <a:ext cx="245110" cy="26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4FF"/>
          </a:solidFill>
          <a:ln w="12700">
            <a:miter lim="400000"/>
          </a:ln>
        </p:spPr>
        <p:txBody>
          <a:bodyPr lIns="45719" rIns="45719" anchor="ctr"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 i="0" u="none" strike="noStrike" cap="none" spc="0">
              <a:ln>
                <a:noFill/>
              </a:ln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232005" cy="68567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E6E6E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45585" y="3429028"/>
            <a:ext cx="4627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000" b="1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+mn-ea"/>
              </a:rPr>
              <a:t>账号与权限管理</a:t>
            </a:r>
            <a:endParaRPr lang="zh-CN" altLang="en-US" sz="5000" b="1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07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56928"/>
            <a:ext cx="2504128" cy="51069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 bwMode="auto">
          <a:xfrm>
            <a:off x="786130" y="747395"/>
            <a:ext cx="10851515" cy="141795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lIns="91440" rIns="91440" rtlCol="0">
            <a:no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对于各业务需新增经办人，企业被授权人可在登录平台首页，点击右上角的当前企业名称，在展示的下拉项中选择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新增经办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注：经办人不展示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新增经办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的按钮，经办人只能由企业被授权人新增。</a:t>
            </a: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charset="0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对于新增的平台经办人，若平台邀请码有效期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天内为登录平台，可点击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重发邀请码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重新邀请该经办人。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charset="0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可对经办人进行删除。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</a:pP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615" y="2327910"/>
            <a:ext cx="10938510" cy="26974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" y="3496310"/>
            <a:ext cx="10939145" cy="3225165"/>
          </a:xfrm>
          <a:prstGeom prst="rect">
            <a:avLst/>
          </a:prstGeom>
        </p:spPr>
      </p:pic>
      <p:sp>
        <p:nvSpPr>
          <p:cNvPr id="9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一、用户管理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（新增经办）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一、用户管理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89610"/>
            <a:ext cx="11446510" cy="101473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spAutoFit/>
          </a:bodyPr>
          <a:p>
            <a:pPr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通过此菜单功能，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平台管理员（即被授权人）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可新增多个经办人，并为不同经办人配置交易流程操作权限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（仅平台管理员有权操作）</a:t>
            </a: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新增用户：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在【账户管理】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【用户管理】菜单，点击新增，输入姓名、用户名、手机号、邮箱，点击保存，即可新增经办人用户</a:t>
            </a:r>
            <a:b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填写的邮箱用于接收该经办人首次登录平台的初始密码</a:t>
            </a: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t="8005"/>
          <a:stretch>
            <a:fillRect/>
          </a:stretch>
        </p:blipFill>
        <p:spPr>
          <a:xfrm>
            <a:off x="596900" y="2066290"/>
            <a:ext cx="10998200" cy="330581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139055" y="3717290"/>
            <a:ext cx="3357245" cy="28702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76320" y="4077335"/>
            <a:ext cx="3173730" cy="3041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576955" y="4408170"/>
            <a:ext cx="461645" cy="2851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512435" y="4797425"/>
            <a:ext cx="229870" cy="2501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040370" y="4811395"/>
            <a:ext cx="455930" cy="228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552940" y="2551430"/>
            <a:ext cx="358775" cy="1701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544560" y="2421255"/>
            <a:ext cx="1174115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新增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112385" y="3357245"/>
            <a:ext cx="3383915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填写新经办人信息（手机号码需本人实名）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008120" y="4364990"/>
            <a:ext cx="3049905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如需批量新增用户，可点击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添加用户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448300" y="5059680"/>
            <a:ext cx="3049905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勾选已阅读并同意相关协议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040370" y="5039995"/>
            <a:ext cx="3049905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确认授权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一、用户管理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08635" y="690245"/>
            <a:ext cx="10998200" cy="131445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通过此菜单功能，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平台管理员（即被授权人）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可新增多个经办人，并为不同经办人配置交易流程操作权限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（仅平台管理员有权操作）</a:t>
            </a: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经办人首次登录并上传资料：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经办人第一次登录时需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填写本人的身份证信息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，并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上传本人的身份证影像件</a:t>
            </a:r>
            <a:endParaRPr lang="zh-CN" altLang="en-US" sz="1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经办人确认资料信息，提交核查：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后，系统自动核查</a:t>
            </a:r>
            <a:b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若提示核查不通过，请联系平台运营</a:t>
            </a: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" y="2389505"/>
            <a:ext cx="10998000" cy="353057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095375" y="4220845"/>
            <a:ext cx="254000" cy="2070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03705" y="4076700"/>
            <a:ext cx="2461260" cy="702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支持点击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本地上传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进行上传或拖拽形式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上传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（仅支持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jpeg/jpg/png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格式图片，且大小不超过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200M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28210" y="4220845"/>
            <a:ext cx="254000" cy="2070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7530" y="3432175"/>
            <a:ext cx="5029200" cy="32829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35955" y="3284855"/>
            <a:ext cx="2461260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填写、勾选经办人身份证信息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二、权限管理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15" y="690245"/>
            <a:ext cx="11030585" cy="12966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通过此菜单功能，可以设置其他各菜单下的经办人审核权限及审核层级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【申请融易单、转让申请、融资申请、交易管理、供应商邀请】菜单：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只有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级审核流程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，但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级审核下可设置多个经办人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【融资申请审核、转让申请审核】菜单：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可设置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1-6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级审核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，同一级审核下可设置多个经办人</a:t>
            </a:r>
            <a:b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可根据企业需求，选择设置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不设置权限，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若不设置，则发起转让或融资时不需要经过审核</a:t>
            </a: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175510"/>
            <a:ext cx="10998000" cy="418944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896225" y="2708910"/>
            <a:ext cx="426720" cy="37045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400415" y="4509135"/>
            <a:ext cx="2880360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可修改不同菜单类型下的审核权限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二、权限管理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5775" y="690245"/>
            <a:ext cx="10996295" cy="66929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265" indent="-342265" algn="just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示例：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融资申请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为例，设置融资审核流程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algn="just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）点击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修改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，进入展示界面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84630"/>
            <a:ext cx="10998000" cy="1899759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7968615" y="3178810"/>
            <a:ext cx="202565" cy="1841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5775" y="4074795"/>
            <a:ext cx="10995660" cy="3568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265" indent="-342265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）点击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编辑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，进入编辑界面，可查询当前菜单下的经办人审核权限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4443095"/>
            <a:ext cx="10998000" cy="1041434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1021695" y="4463415"/>
            <a:ext cx="358775" cy="2082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184515" y="3058160"/>
            <a:ext cx="2880360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在对应菜单右侧，点击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修改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876155" y="4290695"/>
            <a:ext cx="1116965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编辑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1628775"/>
            <a:ext cx="10998000" cy="2008480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二、权限管理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82600" y="692785"/>
            <a:ext cx="11029950" cy="69151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265" lvl="0" indent="-342265" algn="just"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示例：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融资申请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为例，设置融资审核流程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265" lvl="0" algn="just" eaLnBrk="1" fontAlgn="auto" latinLnBrk="0" hangingPunct="1">
              <a:buClr>
                <a:srgbClr val="000000"/>
              </a:buClr>
              <a:buFont typeface="+mj-lt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）新增经办人的审核权限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07895" y="2124710"/>
            <a:ext cx="1492885" cy="2787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19830" y="2052320"/>
            <a:ext cx="6155690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下拉选择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当前审核层级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（可设置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1-6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级审核，同一级审核下可设置多个经办人）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207895" y="2852420"/>
            <a:ext cx="1492885" cy="4089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700780" y="2563495"/>
            <a:ext cx="1722755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下拉选择经办人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46885" y="3425825"/>
            <a:ext cx="327025" cy="16383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136140" y="3284220"/>
            <a:ext cx="1099820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保存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3799840"/>
            <a:ext cx="10998000" cy="2082868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631950" y="4220845"/>
            <a:ext cx="1492885" cy="6692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124835" y="4345305"/>
            <a:ext cx="4813935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保存后，经办人信息更新，即该菜单下的经办人权限生效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232005" cy="68567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E6E6E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53890" y="3404263"/>
            <a:ext cx="2722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000" b="1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+mn-ea"/>
              </a:rPr>
              <a:t>开票管理</a:t>
            </a:r>
            <a:endParaRPr lang="zh-CN" altLang="en-US" sz="5000" b="1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08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56928"/>
            <a:ext cx="2504128" cy="51069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82600" y="690245"/>
            <a:ext cx="11115040" cy="68643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配置开票权限：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【账户管理】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【权限管理】，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修改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进入编辑页面，具体设置可参考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账号权限管理章节</a:t>
            </a:r>
            <a:b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设置完成后，请刷新浏览器页面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t="13479"/>
          <a:stretch>
            <a:fillRect/>
          </a:stretch>
        </p:blipFill>
        <p:spPr>
          <a:xfrm>
            <a:off x="551815" y="1414145"/>
            <a:ext cx="10998200" cy="1614170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一、开票管理配置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7904480" y="2096770"/>
            <a:ext cx="444500" cy="2203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410575" y="2025015"/>
            <a:ext cx="2399665" cy="636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修改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即进入编辑页面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t="15524"/>
          <a:stretch>
            <a:fillRect/>
          </a:stretch>
        </p:blipFill>
        <p:spPr>
          <a:xfrm>
            <a:off x="551815" y="4652645"/>
            <a:ext cx="10998200" cy="1565275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2399030" y="5516880"/>
            <a:ext cx="7250430" cy="47752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369810" y="5155565"/>
            <a:ext cx="3665220" cy="459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编辑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，补充完成开票信息后，点击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保存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920730" y="5228590"/>
            <a:ext cx="492125" cy="2882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77520" y="3978910"/>
            <a:ext cx="11072495" cy="59563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补充企业开票信息：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【账户管理】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【企业信息】，在【开票信息】处点击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编辑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，输入开票信息后，点击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保存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1815" y="2494915"/>
            <a:ext cx="1094105" cy="28257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51815" y="5935345"/>
            <a:ext cx="1094105" cy="28257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>
                <a:solidFill>
                  <a:srgbClr val="FFFFFF"/>
                </a:solidFill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二、开票申请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3235" y="690245"/>
            <a:ext cx="11008360" cy="142303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资金方放款成功后，可在平台发起服务费开票申请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服务费开票申请：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【平台开票管理】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【服务费开票】，点击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待开票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，可勾选对应的资产，点击右上角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申请开票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，开票信息维护完成后，点击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提交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服务费开票查询：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平台开票管理】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【服务费开票】，点击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已开票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可查询下载发票，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提交开票申请后请耐心等待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t="5738" r="-127" b="6177"/>
          <a:stretch>
            <a:fillRect/>
          </a:stretch>
        </p:blipFill>
        <p:spPr>
          <a:xfrm>
            <a:off x="479425" y="2477770"/>
            <a:ext cx="11012170" cy="382143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205220" y="5498465"/>
            <a:ext cx="322580" cy="1562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632440" y="3860800"/>
            <a:ext cx="635000" cy="2381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995025" y="2565400"/>
            <a:ext cx="382270" cy="1962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703705" y="2564765"/>
            <a:ext cx="273050" cy="1962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27800" y="5373370"/>
            <a:ext cx="2399665" cy="636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开票信息维护完成，点击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79425" y="4089400"/>
            <a:ext cx="1094105" cy="28257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037715" y="2564765"/>
            <a:ext cx="324485" cy="1962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351405" y="2420620"/>
            <a:ext cx="3039745" cy="636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可查询、下载已开票完成的服务费发票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232005" cy="68567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E6E6E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53890" y="3404263"/>
            <a:ext cx="3357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000" b="1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  <a:sym typeface="+mn-ea"/>
              </a:rPr>
              <a:t>管理员变更</a:t>
            </a:r>
            <a:endParaRPr lang="zh-CN" altLang="en-US" sz="5000" b="1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09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56928"/>
            <a:ext cx="2504128" cy="51069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180" y="1599565"/>
            <a:ext cx="10071735" cy="27127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80" y="2540635"/>
            <a:ext cx="10072370" cy="3689985"/>
          </a:xfrm>
          <a:prstGeom prst="rect">
            <a:avLst/>
          </a:prstGeom>
        </p:spPr>
      </p:pic>
      <p:sp>
        <p:nvSpPr>
          <p:cNvPr id="5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一、变更管理员账户信息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89610"/>
            <a:ext cx="11446510" cy="73723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sp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点击左上角“管理员名称”；</a:t>
            </a:r>
            <a:endParaRPr lang="zh-CN" altLang="en-US" sz="1400" dirty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点击【企业信息】</a:t>
            </a:r>
            <a:r>
              <a:rPr lang="en-US" altLang="zh-CN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下拉选择【变更被授权人】</a:t>
            </a:r>
            <a:r>
              <a:rPr lang="en-US" altLang="zh-CN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【变更选择】。</a:t>
            </a:r>
            <a:endParaRPr lang="zh-CN" altLang="en-US" sz="1400" dirty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770380"/>
            <a:ext cx="9497695" cy="4721225"/>
          </a:xfrm>
          <a:prstGeom prst="rect">
            <a:avLst/>
          </a:prstGeom>
        </p:spPr>
      </p:pic>
      <p:sp>
        <p:nvSpPr>
          <p:cNvPr id="5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一、变更管理员账户信息</a:t>
            </a:r>
            <a:endParaRPr lang="zh-CN" altLang="en-US" sz="2000" b="1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830" y="689610"/>
            <a:ext cx="10727055" cy="10807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填写最新的被授权人信息</a:t>
            </a:r>
            <a:r>
              <a:rPr lang="zh-CN" altLang="en-US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1400" dirty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3"/>
            </a:pPr>
            <a:r>
              <a:rPr lang="zh-CN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删除历史旧的证件，上传最新的</a:t>
            </a:r>
            <a:r>
              <a:rPr lang="zh-CN" altLang="en-US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被授权人证件，下载最新信息的企业授权书，盖章后一式两份进行上传</a:t>
            </a:r>
            <a:r>
              <a:rPr lang="zh-CN" altLang="en-US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1400" dirty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提交</a:t>
            </a:r>
            <a:r>
              <a:rPr lang="en-US" altLang="zh-CN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5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6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7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8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9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0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1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2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3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4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5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6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7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8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9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0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1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2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3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4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5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6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7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8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2.95}"/>
</p:tagLst>
</file>

<file path=ppt/tags/tag29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2.95}"/>
</p:tagLst>
</file>

<file path=ppt/tags/tag30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2.95}"/>
</p:tagLst>
</file>

<file path=ppt/tags/tag31.xml><?xml version="1.0" encoding="utf-8"?>
<p:tagLst xmlns:p="http://schemas.openxmlformats.org/presentationml/2006/main">
  <p:tag name="KSO_WM_AICARD_INVALID" val="Invalid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33.xml><?xml version="1.0" encoding="utf-8"?>
<p:tagLst xmlns:p="http://schemas.openxmlformats.org/presentationml/2006/main">
  <p:tag name="KSO_WM_DIAGRAM_VIRTUALLY_FRAME" val="{&quot;height&quot;:337.3,&quot;left&quot;:668.8,&quot;top&quot;:181.5,&quot;width&quot;:256.75}"/>
</p:tagLst>
</file>

<file path=ppt/tags/tag34.xml><?xml version="1.0" encoding="utf-8"?>
<p:tagLst xmlns:p="http://schemas.openxmlformats.org/presentationml/2006/main">
  <p:tag name="KSO_WM_DIAGRAM_VIRTUALLY_FRAME" val="{&quot;height&quot;:337.3,&quot;left&quot;:668.8,&quot;top&quot;:181.5,&quot;width&quot;:256.75}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7813</Words>
  <Application>WPS 演示</Application>
  <PresentationFormat>宽屏</PresentationFormat>
  <Paragraphs>692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93" baseType="lpstr">
      <vt:lpstr>Arial</vt:lpstr>
      <vt:lpstr>宋体</vt:lpstr>
      <vt:lpstr>Wingdings</vt:lpstr>
      <vt:lpstr>Arial Unicode MS</vt:lpstr>
      <vt:lpstr>Arial Black</vt:lpstr>
      <vt:lpstr>微软雅黑</vt:lpstr>
      <vt:lpstr>黑体</vt:lpstr>
      <vt:lpstr>汉仪君黑-45简</vt:lpstr>
      <vt:lpstr>Wingdings</vt:lpstr>
      <vt:lpstr>汉仪雅酷黑-95J</vt:lpstr>
      <vt:lpstr>Arial</vt:lpstr>
      <vt:lpstr>Source Han Sans CN Medium</vt:lpstr>
      <vt:lpstr>Segoe Print</vt:lpstr>
      <vt:lpstr>方正兰亭中粗黑简体</vt:lpstr>
      <vt:lpstr>Wingdings</vt:lpstr>
      <vt:lpstr>Source Han Sans CN Medium</vt:lpstr>
      <vt:lpstr>WeibeiSC-Bold</vt:lpstr>
      <vt:lpstr>Helvetica</vt:lpstr>
      <vt:lpstr>Calibri</vt:lpstr>
      <vt:lpstr>Libian SC Regular</vt:lpstr>
      <vt:lpstr>等线</vt:lpstr>
      <vt:lpstr>汉仪雅酷黑-65J</vt:lpstr>
      <vt:lpstr>黑体-简</vt:lpstr>
      <vt:lpstr>Times New Roman</vt:lpstr>
      <vt:lpstr>Calibri</vt:lpstr>
      <vt:lpstr>Source Han Sans CN Regular</vt:lpstr>
      <vt:lpstr>Heiti SC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wangxin</dc:creator>
  <cp:lastModifiedBy>wangxin</cp:lastModifiedBy>
  <cp:revision>7</cp:revision>
  <dcterms:created xsi:type="dcterms:W3CDTF">2023-07-11T07:43:00Z</dcterms:created>
  <dcterms:modified xsi:type="dcterms:W3CDTF">2026-10-12T06:22:41Z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2052-12.8.2.20324</vt:lpwstr>
  </property>
  <property fmtid="{D5CDD505-2E9C-101B-9397-08002B2CF9AE}" pid="3" name="ICV">
    <vt:lpwstr>50ABBAB4B3B34252B5D9B198E6D1F1F9_11</vt:lpwstr>
  </property>
</Properties>
</file>