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6" r:id="rId4"/>
  </p:sldMasterIdLst>
  <p:notesMasterIdLst>
    <p:notesMasterId r:id="rId6"/>
  </p:notesMasterIdLst>
  <p:handoutMasterIdLst>
    <p:handoutMasterId r:id="rId71"/>
  </p:handoutMasterIdLst>
  <p:sldIdLst>
    <p:sldId id="256" r:id="rId5"/>
    <p:sldId id="257" r:id="rId7"/>
    <p:sldId id="258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7" r:id="rId27"/>
    <p:sldId id="338" r:id="rId28"/>
    <p:sldId id="306" r:id="rId29"/>
    <p:sldId id="260" r:id="rId30"/>
    <p:sldId id="261" r:id="rId31"/>
    <p:sldId id="309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310" r:id="rId45"/>
    <p:sldId id="276" r:id="rId46"/>
    <p:sldId id="311" r:id="rId47"/>
    <p:sldId id="278" r:id="rId48"/>
    <p:sldId id="312" r:id="rId49"/>
    <p:sldId id="280" r:id="rId50"/>
    <p:sldId id="281" r:id="rId51"/>
    <p:sldId id="314" r:id="rId52"/>
    <p:sldId id="283" r:id="rId53"/>
    <p:sldId id="313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315" r:id="rId63"/>
    <p:sldId id="294" r:id="rId64"/>
    <p:sldId id="295" r:id="rId65"/>
    <p:sldId id="296" r:id="rId66"/>
    <p:sldId id="339" r:id="rId67"/>
    <p:sldId id="297" r:id="rId68"/>
    <p:sldId id="298" r:id="rId69"/>
    <p:sldId id="317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  <p:cmAuthor id="2" name="lenovo" initials="l" lastIdx="0" clrIdx="1"/>
  <p:cmAuthor id="3" name="admin" initials="admin" lastIdx="0" clrIdx="2"/>
  <p:cmAuthor id="4" name="koalafeng" initials="k" lastIdx="0" clrIdx="3"/>
  <p:cmAuthor id="5" name="苏启瞳" initials="苏启瞳" lastIdx="0" clrIdx="4"/>
  <p:cmAuthor id="6" name="贺远" initials="贺远" lastIdx="0" clrIdx="5"/>
  <p:cmAuthor id="7" name="vitokowk" initials="v" lastIdx="0" clrIdx="6"/>
  <p:cmAuthor id="8" name="Windows 用户" initials="W用" lastIdx="0" clrIdx="7"/>
  <p:cmAuthor id="9" name="xurunmeng" initials="xrm" lastIdx="0" clrIdx="8"/>
  <p:cmAuthor id="10" name="Microsoft Office User" initials="Office" lastIdx="0" clrIdx="9"/>
  <p:cmAuthor id="11" name="李文塔" initials="李文塔" lastIdx="0" clrIdx="10"/>
  <p:cmAuthor id="12" name="songshiqi" initials="s" lastIdx="0" clrIdx="11"/>
  <p:cmAuthor id="13" name="杨冬韵" initials="杨冬韵" lastIdx="0" clrIdx="12"/>
  <p:cmAuthor id="14" name="linjiajie" initials="l" lastIdx="0" clrIdx="13"/>
  <p:cmAuthor id="15" name="wanglei3" initials="w" lastIdx="0" clrIdx="14"/>
  <p:cmAuthor id="16" name="未知用户22" initials="未知用户22" lastIdx="0" clrIdx="15"/>
  <p:cmAuthor id="17" name="LuMeyer" initials="L" lastIdx="0" clrIdx="16"/>
  <p:cmAuthor id="18" name="hanwei" initials="h" lastIdx="0" clrIdx="17"/>
  <p:cmAuthor id="19" name="xiaosenren" initials="x" lastIdx="0" clrIdx="18"/>
  <p:cmAuthor id="20" name="liyunjian" initials="l" lastIdx="0" clrIdx="19"/>
  <p:cmAuthor id="21" name="za-jijingting" initials="z" lastIdx="0" clrIdx="20"/>
  <p:cmAuthor id="22" name="Sicheng Wang" initials="SW" lastIdx="0" clrIdx="21"/>
  <p:cmAuthor id="23" name="作者" initials="A" lastIdx="0" clrIdx="22"/>
  <p:cmAuthor id="24" name="za-chuweiguo" initials="z" lastIdx="0" clrIdx="23"/>
  <p:cmAuthor id="25" name="Wurui (Ray)" initials="W(" lastIdx="0" clrIdx="24"/>
  <p:cmAuthor id="26" name="家华 胡" initials="家华" lastIdx="0" clrIdx="25"/>
  <p:cmAuthor id="27" name="Hadean" initials="H" lastIdx="0" clrIdx="26"/>
  <p:cmAuthor id="28" name="xuyang liu" initials="xl" lastIdx="0" clrIdx="27"/>
  <p:cmAuthor id="29" name="86135" initials="8" lastIdx="0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5" Type="http://schemas.openxmlformats.org/officeDocument/2006/relationships/commentAuthors" Target="commentAuthors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b="1"/>
              <a:t>【封面页】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常规字体颜色为【黑色】，字体间距为【普通】</a:t>
            </a:r>
            <a:br>
              <a:rPr lang="en-US" altLang="zh-CN" b="1"/>
            </a:br>
            <a:r>
              <a:rPr lang="en-US" altLang="zh-CN" b="1"/>
              <a:t>1.</a:t>
            </a:r>
            <a:r>
              <a:rPr lang="zh-CN" altLang="en-US" b="1"/>
              <a:t>一级标题：</a:t>
            </a:r>
            <a:endParaRPr lang="zh-CN" altLang="en-US" b="1"/>
          </a:p>
          <a:p>
            <a:r>
              <a:rPr lang="en-US" altLang="en-US"/>
              <a:t>①</a:t>
            </a:r>
            <a:r>
              <a:rPr lang="zh-CN" altLang="en-US"/>
              <a:t>标题名称：</a:t>
            </a:r>
            <a:r>
              <a:rPr lang="en-US" altLang="zh-CN"/>
              <a:t>xx</a:t>
            </a:r>
            <a:r>
              <a:rPr lang="zh-CN" altLang="en-US"/>
              <a:t>平台操作指引（产品类型）</a:t>
            </a:r>
            <a:endParaRPr lang="zh-CN" altLang="en-US"/>
          </a:p>
          <a:p>
            <a:r>
              <a:rPr lang="en-US" altLang="en-US"/>
              <a:t>②</a:t>
            </a:r>
            <a:r>
              <a:rPr lang="zh-CN" altLang="en-US"/>
              <a:t>标题格式：加粗，不跨行，视情况调整文字大小</a:t>
            </a:r>
            <a:endParaRPr lang="zh-CN" altLang="en-US"/>
          </a:p>
          <a:p>
            <a:r>
              <a:rPr lang="en-US" altLang="zh-CN" b="1"/>
              <a:t>2.</a:t>
            </a:r>
            <a:r>
              <a:rPr lang="zh-CN" altLang="en-US" b="1"/>
              <a:t>二级标题：</a:t>
            </a:r>
            <a:endParaRPr lang="zh-CN" altLang="en-US" b="1"/>
          </a:p>
          <a:p>
            <a:r>
              <a:rPr lang="en-US" altLang="en-US"/>
              <a:t>①</a:t>
            </a:r>
            <a:r>
              <a:rPr lang="zh-CN" altLang="en-US"/>
              <a:t>标题名称：供应商端</a:t>
            </a:r>
            <a:r>
              <a:rPr lang="en-US" altLang="zh-CN"/>
              <a:t>/</a:t>
            </a:r>
            <a:r>
              <a:rPr lang="zh-CN" altLang="en-US"/>
              <a:t>核心企业端</a:t>
            </a:r>
            <a:r>
              <a:rPr lang="en-US" altLang="zh-CN"/>
              <a:t>/</a:t>
            </a:r>
            <a:r>
              <a:rPr lang="zh-CN" altLang="en-US"/>
              <a:t>金融机构端等</a:t>
            </a:r>
            <a:r>
              <a:rPr lang="en-US" altLang="zh-CN"/>
              <a:t>...</a:t>
            </a:r>
            <a:endParaRPr lang="en-US" altLang="zh-CN"/>
          </a:p>
          <a:p>
            <a:r>
              <a:rPr lang="en-US" altLang="en-US"/>
              <a:t>②</a:t>
            </a:r>
            <a:r>
              <a:rPr lang="zh-CN" altLang="en-US"/>
              <a:t>标题格式：不加粗，</a:t>
            </a:r>
            <a:r>
              <a:rPr lang="en-US" altLang="zh-CN"/>
              <a:t>20</a:t>
            </a:r>
            <a:r>
              <a:rPr lang="zh-CN" altLang="en-US"/>
              <a:t>号字体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</a:t>
            </a:r>
            <a:r>
              <a:rPr lang="zh-CN" altLang="en-US">
                <a:sym typeface="+mn-ea"/>
              </a:rPr>
              <a:t>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</a:t>
            </a:r>
            <a:r>
              <a:rPr lang="zh-CN" altLang="en-US" dirty="0">
                <a:sym typeface="+mn-ea"/>
              </a:rPr>
              <a:t>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</a:t>
            </a:r>
            <a:r>
              <a:rPr lang="zh-CN" altLang="en-US" dirty="0">
                <a:sym typeface="+mn-ea"/>
              </a:rPr>
              <a:t>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</a:t>
            </a:r>
            <a:r>
              <a:rPr lang="zh-CN" altLang="en-US" dirty="0">
                <a:sym typeface="+mn-ea"/>
              </a:rPr>
              <a:t>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</a:t>
            </a:r>
            <a:r>
              <a:rPr lang="zh-CN" altLang="en-US">
                <a:sym typeface="+mn-ea"/>
              </a:rPr>
              <a:t>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highlight>
                  <a:srgbClr val="FFFF00"/>
                </a:highlight>
                <a:sym typeface="+mn-ea"/>
              </a:rPr>
              <a:t>【章节正文页】全部字体为微软雅黑，</a:t>
            </a:r>
            <a:r>
              <a:rPr lang="zh-CN" altLang="en-US" b="1">
                <a:highlight>
                  <a:srgbClr val="FFFF00"/>
                </a:highlight>
                <a:sym typeface="+mn-ea"/>
              </a:rPr>
              <a:t>常规字体颜色为【黑色】，特殊提示字体颜色为【红色】，字体间距为【普通】</a:t>
            </a:r>
            <a:endParaRPr lang="zh-CN" altLang="en-US" b="1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正文标题</a:t>
            </a:r>
            <a:r>
              <a:rPr lang="zh-CN" altLang="en-US" b="1" dirty="0">
                <a:sym typeface="+mn-ea"/>
              </a:rPr>
              <a:t>【一、二、三</a:t>
            </a:r>
            <a:r>
              <a:rPr lang="en-US" altLang="zh-CN" b="1" dirty="0">
                <a:sym typeface="+mn-ea"/>
              </a:rPr>
              <a:t>...</a:t>
            </a:r>
            <a:r>
              <a:rPr lang="zh-CN" altLang="en-US" b="1" dirty="0">
                <a:sym typeface="+mn-ea"/>
              </a:rPr>
              <a:t>】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）位置：固定至上方，一般情况下可无需调整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dirty="0">
                <a:sym typeface="+mn-ea"/>
              </a:rPr>
              <a:t>加粗，</a:t>
            </a:r>
            <a:r>
              <a:rPr lang="en-US" altLang="zh-CN" dirty="0">
                <a:sym typeface="+mn-ea"/>
              </a:rPr>
              <a:t>20</a:t>
            </a:r>
            <a:r>
              <a:rPr lang="zh-CN" altLang="en-US" dirty="0">
                <a:sym typeface="+mn-ea"/>
              </a:rPr>
              <a:t>号字体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）正文内容</a:t>
            </a:r>
            <a:br>
              <a:rPr lang="zh-CN" altLang="en-US" b="1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）位置：每页的正文内容需与正文标题文字左侧对齐、首行对齐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）文字描述：操作菜单路径：【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xx</a:t>
            </a:r>
            <a:r>
              <a:rPr lang="zh-CN" altLang="en-US">
                <a:sym typeface="+mn-ea"/>
              </a:rPr>
              <a:t>菜单】；操作点击路径：点击</a:t>
            </a:r>
            <a:r>
              <a:rPr lang="en-US" altLang="zh-CN">
                <a:sym typeface="+mn-ea"/>
              </a:rPr>
              <a:t>“xx”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需添加底色深橙色，透明度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95%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，可在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ppt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正文上方右数第</a:t>
            </a:r>
            <a:r>
              <a:rPr lang="en-US" altLang="zh-CN" b="1" dirty="0">
                <a:highlight>
                  <a:srgbClr val="C0C0C0"/>
                </a:highlight>
                <a:sym typeface="+mn-ea"/>
              </a:rPr>
              <a:t>3</a:t>
            </a:r>
            <a:r>
              <a:rPr lang="zh-CN" altLang="en-US" b="1" dirty="0">
                <a:highlight>
                  <a:srgbClr val="C0C0C0"/>
                </a:highlight>
                <a:sym typeface="+mn-ea"/>
              </a:rPr>
              <a:t>个进行取色）</a:t>
            </a:r>
            <a:endParaRPr lang="zh-CN" altLang="en-US" b="1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①一级标题【</a:t>
            </a:r>
            <a:r>
              <a:rPr lang="en-US" altLang="zh-CN" dirty="0">
                <a:sym typeface="+mn-ea"/>
              </a:rPr>
              <a:t>1.2.3...</a:t>
            </a:r>
            <a:r>
              <a:rPr lang="zh-CN" altLang="en-US" dirty="0">
                <a:sym typeface="+mn-ea"/>
              </a:rPr>
              <a:t>】：请一键点击系统编号，无需人工输入；每条标题要点可加粗，</a:t>
            </a:r>
            <a:r>
              <a:rPr lang="en-US" altLang="zh-CN" dirty="0">
                <a:sym typeface="+mn-ea"/>
              </a:rPr>
              <a:t>14</a:t>
            </a:r>
            <a:r>
              <a:rPr lang="zh-CN" altLang="en-US" dirty="0">
                <a:sym typeface="+mn-ea"/>
              </a:rPr>
              <a:t>号字体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（路径：本页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内容右侧图示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②二级标题【（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③三级标题【①②③</a:t>
            </a:r>
            <a:r>
              <a:rPr lang="en-US" altLang="zh-CN" dirty="0">
                <a:sym typeface="+mn-ea"/>
              </a:rPr>
              <a:t>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④四级标题【</a:t>
            </a:r>
            <a:r>
              <a:rPr lang="en-US" altLang="zh-CN" dirty="0">
                <a:sym typeface="+mn-ea"/>
              </a:rPr>
              <a:t>a.b.c. ...</a:t>
            </a:r>
            <a:r>
              <a:rPr lang="zh-CN" altLang="en-US" dirty="0">
                <a:sym typeface="+mn-ea"/>
              </a:rPr>
              <a:t>】：请一键点击系统编号，无需人工输入；不加粗，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⑤注意事项【注：】：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注：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为红色字体，内容视情况可为黑色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红色字体，加粗，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号字体，悬挂缩进</a:t>
            </a:r>
            <a:r>
              <a:rPr lang="en-US" altLang="zh-CN" dirty="0">
                <a:sym typeface="+mn-ea"/>
              </a:rPr>
              <a:t>0.95cm</a:t>
            </a:r>
            <a:endParaRPr lang="en-US" altLang="zh-CN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）图示内容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）位置：与正文标题对齐，与正文内容两侧对齐，居中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）图片内容：测试内容、关键资产信息打码，保持页面清洁、完整、清晰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）截图方式</a:t>
            </a:r>
            <a:r>
              <a:rPr lang="en-US" altLang="zh-CN">
                <a:sym typeface="+mn-ea"/>
              </a:rPr>
              <a:t>&amp;</a:t>
            </a:r>
            <a:r>
              <a:rPr lang="zh-CN" altLang="en-US">
                <a:sym typeface="+mn-ea"/>
              </a:rPr>
              <a:t>标注字体：</a:t>
            </a:r>
            <a:r>
              <a:rPr lang="zh-CN" altLang="en-US" b="1">
                <a:highlight>
                  <a:srgbClr val="C0C0C0"/>
                </a:highlight>
                <a:sym typeface="+mn-ea"/>
              </a:rPr>
              <a:t>（图示中若包含多个操作节点，请增加文字辅助说明）</a:t>
            </a:r>
            <a:br>
              <a:rPr lang="zh-CN" altLang="en-US">
                <a:sym typeface="+mn-ea"/>
              </a:rPr>
            </a:br>
            <a:r>
              <a:rPr lang="zh-CN" altLang="en-US" dirty="0">
                <a:sym typeface="+mn-ea"/>
              </a:rPr>
              <a:t>①截图要求：浏览器比例</a:t>
            </a:r>
            <a:r>
              <a:rPr lang="en-US" altLang="zh-CN" dirty="0">
                <a:sym typeface="+mn-ea"/>
              </a:rPr>
              <a:t>100%</a:t>
            </a:r>
            <a:r>
              <a:rPr lang="zh-CN" altLang="en-US" dirty="0">
                <a:sym typeface="+mn-ea"/>
              </a:rPr>
              <a:t>，全屏截图后粘贴至</a:t>
            </a:r>
            <a:r>
              <a:rPr lang="en-US" altLang="zh-CN" dirty="0">
                <a:sym typeface="+mn-ea"/>
              </a:rPr>
              <a:t>ppt</a:t>
            </a:r>
            <a:r>
              <a:rPr lang="zh-CN" altLang="en-US" dirty="0">
                <a:sym typeface="+mn-ea"/>
              </a:rPr>
              <a:t>正文页，图片宽度调整为固定</a:t>
            </a:r>
            <a:r>
              <a:rPr lang="en-US" altLang="zh-CN" dirty="0">
                <a:sym typeface="+mn-ea"/>
              </a:rPr>
              <a:t>30.55cm</a:t>
            </a:r>
            <a:r>
              <a:rPr lang="zh-CN" altLang="en-US" dirty="0">
                <a:sym typeface="+mn-ea"/>
              </a:rPr>
              <a:t>，可视情况裁剪调整高度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内添加图示文字和标注框即可！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②图示文字：红色字体，不加粗，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号字体</a:t>
            </a:r>
            <a:endParaRPr lang="zh-CN" altLang="en-US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ym typeface="+mn-ea"/>
              </a:rPr>
              <a:t>③标注框：红色实线，</a:t>
            </a:r>
            <a:r>
              <a:rPr lang="en-US" altLang="zh-CN" dirty="0">
                <a:sym typeface="+mn-ea"/>
              </a:rPr>
              <a:t>2.25</a:t>
            </a:r>
            <a:r>
              <a:rPr lang="zh-CN" altLang="en-US" dirty="0">
                <a:sym typeface="+mn-ea"/>
              </a:rPr>
              <a:t>磅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截图软件为【天若</a:t>
            </a:r>
            <a:r>
              <a:rPr lang="en-US" altLang="zh-CN" dirty="0">
                <a:sym typeface="+mn-ea"/>
              </a:rPr>
              <a:t>OCR</a:t>
            </a:r>
            <a:r>
              <a:rPr lang="zh-CN" altLang="en-US" dirty="0">
                <a:sym typeface="+mn-ea"/>
              </a:rPr>
              <a:t>文字识别】</a:t>
            </a:r>
            <a:endParaRPr lang="zh-CN" altLang="en-US" dirty="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59FD50E-6736-4146-9EAA-473DE89F4590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11753850" cy="6855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627" y="4432"/>
            <a:ext cx="6874592" cy="68580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60325" y="635"/>
            <a:ext cx="4784090" cy="6737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3" name="任意多边形 12"/>
          <p:cNvSpPr/>
          <p:nvPr/>
        </p:nvSpPr>
        <p:spPr>
          <a:xfrm rot="16200000">
            <a:off x="3753139" y="1315726"/>
            <a:ext cx="6858000" cy="42265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6656">
                <a:moveTo>
                  <a:pt x="10800" y="4693"/>
                </a:moveTo>
                <a:lnTo>
                  <a:pt x="10800" y="6656"/>
                </a:lnTo>
                <a:lnTo>
                  <a:pt x="5401" y="3566"/>
                </a:lnTo>
                <a:lnTo>
                  <a:pt x="0" y="6656"/>
                </a:lnTo>
                <a:lnTo>
                  <a:pt x="0" y="3090"/>
                </a:lnTo>
                <a:lnTo>
                  <a:pt x="5401" y="0"/>
                </a:lnTo>
                <a:lnTo>
                  <a:pt x="10800" y="3090"/>
                </a:lnTo>
                <a:lnTo>
                  <a:pt x="10800" y="4693"/>
                </a:lnTo>
                <a:close/>
              </a:path>
            </a:pathLst>
          </a:custGeom>
          <a:gradFill>
            <a:gsLst>
              <a:gs pos="0">
                <a:srgbClr val="BCBEC0">
                  <a:alpha val="17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6086770" y="453517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8" name="等腰三角形 17"/>
          <p:cNvSpPr/>
          <p:nvPr/>
        </p:nvSpPr>
        <p:spPr>
          <a:xfrm flipV="1">
            <a:off x="6086770" y="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9" name="任意多边形 18"/>
          <p:cNvSpPr/>
          <p:nvPr/>
        </p:nvSpPr>
        <p:spPr>
          <a:xfrm rot="16200000">
            <a:off x="493201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 rot="16200000">
            <a:off x="478850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 rot="16200000">
            <a:off x="6574398" y="142554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2" name="任意多边形 21"/>
          <p:cNvSpPr/>
          <p:nvPr/>
        </p:nvSpPr>
        <p:spPr>
          <a:xfrm rot="5400000" flipV="1">
            <a:off x="6577573" y="4854889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3" name="副标题 14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13080" y="1436370"/>
            <a:ext cx="4098925" cy="1624330"/>
          </a:xfrm>
          <a:prstGeom prst="rect">
            <a:avLst/>
          </a:prstGeom>
          <a:effectLst/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汉仪雅酷黑-95J" panose="00020600040101010101" charset="-122"/>
                <a:ea typeface="汉仪雅酷黑-95J" panose="00020600040101010101" charset="-122"/>
                <a:cs typeface="汉仪雅酷黑-95J" panose="00020600040101010101" charset="-122"/>
                <a:sym typeface="+mn-ea"/>
              </a:rPr>
              <a:t> </a:t>
            </a:r>
            <a:endParaRPr kumimoji="0" lang="en-US" altLang="zh-CN" sz="2800" b="0" i="0" u="none" strike="noStrike" kern="1200" cap="none" spc="150" normalizeH="0" baseline="0" noProof="1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雅酷黑-95J" panose="00020600040101010101" charset="-122"/>
              <a:ea typeface="汉仪雅酷黑-95J" panose="00020600040101010101" charset="-122"/>
              <a:cs typeface="汉仪雅酷黑-95J" panose="00020600040101010101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4682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1" name="直角三角形 30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32" name="直角三角形 31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601946" y="1333172"/>
            <a:ext cx="1215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汉仪君黑-45简" panose="020B0604020202020204" charset="-122"/>
              </a:rPr>
              <a:t>目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汉仪君黑-45简" panose="020B0604020202020204" charset="-122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汉仪君黑-45简" panose="020B0604020202020204" charset="-122"/>
              </a:rPr>
              <a:t>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汉仪君黑-45简" panose="020B0604020202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5317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77888" y="2370207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237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40" y="0"/>
            <a:ext cx="11753850" cy="6855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627" y="4432"/>
            <a:ext cx="6874592" cy="68580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368737" y="0"/>
            <a:ext cx="4093845" cy="686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16200000">
            <a:off x="3753139" y="1315726"/>
            <a:ext cx="6858000" cy="42265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6656">
                <a:moveTo>
                  <a:pt x="10800" y="4693"/>
                </a:moveTo>
                <a:lnTo>
                  <a:pt x="10800" y="6656"/>
                </a:lnTo>
                <a:lnTo>
                  <a:pt x="5401" y="3566"/>
                </a:lnTo>
                <a:lnTo>
                  <a:pt x="0" y="6656"/>
                </a:lnTo>
                <a:lnTo>
                  <a:pt x="0" y="3090"/>
                </a:lnTo>
                <a:lnTo>
                  <a:pt x="5401" y="0"/>
                </a:lnTo>
                <a:lnTo>
                  <a:pt x="10800" y="3090"/>
                </a:lnTo>
                <a:lnTo>
                  <a:pt x="10800" y="4693"/>
                </a:lnTo>
                <a:close/>
              </a:path>
            </a:pathLst>
          </a:custGeom>
          <a:gradFill>
            <a:gsLst>
              <a:gs pos="0">
                <a:srgbClr val="BCBEC0">
                  <a:alpha val="17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086770" y="453517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9" name="等腰三角形 8"/>
          <p:cNvSpPr/>
          <p:nvPr/>
        </p:nvSpPr>
        <p:spPr>
          <a:xfrm flipV="1">
            <a:off x="6086770" y="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7" name="任意多边形 6"/>
          <p:cNvSpPr/>
          <p:nvPr/>
        </p:nvSpPr>
        <p:spPr>
          <a:xfrm rot="16200000">
            <a:off x="493201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任意多边形 5"/>
          <p:cNvSpPr/>
          <p:nvPr/>
        </p:nvSpPr>
        <p:spPr>
          <a:xfrm rot="16200000">
            <a:off x="478850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 rot="16200000">
            <a:off x="6574398" y="142554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 rot="5400000" flipV="1">
            <a:off x="6577573" y="4854889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8" name="副标题 14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913948" y="3822644"/>
            <a:ext cx="2974079" cy="749740"/>
          </a:xfrm>
          <a:prstGeom prst="rect">
            <a:avLst/>
          </a:prstGeom>
          <a:effectLst/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400" b="0" i="0" u="none" strike="noStrike" kern="1200" cap="none" spc="150" normalizeH="0" baseline="0" noProof="1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95J" panose="00020600040101010101" charset="-122"/>
                <a:sym typeface="+mn-ea"/>
              </a:rPr>
              <a:t>THANKS   </a:t>
            </a:r>
            <a:endParaRPr kumimoji="0" lang="en-US" altLang="zh-CN" sz="4400" b="0" i="0" u="none" strike="noStrike" kern="1200" cap="none" spc="150" normalizeH="0" baseline="0" noProof="1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95J" panose="0002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26660" y="2909818"/>
            <a:ext cx="2991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谢  谢！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8" y="371394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977888" y="2370207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237"/>
            <a:ext cx="2504128" cy="5106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矩形 6"/>
          <p:cNvSpPr/>
          <p:nvPr/>
        </p:nvSpPr>
        <p:spPr bwMode="auto">
          <a:xfrm>
            <a:off x="-1591128" y="1081087"/>
            <a:ext cx="1262744" cy="6096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  <p:sp>
        <p:nvSpPr>
          <p:cNvPr id="3" name="矩形 7"/>
          <p:cNvSpPr/>
          <p:nvPr/>
        </p:nvSpPr>
        <p:spPr bwMode="auto">
          <a:xfrm>
            <a:off x="-1591128" y="1922916"/>
            <a:ext cx="1262744" cy="60960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  <p:sp>
        <p:nvSpPr>
          <p:cNvPr id="7" name="矩形 8"/>
          <p:cNvSpPr/>
          <p:nvPr/>
        </p:nvSpPr>
        <p:spPr bwMode="auto">
          <a:xfrm>
            <a:off x="-1591128" y="2764745"/>
            <a:ext cx="1262744" cy="6096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  <p:sp>
        <p:nvSpPr>
          <p:cNvPr id="8" name="矩形 9"/>
          <p:cNvSpPr/>
          <p:nvPr/>
        </p:nvSpPr>
        <p:spPr bwMode="auto">
          <a:xfrm>
            <a:off x="-1591128" y="3606574"/>
            <a:ext cx="1262744" cy="60960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  <p:sp>
        <p:nvSpPr>
          <p:cNvPr id="9" name="矩形 10"/>
          <p:cNvSpPr/>
          <p:nvPr/>
        </p:nvSpPr>
        <p:spPr bwMode="auto">
          <a:xfrm>
            <a:off x="-1591128" y="4448404"/>
            <a:ext cx="1262744" cy="6096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  <p:sp>
        <p:nvSpPr>
          <p:cNvPr id="10" name="矩形 11"/>
          <p:cNvSpPr/>
          <p:nvPr/>
        </p:nvSpPr>
        <p:spPr bwMode="auto">
          <a:xfrm>
            <a:off x="-1591128" y="5290232"/>
            <a:ext cx="1262744" cy="609601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297" y="237"/>
            <a:ext cx="2504128" cy="510696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306429" y="631306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0" Type="http://schemas.openxmlformats.org/officeDocument/2006/relationships/notesSlide" Target="../notesSlides/notesSlide3.xml"/><Relationship Id="rId3" Type="http://schemas.openxmlformats.org/officeDocument/2006/relationships/tags" Target="../tags/tag8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Relationship Id="rId3" Type="http://schemas.openxmlformats.org/officeDocument/2006/relationships/audio" Target="../media/audio1.wav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9.xml"/><Relationship Id="rId4" Type="http://schemas.openxmlformats.org/officeDocument/2006/relationships/audio" Target="../media/audio1.wav"/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6.xml"/><Relationship Id="rId3" Type="http://schemas.openxmlformats.org/officeDocument/2006/relationships/image" Target="../media/image33.png"/><Relationship Id="rId2" Type="http://schemas.openxmlformats.org/officeDocument/2006/relationships/tags" Target="../tags/tag35.xml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image" Target="../media/image40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53.xml"/><Relationship Id="rId3" Type="http://schemas.openxmlformats.org/officeDocument/2006/relationships/image" Target="../media/image45.png"/><Relationship Id="rId2" Type="http://schemas.openxmlformats.org/officeDocument/2006/relationships/tags" Target="../tags/tag52.xml"/><Relationship Id="rId1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5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tags" Target="../tags/tag56.xml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9.xml"/><Relationship Id="rId4" Type="http://schemas.openxmlformats.org/officeDocument/2006/relationships/image" Target="../media/image54.png"/><Relationship Id="rId3" Type="http://schemas.openxmlformats.org/officeDocument/2006/relationships/tags" Target="../tags/tag58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1.xml"/><Relationship Id="rId3" Type="http://schemas.openxmlformats.org/officeDocument/2006/relationships/image" Target="../media/image56.png"/><Relationship Id="rId2" Type="http://schemas.openxmlformats.org/officeDocument/2006/relationships/tags" Target="../tags/tag60.xml"/><Relationship Id="rId1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57.png"/><Relationship Id="rId1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7.xml"/><Relationship Id="rId3" Type="http://schemas.openxmlformats.org/officeDocument/2006/relationships/image" Target="../media/image61.png"/><Relationship Id="rId2" Type="http://schemas.openxmlformats.org/officeDocument/2006/relationships/tags" Target="../tags/tag66.xml"/><Relationship Id="rId1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5.xml"/><Relationship Id="rId3" Type="http://schemas.openxmlformats.org/officeDocument/2006/relationships/image" Target="../media/image68.png"/><Relationship Id="rId2" Type="http://schemas.openxmlformats.org/officeDocument/2006/relationships/tags" Target="../tags/tag74.xml"/><Relationship Id="rId1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7.xml"/><Relationship Id="rId3" Type="http://schemas.openxmlformats.org/officeDocument/2006/relationships/image" Target="../media/image70.png"/><Relationship Id="rId2" Type="http://schemas.openxmlformats.org/officeDocument/2006/relationships/tags" Target="../tags/tag76.xml"/><Relationship Id="rId1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9.xml"/><Relationship Id="rId3" Type="http://schemas.openxmlformats.org/officeDocument/2006/relationships/image" Target="../media/image72.png"/><Relationship Id="rId2" Type="http://schemas.openxmlformats.org/officeDocument/2006/relationships/tags" Target="../tags/tag78.xml"/><Relationship Id="rId1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81.xml"/><Relationship Id="rId3" Type="http://schemas.openxmlformats.org/officeDocument/2006/relationships/image" Target="../media/image45.png"/><Relationship Id="rId2" Type="http://schemas.openxmlformats.org/officeDocument/2006/relationships/tags" Target="../tags/tag80.xml"/><Relationship Id="rId1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8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tags" Target="../tags/tag84.xml"/><Relationship Id="rId1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87.xml"/><Relationship Id="rId4" Type="http://schemas.openxmlformats.org/officeDocument/2006/relationships/image" Target="../media/image54.png"/><Relationship Id="rId3" Type="http://schemas.openxmlformats.org/officeDocument/2006/relationships/tags" Target="../tags/tag86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1.xml"/><Relationship Id="rId3" Type="http://schemas.openxmlformats.org/officeDocument/2006/relationships/image" Target="../media/image78.png"/><Relationship Id="rId2" Type="http://schemas.openxmlformats.org/officeDocument/2006/relationships/tags" Target="../tags/tag90.xml"/><Relationship Id="rId1" Type="http://schemas.openxmlformats.org/officeDocument/2006/relationships/image" Target="../media/image77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image" Target="../media/image7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5.xml"/><Relationship Id="rId3" Type="http://schemas.openxmlformats.org/officeDocument/2006/relationships/image" Target="../media/image81.png"/><Relationship Id="rId2" Type="http://schemas.openxmlformats.org/officeDocument/2006/relationships/tags" Target="../tags/tag94.xml"/><Relationship Id="rId1" Type="http://schemas.openxmlformats.org/officeDocument/2006/relationships/image" Target="../media/image80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82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9.xml"/><Relationship Id="rId3" Type="http://schemas.openxmlformats.org/officeDocument/2006/relationships/image" Target="../media/image84.png"/><Relationship Id="rId2" Type="http://schemas.openxmlformats.org/officeDocument/2006/relationships/tags" Target="../tags/tag98.xml"/><Relationship Id="rId1" Type="http://schemas.openxmlformats.org/officeDocument/2006/relationships/image" Target="../media/image83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0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image" Target="../media/image87.png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4.xml"/><Relationship Id="rId3" Type="http://schemas.openxmlformats.org/officeDocument/2006/relationships/image" Target="../media/image89.png"/><Relationship Id="rId2" Type="http://schemas.openxmlformats.org/officeDocument/2006/relationships/tags" Target="../tags/tag103.xml"/><Relationship Id="rId1" Type="http://schemas.openxmlformats.org/officeDocument/2006/relationships/image" Target="../media/image88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06.xml"/><Relationship Id="rId3" Type="http://schemas.openxmlformats.org/officeDocument/2006/relationships/image" Target="../media/image2.png"/><Relationship Id="rId2" Type="http://schemas.openxmlformats.org/officeDocument/2006/relationships/tags" Target="../tags/tag10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/>
            <a:fld id="{9A0DB2DC-4C9A-4742-B13C-FB6460FD3503}" type="slidenum">
              <a:rPr lang="zh-CN" altLang="en-US">
                <a:latin typeface="Calibri" panose="020F0502020204030204" charset="0"/>
                <a:ea typeface="Calibri" panose="020F0502020204030204" charset="0"/>
              </a:rPr>
            </a:fld>
            <a:endParaRPr lang="zh-CN" altLang="en-US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0" y="3368675"/>
            <a:ext cx="3834130" cy="1108710"/>
          </a:xfrm>
        </p:spPr>
        <p:txBody>
          <a:bodyPr>
            <a:noAutofit/>
          </a:bodyPr>
          <a:p>
            <a:pPr marL="0" indent="0">
              <a:buNone/>
            </a:pPr>
            <a:r>
              <a:rPr kumimoji="1" lang="zh-CN" altLang="en-US" sz="2000" b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供应商端</a:t>
            </a:r>
            <a:endParaRPr kumimoji="1" lang="zh-CN" altLang="en-US" sz="20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7670" y="2348865"/>
            <a:ext cx="49123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线上保理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操作手册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6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1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业务流程简介</a:t>
            </a:r>
            <a:endParaRPr lang="zh-CN" altLang="en-US" sz="2000" b="1" kern="0" dirty="0" err="1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3728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 charset="0"/>
              <a:buNone/>
            </a:pPr>
            <a:endParaRPr lang="zh-CN" altLang="en-US" sz="1200" kern="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5" name="电话"/>
          <p:cNvSpPr/>
          <p:nvPr/>
        </p:nvSpPr>
        <p:spPr bwMode="auto">
          <a:xfrm>
            <a:off x="535775" y="1262375"/>
            <a:ext cx="308491" cy="635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8" y="0"/>
                </a:moveTo>
                <a:cubicBezTo>
                  <a:pt x="934" y="0"/>
                  <a:pt x="0" y="453"/>
                  <a:pt x="0" y="1004"/>
                </a:cubicBezTo>
                <a:lnTo>
                  <a:pt x="0" y="20596"/>
                </a:lnTo>
                <a:cubicBezTo>
                  <a:pt x="0" y="21152"/>
                  <a:pt x="934" y="21600"/>
                  <a:pt x="2068" y="21600"/>
                </a:cubicBezTo>
                <a:lnTo>
                  <a:pt x="19532" y="21600"/>
                </a:lnTo>
                <a:cubicBezTo>
                  <a:pt x="20666" y="21600"/>
                  <a:pt x="21600" y="21147"/>
                  <a:pt x="21600" y="20596"/>
                </a:cubicBezTo>
                <a:lnTo>
                  <a:pt x="21600" y="1004"/>
                </a:lnTo>
                <a:cubicBezTo>
                  <a:pt x="21600" y="453"/>
                  <a:pt x="20677" y="0"/>
                  <a:pt x="19532" y="0"/>
                </a:cubicBezTo>
                <a:lnTo>
                  <a:pt x="2068" y="0"/>
                </a:lnTo>
                <a:close/>
                <a:moveTo>
                  <a:pt x="9142" y="1350"/>
                </a:moveTo>
                <a:lnTo>
                  <a:pt x="12468" y="1350"/>
                </a:lnTo>
                <a:cubicBezTo>
                  <a:pt x="12758" y="1350"/>
                  <a:pt x="12990" y="1463"/>
                  <a:pt x="12990" y="1604"/>
                </a:cubicBezTo>
                <a:cubicBezTo>
                  <a:pt x="12990" y="1744"/>
                  <a:pt x="12758" y="1858"/>
                  <a:pt x="12468" y="1858"/>
                </a:cubicBezTo>
                <a:lnTo>
                  <a:pt x="9142" y="1858"/>
                </a:lnTo>
                <a:cubicBezTo>
                  <a:pt x="8853" y="1858"/>
                  <a:pt x="8621" y="1744"/>
                  <a:pt x="8621" y="1604"/>
                </a:cubicBezTo>
                <a:cubicBezTo>
                  <a:pt x="8621" y="1463"/>
                  <a:pt x="8853" y="1350"/>
                  <a:pt x="9142" y="1350"/>
                </a:cubicBezTo>
                <a:close/>
                <a:moveTo>
                  <a:pt x="1477" y="2927"/>
                </a:moveTo>
                <a:lnTo>
                  <a:pt x="20123" y="2927"/>
                </a:lnTo>
                <a:lnTo>
                  <a:pt x="20123" y="18985"/>
                </a:lnTo>
                <a:lnTo>
                  <a:pt x="1477" y="18985"/>
                </a:lnTo>
                <a:lnTo>
                  <a:pt x="1477" y="2927"/>
                </a:lnTo>
                <a:close/>
              </a:path>
            </a:pathLst>
          </a:custGeom>
          <a:solidFill>
            <a:srgbClr val="FF9401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融易单"/>
          <p:cNvSpPr/>
          <p:nvPr/>
        </p:nvSpPr>
        <p:spPr bwMode="auto">
          <a:xfrm>
            <a:off x="479702" y="765227"/>
            <a:ext cx="1499870" cy="306705"/>
          </a:xfrm>
          <a:prstGeom prst="rect">
            <a:avLst/>
          </a:prstGeom>
          <a:solidFill>
            <a:srgbClr val="FF9401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zh-CN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平台注册建档</a:t>
            </a:r>
            <a:endParaRPr lang="zh-CN" sz="14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8" name="线条"/>
          <p:cNvSpPr/>
          <p:nvPr/>
        </p:nvSpPr>
        <p:spPr bwMode="auto">
          <a:xfrm>
            <a:off x="915071" y="1681626"/>
            <a:ext cx="274522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上传账户资料、输入收款账户信息"/>
          <p:cNvSpPr/>
          <p:nvPr/>
        </p:nvSpPr>
        <p:spPr bwMode="auto">
          <a:xfrm>
            <a:off x="1333500" y="1291590"/>
            <a:ext cx="185864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>
              <a:lnSpc>
                <a:spcPct val="100000"/>
              </a:lnSpc>
              <a:defRPr sz="13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00" kern="0">
                <a:solidFill>
                  <a:srgbClr val="000000"/>
                </a:solidFill>
                <a:cs typeface="Helvetica"/>
              </a:rPr>
              <a:t>注册并提交建档资料</a:t>
            </a:r>
            <a:endParaRPr lang="zh-CN" sz="1200" kern="0">
              <a:solidFill>
                <a:srgbClr val="000000"/>
              </a:solidFill>
              <a:cs typeface="Helvetica"/>
            </a:endParaRPr>
          </a:p>
        </p:txBody>
      </p:sp>
      <p:sp>
        <p:nvSpPr>
          <p:cNvPr id="11" name="钥匙"/>
          <p:cNvSpPr/>
          <p:nvPr/>
        </p:nvSpPr>
        <p:spPr bwMode="auto">
          <a:xfrm>
            <a:off x="6024769" y="1433540"/>
            <a:ext cx="131138" cy="304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6" y="0"/>
                  <a:pt x="0" y="2080"/>
                  <a:pt x="0" y="4646"/>
                </a:cubicBezTo>
                <a:cubicBezTo>
                  <a:pt x="0" y="6406"/>
                  <a:pt x="2275" y="7936"/>
                  <a:pt x="5629" y="8724"/>
                </a:cubicBezTo>
                <a:lnTo>
                  <a:pt x="5629" y="10112"/>
                </a:lnTo>
                <a:lnTo>
                  <a:pt x="7250" y="10112"/>
                </a:lnTo>
                <a:lnTo>
                  <a:pt x="7250" y="20420"/>
                </a:lnTo>
                <a:lnTo>
                  <a:pt x="10804" y="21600"/>
                </a:lnTo>
                <a:lnTo>
                  <a:pt x="13009" y="20420"/>
                </a:lnTo>
                <a:lnTo>
                  <a:pt x="14362" y="19712"/>
                </a:lnTo>
                <a:lnTo>
                  <a:pt x="13009" y="19092"/>
                </a:lnTo>
                <a:lnTo>
                  <a:pt x="13013" y="18588"/>
                </a:lnTo>
                <a:lnTo>
                  <a:pt x="14397" y="17726"/>
                </a:lnTo>
                <a:lnTo>
                  <a:pt x="13016" y="16890"/>
                </a:lnTo>
                <a:lnTo>
                  <a:pt x="13016" y="16332"/>
                </a:lnTo>
                <a:lnTo>
                  <a:pt x="14397" y="15473"/>
                </a:lnTo>
                <a:lnTo>
                  <a:pt x="13013" y="14634"/>
                </a:lnTo>
                <a:lnTo>
                  <a:pt x="13013" y="14082"/>
                </a:lnTo>
                <a:lnTo>
                  <a:pt x="14397" y="13220"/>
                </a:lnTo>
                <a:lnTo>
                  <a:pt x="13009" y="12380"/>
                </a:lnTo>
                <a:lnTo>
                  <a:pt x="13009" y="11885"/>
                </a:lnTo>
                <a:lnTo>
                  <a:pt x="13064" y="11753"/>
                </a:lnTo>
                <a:lnTo>
                  <a:pt x="14566" y="10665"/>
                </a:lnTo>
                <a:lnTo>
                  <a:pt x="14566" y="10112"/>
                </a:lnTo>
                <a:lnTo>
                  <a:pt x="15970" y="10112"/>
                </a:lnTo>
                <a:lnTo>
                  <a:pt x="15970" y="8724"/>
                </a:lnTo>
                <a:cubicBezTo>
                  <a:pt x="19325" y="7936"/>
                  <a:pt x="21600" y="6406"/>
                  <a:pt x="21600" y="4646"/>
                </a:cubicBezTo>
                <a:cubicBezTo>
                  <a:pt x="21600" y="2080"/>
                  <a:pt x="16764" y="0"/>
                  <a:pt x="10800" y="0"/>
                </a:cubicBezTo>
                <a:close/>
                <a:moveTo>
                  <a:pt x="10800" y="1183"/>
                </a:moveTo>
                <a:cubicBezTo>
                  <a:pt x="12161" y="1183"/>
                  <a:pt x="13264" y="1657"/>
                  <a:pt x="13264" y="2243"/>
                </a:cubicBezTo>
                <a:cubicBezTo>
                  <a:pt x="13264" y="2828"/>
                  <a:pt x="12161" y="3302"/>
                  <a:pt x="10800" y="3302"/>
                </a:cubicBezTo>
                <a:cubicBezTo>
                  <a:pt x="9439" y="3302"/>
                  <a:pt x="8336" y="2828"/>
                  <a:pt x="8336" y="2243"/>
                </a:cubicBezTo>
                <a:cubicBezTo>
                  <a:pt x="8336" y="1657"/>
                  <a:pt x="9439" y="1183"/>
                  <a:pt x="10800" y="1183"/>
                </a:cubicBez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Dingbat 勾号"/>
          <p:cNvSpPr/>
          <p:nvPr/>
        </p:nvSpPr>
        <p:spPr bwMode="auto">
          <a:xfrm>
            <a:off x="10766688" y="1435201"/>
            <a:ext cx="280661" cy="2667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rgbClr val="FF0000"/>
          </a:solidFill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线条"/>
          <p:cNvSpPr/>
          <p:nvPr/>
        </p:nvSpPr>
        <p:spPr bwMode="auto">
          <a:xfrm>
            <a:off x="4826677" y="1613532"/>
            <a:ext cx="1119032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生成密钥"/>
          <p:cNvSpPr/>
          <p:nvPr/>
        </p:nvSpPr>
        <p:spPr bwMode="auto">
          <a:xfrm>
            <a:off x="6215044" y="1426197"/>
            <a:ext cx="82270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生成密钥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6" name="激活账户"/>
          <p:cNvSpPr/>
          <p:nvPr/>
        </p:nvSpPr>
        <p:spPr bwMode="auto">
          <a:xfrm>
            <a:off x="5015906" y="1255184"/>
            <a:ext cx="888752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激活账户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7" name="线条"/>
          <p:cNvSpPr/>
          <p:nvPr/>
        </p:nvSpPr>
        <p:spPr bwMode="auto">
          <a:xfrm>
            <a:off x="2714804" y="3396920"/>
            <a:ext cx="513630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Freeform 15"/>
          <p:cNvSpPr/>
          <p:nvPr/>
        </p:nvSpPr>
        <p:spPr bwMode="auto">
          <a:xfrm>
            <a:off x="544583" y="3139022"/>
            <a:ext cx="299822" cy="442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00" y="1964"/>
                </a:moveTo>
                <a:cubicBezTo>
                  <a:pt x="2400" y="18327"/>
                  <a:pt x="2400" y="18327"/>
                  <a:pt x="2400" y="18327"/>
                </a:cubicBezTo>
                <a:cubicBezTo>
                  <a:pt x="15600" y="18327"/>
                  <a:pt x="15600" y="18327"/>
                  <a:pt x="15600" y="18327"/>
                </a:cubicBezTo>
                <a:cubicBezTo>
                  <a:pt x="15600" y="17018"/>
                  <a:pt x="15600" y="17018"/>
                  <a:pt x="15600" y="17018"/>
                </a:cubicBezTo>
                <a:cubicBezTo>
                  <a:pt x="16800" y="17018"/>
                  <a:pt x="16800" y="17018"/>
                  <a:pt x="16800" y="17018"/>
                </a:cubicBezTo>
                <a:cubicBezTo>
                  <a:pt x="16000" y="15382"/>
                  <a:pt x="16000" y="15382"/>
                  <a:pt x="16000" y="15382"/>
                </a:cubicBezTo>
                <a:cubicBezTo>
                  <a:pt x="18000" y="15382"/>
                  <a:pt x="18000" y="15382"/>
                  <a:pt x="18000" y="15382"/>
                </a:cubicBezTo>
                <a:cubicBezTo>
                  <a:pt x="18000" y="20945"/>
                  <a:pt x="18000" y="20945"/>
                  <a:pt x="18000" y="20945"/>
                </a:cubicBezTo>
                <a:cubicBezTo>
                  <a:pt x="18000" y="21273"/>
                  <a:pt x="17600" y="21600"/>
                  <a:pt x="16800" y="21600"/>
                </a:cubicBezTo>
                <a:cubicBezTo>
                  <a:pt x="800" y="21600"/>
                  <a:pt x="800" y="21600"/>
                  <a:pt x="800" y="21600"/>
                </a:cubicBezTo>
                <a:cubicBezTo>
                  <a:pt x="400" y="21600"/>
                  <a:pt x="0" y="21273"/>
                  <a:pt x="0" y="20945"/>
                </a:cubicBezTo>
                <a:cubicBezTo>
                  <a:pt x="0" y="982"/>
                  <a:pt x="0" y="982"/>
                  <a:pt x="0" y="982"/>
                </a:cubicBezTo>
                <a:cubicBezTo>
                  <a:pt x="0" y="327"/>
                  <a:pt x="400" y="0"/>
                  <a:pt x="800" y="0"/>
                </a:cubicBezTo>
                <a:cubicBezTo>
                  <a:pt x="800" y="0"/>
                  <a:pt x="800" y="0"/>
                  <a:pt x="800" y="0"/>
                </a:cubicBezTo>
                <a:cubicBezTo>
                  <a:pt x="16800" y="0"/>
                  <a:pt x="16800" y="0"/>
                  <a:pt x="16800" y="0"/>
                </a:cubicBezTo>
                <a:cubicBezTo>
                  <a:pt x="17600" y="0"/>
                  <a:pt x="18000" y="327"/>
                  <a:pt x="18000" y="982"/>
                </a:cubicBezTo>
                <a:cubicBezTo>
                  <a:pt x="18000" y="3600"/>
                  <a:pt x="18000" y="3600"/>
                  <a:pt x="18000" y="3600"/>
                </a:cubicBezTo>
                <a:cubicBezTo>
                  <a:pt x="15600" y="3600"/>
                  <a:pt x="15600" y="3600"/>
                  <a:pt x="15600" y="3600"/>
                </a:cubicBezTo>
                <a:cubicBezTo>
                  <a:pt x="15600" y="1964"/>
                  <a:pt x="15600" y="1964"/>
                  <a:pt x="15600" y="1964"/>
                </a:cubicBezTo>
                <a:cubicBezTo>
                  <a:pt x="2400" y="1964"/>
                  <a:pt x="2400" y="1964"/>
                  <a:pt x="2400" y="1964"/>
                </a:cubicBezTo>
                <a:close/>
                <a:moveTo>
                  <a:pt x="9200" y="7200"/>
                </a:moveTo>
                <a:cubicBezTo>
                  <a:pt x="9200" y="7200"/>
                  <a:pt x="8800" y="7200"/>
                  <a:pt x="8800" y="7200"/>
                </a:cubicBezTo>
                <a:cubicBezTo>
                  <a:pt x="14800" y="10800"/>
                  <a:pt x="14800" y="10800"/>
                  <a:pt x="14800" y="10800"/>
                </a:cubicBezTo>
                <a:cubicBezTo>
                  <a:pt x="20800" y="7200"/>
                  <a:pt x="20800" y="7200"/>
                  <a:pt x="20800" y="7200"/>
                </a:cubicBezTo>
                <a:cubicBezTo>
                  <a:pt x="20800" y="7200"/>
                  <a:pt x="20800" y="7200"/>
                  <a:pt x="20400" y="7200"/>
                </a:cubicBezTo>
                <a:cubicBezTo>
                  <a:pt x="9200" y="7200"/>
                  <a:pt x="9200" y="7200"/>
                  <a:pt x="9200" y="7200"/>
                </a:cubicBezTo>
                <a:close/>
                <a:moveTo>
                  <a:pt x="7200" y="10145"/>
                </a:moveTo>
                <a:cubicBezTo>
                  <a:pt x="7600" y="11127"/>
                  <a:pt x="7600" y="11127"/>
                  <a:pt x="7600" y="11127"/>
                </a:cubicBezTo>
                <a:cubicBezTo>
                  <a:pt x="8000" y="11127"/>
                  <a:pt x="8000" y="11127"/>
                  <a:pt x="8000" y="11127"/>
                </a:cubicBezTo>
                <a:cubicBezTo>
                  <a:pt x="8000" y="12436"/>
                  <a:pt x="8000" y="12436"/>
                  <a:pt x="8000" y="12436"/>
                </a:cubicBezTo>
                <a:cubicBezTo>
                  <a:pt x="4800" y="12436"/>
                  <a:pt x="4800" y="12436"/>
                  <a:pt x="4800" y="12436"/>
                </a:cubicBezTo>
                <a:cubicBezTo>
                  <a:pt x="5200" y="13091"/>
                  <a:pt x="5200" y="13091"/>
                  <a:pt x="5200" y="13091"/>
                </a:cubicBezTo>
                <a:cubicBezTo>
                  <a:pt x="8000" y="13091"/>
                  <a:pt x="8000" y="13091"/>
                  <a:pt x="8000" y="13091"/>
                </a:cubicBezTo>
                <a:cubicBezTo>
                  <a:pt x="8000" y="13418"/>
                  <a:pt x="8000" y="13418"/>
                  <a:pt x="8000" y="13418"/>
                </a:cubicBezTo>
                <a:cubicBezTo>
                  <a:pt x="12800" y="10800"/>
                  <a:pt x="12800" y="10800"/>
                  <a:pt x="12800" y="10800"/>
                </a:cubicBezTo>
                <a:cubicBezTo>
                  <a:pt x="8000" y="7855"/>
                  <a:pt x="8000" y="7855"/>
                  <a:pt x="8000" y="7855"/>
                </a:cubicBezTo>
                <a:cubicBezTo>
                  <a:pt x="8000" y="7855"/>
                  <a:pt x="8000" y="7855"/>
                  <a:pt x="8000" y="7855"/>
                </a:cubicBezTo>
                <a:cubicBezTo>
                  <a:pt x="8000" y="10145"/>
                  <a:pt x="8000" y="10145"/>
                  <a:pt x="8000" y="10145"/>
                </a:cubicBezTo>
                <a:cubicBezTo>
                  <a:pt x="7200" y="10145"/>
                  <a:pt x="7200" y="10145"/>
                  <a:pt x="7200" y="10145"/>
                </a:cubicBezTo>
                <a:close/>
                <a:moveTo>
                  <a:pt x="6800" y="15055"/>
                </a:moveTo>
                <a:cubicBezTo>
                  <a:pt x="7200" y="15709"/>
                  <a:pt x="7200" y="15709"/>
                  <a:pt x="7200" y="15709"/>
                </a:cubicBezTo>
                <a:cubicBezTo>
                  <a:pt x="14800" y="15709"/>
                  <a:pt x="14800" y="15709"/>
                  <a:pt x="14800" y="15709"/>
                </a:cubicBezTo>
                <a:cubicBezTo>
                  <a:pt x="14400" y="15055"/>
                  <a:pt x="14400" y="15055"/>
                  <a:pt x="14400" y="15055"/>
                </a:cubicBezTo>
                <a:cubicBezTo>
                  <a:pt x="6800" y="15055"/>
                  <a:pt x="6800" y="15055"/>
                  <a:pt x="6800" y="15055"/>
                </a:cubicBezTo>
                <a:close/>
                <a:moveTo>
                  <a:pt x="10000" y="4909"/>
                </a:moveTo>
                <a:cubicBezTo>
                  <a:pt x="10400" y="5564"/>
                  <a:pt x="10400" y="5564"/>
                  <a:pt x="10400" y="5564"/>
                </a:cubicBezTo>
                <a:cubicBezTo>
                  <a:pt x="5600" y="5564"/>
                  <a:pt x="5600" y="5564"/>
                  <a:pt x="5600" y="5564"/>
                </a:cubicBezTo>
                <a:cubicBezTo>
                  <a:pt x="6000" y="6545"/>
                  <a:pt x="6000" y="6545"/>
                  <a:pt x="6000" y="6545"/>
                </a:cubicBezTo>
                <a:cubicBezTo>
                  <a:pt x="14800" y="6545"/>
                  <a:pt x="14800" y="6545"/>
                  <a:pt x="14800" y="6545"/>
                </a:cubicBezTo>
                <a:cubicBezTo>
                  <a:pt x="14400" y="5564"/>
                  <a:pt x="14400" y="5564"/>
                  <a:pt x="14400" y="5564"/>
                </a:cubicBezTo>
                <a:cubicBezTo>
                  <a:pt x="18000" y="5564"/>
                  <a:pt x="18000" y="5564"/>
                  <a:pt x="18000" y="5564"/>
                </a:cubicBezTo>
                <a:cubicBezTo>
                  <a:pt x="17600" y="4909"/>
                  <a:pt x="17600" y="4909"/>
                  <a:pt x="17600" y="4909"/>
                </a:cubicBezTo>
                <a:cubicBezTo>
                  <a:pt x="10000" y="4909"/>
                  <a:pt x="10000" y="4909"/>
                  <a:pt x="10000" y="4909"/>
                </a:cubicBezTo>
                <a:close/>
                <a:moveTo>
                  <a:pt x="21600" y="7855"/>
                </a:moveTo>
                <a:cubicBezTo>
                  <a:pt x="17200" y="10800"/>
                  <a:pt x="17200" y="10800"/>
                  <a:pt x="17200" y="10800"/>
                </a:cubicBezTo>
                <a:cubicBezTo>
                  <a:pt x="21600" y="13418"/>
                  <a:pt x="21600" y="13418"/>
                  <a:pt x="21600" y="13418"/>
                </a:cubicBezTo>
                <a:cubicBezTo>
                  <a:pt x="21600" y="13418"/>
                  <a:pt x="21600" y="13091"/>
                  <a:pt x="21600" y="13091"/>
                </a:cubicBezTo>
                <a:cubicBezTo>
                  <a:pt x="21600" y="7855"/>
                  <a:pt x="21600" y="7855"/>
                  <a:pt x="21600" y="7855"/>
                </a:cubicBezTo>
                <a:cubicBezTo>
                  <a:pt x="21600" y="7855"/>
                  <a:pt x="21600" y="7855"/>
                  <a:pt x="21600" y="7855"/>
                </a:cubicBezTo>
                <a:close/>
                <a:moveTo>
                  <a:pt x="20800" y="14073"/>
                </a:moveTo>
                <a:cubicBezTo>
                  <a:pt x="16000" y="11127"/>
                  <a:pt x="16000" y="11127"/>
                  <a:pt x="16000" y="11127"/>
                </a:cubicBezTo>
                <a:cubicBezTo>
                  <a:pt x="15200" y="11782"/>
                  <a:pt x="15200" y="11782"/>
                  <a:pt x="15200" y="11782"/>
                </a:cubicBezTo>
                <a:cubicBezTo>
                  <a:pt x="14800" y="12109"/>
                  <a:pt x="14800" y="12109"/>
                  <a:pt x="14800" y="12109"/>
                </a:cubicBezTo>
                <a:cubicBezTo>
                  <a:pt x="14400" y="11782"/>
                  <a:pt x="14400" y="11782"/>
                  <a:pt x="14400" y="11782"/>
                </a:cubicBezTo>
                <a:cubicBezTo>
                  <a:pt x="13600" y="11455"/>
                  <a:pt x="13600" y="11455"/>
                  <a:pt x="13600" y="11455"/>
                </a:cubicBezTo>
                <a:cubicBezTo>
                  <a:pt x="9200" y="14073"/>
                  <a:pt x="9200" y="14073"/>
                  <a:pt x="9200" y="14073"/>
                </a:cubicBezTo>
                <a:cubicBezTo>
                  <a:pt x="9200" y="14073"/>
                  <a:pt x="9200" y="14073"/>
                  <a:pt x="9200" y="14073"/>
                </a:cubicBezTo>
                <a:cubicBezTo>
                  <a:pt x="20400" y="14073"/>
                  <a:pt x="20400" y="14073"/>
                  <a:pt x="20400" y="14073"/>
                </a:cubicBezTo>
                <a:cubicBezTo>
                  <a:pt x="20400" y="14073"/>
                  <a:pt x="20800" y="14073"/>
                  <a:pt x="20800" y="14073"/>
                </a:cubicBezTo>
                <a:close/>
                <a:moveTo>
                  <a:pt x="7200" y="19636"/>
                </a:moveTo>
                <a:cubicBezTo>
                  <a:pt x="6800" y="19636"/>
                  <a:pt x="6800" y="19636"/>
                  <a:pt x="6800" y="19964"/>
                </a:cubicBezTo>
                <a:cubicBezTo>
                  <a:pt x="6800" y="20291"/>
                  <a:pt x="6800" y="20291"/>
                  <a:pt x="6800" y="20291"/>
                </a:cubicBezTo>
                <a:cubicBezTo>
                  <a:pt x="6800" y="20291"/>
                  <a:pt x="6800" y="20618"/>
                  <a:pt x="7200" y="20618"/>
                </a:cubicBezTo>
                <a:cubicBezTo>
                  <a:pt x="10800" y="20618"/>
                  <a:pt x="10800" y="20618"/>
                  <a:pt x="10800" y="20618"/>
                </a:cubicBezTo>
                <a:cubicBezTo>
                  <a:pt x="10800" y="20618"/>
                  <a:pt x="11200" y="20291"/>
                  <a:pt x="11200" y="20291"/>
                </a:cubicBezTo>
                <a:cubicBezTo>
                  <a:pt x="11200" y="19964"/>
                  <a:pt x="11200" y="19964"/>
                  <a:pt x="11200" y="19964"/>
                </a:cubicBezTo>
                <a:cubicBezTo>
                  <a:pt x="11200" y="19636"/>
                  <a:pt x="10800" y="19636"/>
                  <a:pt x="10800" y="19636"/>
                </a:cubicBezTo>
                <a:lnTo>
                  <a:pt x="7200" y="19636"/>
                </a:lnTo>
                <a:close/>
              </a:path>
            </a:pathLst>
          </a:custGeom>
          <a:solidFill>
            <a:srgbClr val="FF940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21" name="线条"/>
          <p:cNvSpPr/>
          <p:nvPr/>
        </p:nvSpPr>
        <p:spPr bwMode="auto">
          <a:xfrm>
            <a:off x="915765" y="3407454"/>
            <a:ext cx="789940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登陆账号"/>
          <p:cNvSpPr/>
          <p:nvPr/>
        </p:nvSpPr>
        <p:spPr bwMode="auto">
          <a:xfrm>
            <a:off x="915764" y="3032161"/>
            <a:ext cx="87543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登录账号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23" name="电话"/>
          <p:cNvSpPr/>
          <p:nvPr/>
        </p:nvSpPr>
        <p:spPr bwMode="auto">
          <a:xfrm>
            <a:off x="1757680" y="3138805"/>
            <a:ext cx="210820" cy="4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8" y="0"/>
                </a:moveTo>
                <a:cubicBezTo>
                  <a:pt x="934" y="0"/>
                  <a:pt x="0" y="453"/>
                  <a:pt x="0" y="1004"/>
                </a:cubicBezTo>
                <a:lnTo>
                  <a:pt x="0" y="20596"/>
                </a:lnTo>
                <a:cubicBezTo>
                  <a:pt x="0" y="21152"/>
                  <a:pt x="934" y="21600"/>
                  <a:pt x="2068" y="21600"/>
                </a:cubicBezTo>
                <a:lnTo>
                  <a:pt x="19532" y="21600"/>
                </a:lnTo>
                <a:cubicBezTo>
                  <a:pt x="20666" y="21600"/>
                  <a:pt x="21600" y="21147"/>
                  <a:pt x="21600" y="20596"/>
                </a:cubicBezTo>
                <a:lnTo>
                  <a:pt x="21600" y="1004"/>
                </a:lnTo>
                <a:cubicBezTo>
                  <a:pt x="21600" y="453"/>
                  <a:pt x="20677" y="0"/>
                  <a:pt x="19532" y="0"/>
                </a:cubicBezTo>
                <a:lnTo>
                  <a:pt x="2068" y="0"/>
                </a:lnTo>
                <a:close/>
                <a:moveTo>
                  <a:pt x="9142" y="1350"/>
                </a:moveTo>
                <a:lnTo>
                  <a:pt x="12468" y="1350"/>
                </a:lnTo>
                <a:cubicBezTo>
                  <a:pt x="12758" y="1350"/>
                  <a:pt x="12990" y="1463"/>
                  <a:pt x="12990" y="1604"/>
                </a:cubicBezTo>
                <a:cubicBezTo>
                  <a:pt x="12990" y="1744"/>
                  <a:pt x="12758" y="1858"/>
                  <a:pt x="12468" y="1858"/>
                </a:cubicBezTo>
                <a:lnTo>
                  <a:pt x="9142" y="1858"/>
                </a:lnTo>
                <a:cubicBezTo>
                  <a:pt x="8853" y="1858"/>
                  <a:pt x="8621" y="1744"/>
                  <a:pt x="8621" y="1604"/>
                </a:cubicBezTo>
                <a:cubicBezTo>
                  <a:pt x="8621" y="1463"/>
                  <a:pt x="8853" y="1350"/>
                  <a:pt x="9142" y="1350"/>
                </a:cubicBezTo>
                <a:close/>
                <a:moveTo>
                  <a:pt x="1477" y="2927"/>
                </a:moveTo>
                <a:lnTo>
                  <a:pt x="20123" y="2927"/>
                </a:lnTo>
                <a:lnTo>
                  <a:pt x="20123" y="18985"/>
                </a:lnTo>
                <a:lnTo>
                  <a:pt x="1477" y="18985"/>
                </a:lnTo>
                <a:lnTo>
                  <a:pt x="1477" y="2927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电脑"/>
          <p:cNvSpPr/>
          <p:nvPr/>
        </p:nvSpPr>
        <p:spPr bwMode="auto">
          <a:xfrm>
            <a:off x="2044700" y="3138805"/>
            <a:ext cx="537845" cy="4464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" name="成组"/>
          <p:cNvGrpSpPr/>
          <p:nvPr/>
        </p:nvGrpSpPr>
        <p:grpSpPr bwMode="auto">
          <a:xfrm>
            <a:off x="3256662" y="3005491"/>
            <a:ext cx="379731" cy="507976"/>
            <a:chOff x="0" y="0"/>
            <a:chExt cx="379730" cy="507975"/>
          </a:xfrm>
          <a:solidFill>
            <a:srgbClr val="2864FF"/>
          </a:solidFill>
        </p:grpSpPr>
        <p:sp>
          <p:nvSpPr>
            <p:cNvPr id="26" name="Rectangle 22"/>
            <p:cNvSpPr/>
            <p:nvPr/>
          </p:nvSpPr>
          <p:spPr bwMode="auto">
            <a:xfrm>
              <a:off x="146033" y="175151"/>
              <a:ext cx="192377" cy="21158"/>
            </a:xfrm>
            <a:prstGeom prst="rect">
              <a:avLst/>
            </a:pr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Rectangle 23"/>
            <p:cNvSpPr/>
            <p:nvPr/>
          </p:nvSpPr>
          <p:spPr bwMode="auto">
            <a:xfrm>
              <a:off x="147388" y="228859"/>
              <a:ext cx="192377" cy="21158"/>
            </a:xfrm>
            <a:prstGeom prst="rect">
              <a:avLst/>
            </a:pr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107422" y="117375"/>
              <a:ext cx="272309" cy="390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630"/>
                  </a:lnTo>
                  <a:lnTo>
                    <a:pt x="2042" y="4770"/>
                  </a:lnTo>
                  <a:lnTo>
                    <a:pt x="2042" y="1665"/>
                  </a:lnTo>
                  <a:lnTo>
                    <a:pt x="19612" y="1665"/>
                  </a:lnTo>
                  <a:lnTo>
                    <a:pt x="19612" y="19890"/>
                  </a:lnTo>
                  <a:lnTo>
                    <a:pt x="5964" y="19890"/>
                  </a:lnTo>
                  <a:lnTo>
                    <a:pt x="5964" y="20025"/>
                  </a:lnTo>
                  <a:lnTo>
                    <a:pt x="5857" y="19890"/>
                  </a:lnTo>
                  <a:lnTo>
                    <a:pt x="2042" y="19890"/>
                  </a:lnTo>
                  <a:lnTo>
                    <a:pt x="2042" y="16830"/>
                  </a:lnTo>
                  <a:lnTo>
                    <a:pt x="376" y="15525"/>
                  </a:lnTo>
                  <a:lnTo>
                    <a:pt x="0" y="1521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57548" y="276870"/>
              <a:ext cx="180863" cy="2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89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76515" y="330576"/>
              <a:ext cx="165282" cy="2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1239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Freeform 27"/>
            <p:cNvSpPr/>
            <p:nvPr/>
          </p:nvSpPr>
          <p:spPr bwMode="auto">
            <a:xfrm>
              <a:off x="184643" y="373706"/>
              <a:ext cx="155121" cy="2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89" y="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Freeform 28"/>
            <p:cNvSpPr/>
            <p:nvPr/>
          </p:nvSpPr>
          <p:spPr bwMode="auto">
            <a:xfrm>
              <a:off x="116905" y="361500"/>
              <a:ext cx="60966" cy="96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40" y="21600"/>
                  </a:moveTo>
                  <a:lnTo>
                    <a:pt x="21600" y="0"/>
                  </a:lnTo>
                  <a:lnTo>
                    <a:pt x="0" y="6534"/>
                  </a:lnTo>
                  <a:lnTo>
                    <a:pt x="20640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Freeform 29"/>
            <p:cNvSpPr/>
            <p:nvPr/>
          </p:nvSpPr>
          <p:spPr bwMode="auto">
            <a:xfrm>
              <a:off x="-1" y="-1"/>
              <a:ext cx="74233" cy="84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4" h="20459" extrusionOk="0">
                  <a:moveTo>
                    <a:pt x="17164" y="4494"/>
                  </a:moveTo>
                  <a:cubicBezTo>
                    <a:pt x="15814" y="737"/>
                    <a:pt x="11764" y="-1141"/>
                    <a:pt x="8164" y="737"/>
                  </a:cubicBezTo>
                  <a:cubicBezTo>
                    <a:pt x="4114" y="2146"/>
                    <a:pt x="4114" y="2146"/>
                    <a:pt x="4114" y="2146"/>
                  </a:cubicBezTo>
                  <a:cubicBezTo>
                    <a:pt x="514" y="4024"/>
                    <a:pt x="-836" y="8250"/>
                    <a:pt x="514" y="12007"/>
                  </a:cubicBezTo>
                  <a:cubicBezTo>
                    <a:pt x="3664" y="20459"/>
                    <a:pt x="3664" y="20459"/>
                    <a:pt x="3664" y="20459"/>
                  </a:cubicBezTo>
                  <a:cubicBezTo>
                    <a:pt x="20764" y="13416"/>
                    <a:pt x="20764" y="13416"/>
                    <a:pt x="20764" y="13416"/>
                  </a:cubicBezTo>
                  <a:lnTo>
                    <a:pt x="17164" y="4494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Freeform 30"/>
            <p:cNvSpPr/>
            <p:nvPr/>
          </p:nvSpPr>
          <p:spPr bwMode="auto">
            <a:xfrm>
              <a:off x="182612" y="427414"/>
              <a:ext cx="159185" cy="2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276" y="0"/>
                  </a:lnTo>
                  <a:lnTo>
                    <a:pt x="0" y="2160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Freeform 31"/>
            <p:cNvSpPr/>
            <p:nvPr/>
          </p:nvSpPr>
          <p:spPr bwMode="auto">
            <a:xfrm>
              <a:off x="15976" y="62854"/>
              <a:ext cx="160540" cy="323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43"/>
                  </a:moveTo>
                  <a:cubicBezTo>
                    <a:pt x="8208" y="0"/>
                    <a:pt x="8208" y="0"/>
                    <a:pt x="8208" y="0"/>
                  </a:cubicBezTo>
                  <a:cubicBezTo>
                    <a:pt x="0" y="1929"/>
                    <a:pt x="0" y="1929"/>
                    <a:pt x="0" y="1929"/>
                  </a:cubicBezTo>
                  <a:cubicBezTo>
                    <a:pt x="13392" y="21600"/>
                    <a:pt x="13392" y="21600"/>
                    <a:pt x="13392" y="21600"/>
                  </a:cubicBezTo>
                  <a:lnTo>
                    <a:pt x="21600" y="19543"/>
                  </a:lnTo>
                  <a:close/>
                  <a:moveTo>
                    <a:pt x="7344" y="771"/>
                  </a:moveTo>
                  <a:cubicBezTo>
                    <a:pt x="16200" y="13757"/>
                    <a:pt x="16200" y="13757"/>
                    <a:pt x="16200" y="13757"/>
                  </a:cubicBezTo>
                  <a:cubicBezTo>
                    <a:pt x="16416" y="14271"/>
                    <a:pt x="16416" y="14657"/>
                    <a:pt x="15768" y="14786"/>
                  </a:cubicBezTo>
                  <a:cubicBezTo>
                    <a:pt x="15336" y="14914"/>
                    <a:pt x="14688" y="14657"/>
                    <a:pt x="14472" y="14271"/>
                  </a:cubicBezTo>
                  <a:cubicBezTo>
                    <a:pt x="5400" y="1286"/>
                    <a:pt x="5400" y="1286"/>
                    <a:pt x="5400" y="1286"/>
                  </a:cubicBezTo>
                  <a:lnTo>
                    <a:pt x="7344" y="771"/>
                  </a:lnTo>
                  <a:close/>
                  <a:moveTo>
                    <a:pt x="12096" y="15686"/>
                  </a:moveTo>
                  <a:cubicBezTo>
                    <a:pt x="11664" y="15814"/>
                    <a:pt x="11016" y="15557"/>
                    <a:pt x="10800" y="15171"/>
                  </a:cubicBezTo>
                  <a:cubicBezTo>
                    <a:pt x="1944" y="2057"/>
                    <a:pt x="1944" y="2057"/>
                    <a:pt x="1944" y="2057"/>
                  </a:cubicBezTo>
                  <a:cubicBezTo>
                    <a:pt x="3672" y="1671"/>
                    <a:pt x="3672" y="1671"/>
                    <a:pt x="3672" y="1671"/>
                  </a:cubicBezTo>
                  <a:cubicBezTo>
                    <a:pt x="12528" y="14657"/>
                    <a:pt x="12528" y="14657"/>
                    <a:pt x="12528" y="14657"/>
                  </a:cubicBezTo>
                  <a:cubicBezTo>
                    <a:pt x="12960" y="15171"/>
                    <a:pt x="12744" y="15557"/>
                    <a:pt x="12096" y="1568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6" name="签署平台服务协议"/>
          <p:cNvSpPr/>
          <p:nvPr/>
        </p:nvSpPr>
        <p:spPr bwMode="auto">
          <a:xfrm>
            <a:off x="3701415" y="3237865"/>
            <a:ext cx="145923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签署平台服务协议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37" name="线条"/>
          <p:cNvSpPr/>
          <p:nvPr/>
        </p:nvSpPr>
        <p:spPr bwMode="auto">
          <a:xfrm>
            <a:off x="2279826" y="5153330"/>
            <a:ext cx="51363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线条"/>
          <p:cNvSpPr/>
          <p:nvPr/>
        </p:nvSpPr>
        <p:spPr bwMode="auto">
          <a:xfrm>
            <a:off x="7037753" y="1579867"/>
            <a:ext cx="513630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资产发行申请"/>
          <p:cNvSpPr/>
          <p:nvPr/>
        </p:nvSpPr>
        <p:spPr bwMode="auto">
          <a:xfrm>
            <a:off x="2885440" y="5016500"/>
            <a:ext cx="104076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上传</a:t>
            </a: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资料</a:t>
            </a:r>
            <a:endParaRPr lang="zh-CN"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0" name="连接线"/>
          <p:cNvSpPr/>
          <p:nvPr/>
        </p:nvSpPr>
        <p:spPr bwMode="auto">
          <a:xfrm>
            <a:off x="3741234" y="4644184"/>
            <a:ext cx="323851" cy="1085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1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2864FF"/>
            </a:solidFill>
            <a:miter/>
          </a:ln>
        </p:spPr>
        <p:txBody>
          <a:bodyPr/>
          <a:lstStyle/>
          <a:p>
            <a:pPr marL="0" marR="0" lvl="0" indent="0" algn="just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400" b="0" i="0" u="none" strike="noStrike" kern="0" cap="none" spc="0">
              <a:ln>
                <a:noFill/>
              </a:ln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Heiti SC Light"/>
            </a:endParaRPr>
          </a:p>
        </p:txBody>
      </p:sp>
      <p:sp>
        <p:nvSpPr>
          <p:cNvPr id="41" name="贸易合同"/>
          <p:cNvSpPr/>
          <p:nvPr/>
        </p:nvSpPr>
        <p:spPr bwMode="auto">
          <a:xfrm>
            <a:off x="4097256" y="4508829"/>
            <a:ext cx="93861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贸易合同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2" name="线条"/>
          <p:cNvSpPr/>
          <p:nvPr/>
        </p:nvSpPr>
        <p:spPr bwMode="auto">
          <a:xfrm>
            <a:off x="3744784" y="5163633"/>
            <a:ext cx="321191" cy="1"/>
          </a:xfrm>
          <a:prstGeom prst="line">
            <a:avLst/>
          </a:prstGeom>
          <a:ln w="25400">
            <a:solidFill>
              <a:srgbClr val="2864FF"/>
            </a:solidFill>
            <a:miter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发票"/>
          <p:cNvSpPr/>
          <p:nvPr/>
        </p:nvSpPr>
        <p:spPr bwMode="auto">
          <a:xfrm>
            <a:off x="4158977" y="5038804"/>
            <a:ext cx="60366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发票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4" name="线条"/>
          <p:cNvSpPr/>
          <p:nvPr/>
        </p:nvSpPr>
        <p:spPr bwMode="auto">
          <a:xfrm>
            <a:off x="4812206" y="5163707"/>
            <a:ext cx="795322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提交审核"/>
          <p:cNvSpPr/>
          <p:nvPr/>
        </p:nvSpPr>
        <p:spPr bwMode="auto">
          <a:xfrm>
            <a:off x="4810861" y="4852346"/>
            <a:ext cx="853347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提交审核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46" name="线条"/>
          <p:cNvSpPr/>
          <p:nvPr/>
        </p:nvSpPr>
        <p:spPr bwMode="auto">
          <a:xfrm>
            <a:off x="5114518" y="3423359"/>
            <a:ext cx="789941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资产上链"/>
          <p:cNvSpPr/>
          <p:nvPr/>
        </p:nvSpPr>
        <p:spPr bwMode="auto">
          <a:xfrm>
            <a:off x="5125895" y="3104134"/>
            <a:ext cx="893759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接收</a:t>
            </a: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账款</a:t>
            </a:r>
            <a:endParaRPr lang="zh-CN"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grpSp>
        <p:nvGrpSpPr>
          <p:cNvPr id="51" name="成组"/>
          <p:cNvGrpSpPr/>
          <p:nvPr/>
        </p:nvGrpSpPr>
        <p:grpSpPr bwMode="auto">
          <a:xfrm>
            <a:off x="5966541" y="3151746"/>
            <a:ext cx="379731" cy="463551"/>
            <a:chOff x="0" y="0"/>
            <a:chExt cx="379730" cy="463549"/>
          </a:xfrm>
          <a:solidFill>
            <a:srgbClr val="FF9401"/>
          </a:solidFill>
        </p:grpSpPr>
        <p:sp>
          <p:nvSpPr>
            <p:cNvPr id="52" name="Freeform 10"/>
            <p:cNvSpPr/>
            <p:nvPr/>
          </p:nvSpPr>
          <p:spPr bwMode="auto">
            <a:xfrm>
              <a:off x="53113" y="23470"/>
              <a:ext cx="99741" cy="94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2274" y="13698"/>
                  </a:moveTo>
                  <a:cubicBezTo>
                    <a:pt x="3411" y="17912"/>
                    <a:pt x="6253" y="21600"/>
                    <a:pt x="10800" y="21600"/>
                  </a:cubicBezTo>
                  <a:cubicBezTo>
                    <a:pt x="15347" y="21600"/>
                    <a:pt x="18189" y="17912"/>
                    <a:pt x="19326" y="13698"/>
                  </a:cubicBezTo>
                  <a:cubicBezTo>
                    <a:pt x="20463" y="13171"/>
                    <a:pt x="21600" y="11590"/>
                    <a:pt x="21032" y="10537"/>
                  </a:cubicBezTo>
                  <a:cubicBezTo>
                    <a:pt x="21032" y="9483"/>
                    <a:pt x="20463" y="8956"/>
                    <a:pt x="19895" y="8956"/>
                  </a:cubicBezTo>
                  <a:cubicBezTo>
                    <a:pt x="19895" y="3688"/>
                    <a:pt x="15916" y="0"/>
                    <a:pt x="10800" y="0"/>
                  </a:cubicBezTo>
                  <a:cubicBezTo>
                    <a:pt x="5684" y="0"/>
                    <a:pt x="1705" y="3688"/>
                    <a:pt x="1705" y="8956"/>
                  </a:cubicBezTo>
                  <a:cubicBezTo>
                    <a:pt x="568" y="8956"/>
                    <a:pt x="0" y="9483"/>
                    <a:pt x="0" y="10537"/>
                  </a:cubicBezTo>
                  <a:cubicBezTo>
                    <a:pt x="0" y="11590"/>
                    <a:pt x="568" y="13698"/>
                    <a:pt x="2274" y="13698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Freeform 11"/>
            <p:cNvSpPr/>
            <p:nvPr/>
          </p:nvSpPr>
          <p:spPr bwMode="auto">
            <a:xfrm>
              <a:off x="0" y="123222"/>
              <a:ext cx="283646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66" y="5290"/>
                  </a:moveTo>
                  <a:cubicBezTo>
                    <a:pt x="19766" y="5290"/>
                    <a:pt x="19766" y="5290"/>
                    <a:pt x="19766" y="5290"/>
                  </a:cubicBezTo>
                  <a:cubicBezTo>
                    <a:pt x="19358" y="5290"/>
                    <a:pt x="18543" y="5437"/>
                    <a:pt x="17728" y="5437"/>
                  </a:cubicBezTo>
                  <a:cubicBezTo>
                    <a:pt x="17321" y="5584"/>
                    <a:pt x="16913" y="5584"/>
                    <a:pt x="16709" y="5584"/>
                  </a:cubicBezTo>
                  <a:cubicBezTo>
                    <a:pt x="16506" y="5584"/>
                    <a:pt x="16506" y="5584"/>
                    <a:pt x="16302" y="5584"/>
                  </a:cubicBezTo>
                  <a:cubicBezTo>
                    <a:pt x="16302" y="5584"/>
                    <a:pt x="16302" y="5437"/>
                    <a:pt x="16098" y="5437"/>
                  </a:cubicBezTo>
                  <a:cubicBezTo>
                    <a:pt x="15691" y="4702"/>
                    <a:pt x="14875" y="3673"/>
                    <a:pt x="14468" y="2792"/>
                  </a:cubicBezTo>
                  <a:cubicBezTo>
                    <a:pt x="14060" y="2351"/>
                    <a:pt x="13857" y="1910"/>
                    <a:pt x="13653" y="1616"/>
                  </a:cubicBezTo>
                  <a:cubicBezTo>
                    <a:pt x="13653" y="1469"/>
                    <a:pt x="13449" y="1469"/>
                    <a:pt x="13449" y="1322"/>
                  </a:cubicBezTo>
                  <a:cubicBezTo>
                    <a:pt x="13449" y="1176"/>
                    <a:pt x="13449" y="1176"/>
                    <a:pt x="13449" y="1176"/>
                  </a:cubicBezTo>
                  <a:cubicBezTo>
                    <a:pt x="13245" y="1029"/>
                    <a:pt x="13245" y="882"/>
                    <a:pt x="13042" y="882"/>
                  </a:cubicBezTo>
                  <a:cubicBezTo>
                    <a:pt x="12838" y="735"/>
                    <a:pt x="12430" y="441"/>
                    <a:pt x="11004" y="294"/>
                  </a:cubicBezTo>
                  <a:cubicBezTo>
                    <a:pt x="10596" y="147"/>
                    <a:pt x="10392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588"/>
                    <a:pt x="9781" y="1763"/>
                    <a:pt x="8762" y="3233"/>
                  </a:cubicBezTo>
                  <a:cubicBezTo>
                    <a:pt x="8558" y="2204"/>
                    <a:pt x="8355" y="1322"/>
                    <a:pt x="8355" y="1322"/>
                  </a:cubicBezTo>
                  <a:cubicBezTo>
                    <a:pt x="8762" y="735"/>
                    <a:pt x="8762" y="735"/>
                    <a:pt x="8762" y="735"/>
                  </a:cubicBezTo>
                  <a:cubicBezTo>
                    <a:pt x="8151" y="294"/>
                    <a:pt x="8151" y="294"/>
                    <a:pt x="8151" y="294"/>
                  </a:cubicBezTo>
                  <a:cubicBezTo>
                    <a:pt x="7743" y="294"/>
                    <a:pt x="7743" y="294"/>
                    <a:pt x="7743" y="294"/>
                  </a:cubicBezTo>
                  <a:cubicBezTo>
                    <a:pt x="7132" y="735"/>
                    <a:pt x="7132" y="735"/>
                    <a:pt x="7132" y="735"/>
                  </a:cubicBezTo>
                  <a:cubicBezTo>
                    <a:pt x="7540" y="1322"/>
                    <a:pt x="7540" y="1322"/>
                    <a:pt x="7540" y="1322"/>
                  </a:cubicBezTo>
                  <a:cubicBezTo>
                    <a:pt x="7336" y="1322"/>
                    <a:pt x="7132" y="2204"/>
                    <a:pt x="7132" y="3233"/>
                  </a:cubicBezTo>
                  <a:cubicBezTo>
                    <a:pt x="6113" y="1763"/>
                    <a:pt x="5706" y="588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502" y="0"/>
                    <a:pt x="5094" y="147"/>
                    <a:pt x="4891" y="294"/>
                  </a:cubicBezTo>
                  <a:cubicBezTo>
                    <a:pt x="4075" y="441"/>
                    <a:pt x="2853" y="735"/>
                    <a:pt x="2038" y="1029"/>
                  </a:cubicBezTo>
                  <a:cubicBezTo>
                    <a:pt x="1630" y="1322"/>
                    <a:pt x="408" y="2498"/>
                    <a:pt x="0" y="6465"/>
                  </a:cubicBezTo>
                  <a:cubicBezTo>
                    <a:pt x="0" y="7788"/>
                    <a:pt x="204" y="10139"/>
                    <a:pt x="204" y="10139"/>
                  </a:cubicBezTo>
                  <a:cubicBezTo>
                    <a:pt x="408" y="10727"/>
                    <a:pt x="611" y="11314"/>
                    <a:pt x="1426" y="11314"/>
                  </a:cubicBezTo>
                  <a:cubicBezTo>
                    <a:pt x="2445" y="11314"/>
                    <a:pt x="2853" y="10873"/>
                    <a:pt x="2853" y="10286"/>
                  </a:cubicBezTo>
                  <a:cubicBezTo>
                    <a:pt x="2853" y="10286"/>
                    <a:pt x="2649" y="8229"/>
                    <a:pt x="2853" y="6612"/>
                  </a:cubicBezTo>
                  <a:cubicBezTo>
                    <a:pt x="2853" y="5290"/>
                    <a:pt x="3260" y="3380"/>
                    <a:pt x="3668" y="3380"/>
                  </a:cubicBezTo>
                  <a:cubicBezTo>
                    <a:pt x="3668" y="3380"/>
                    <a:pt x="3668" y="3380"/>
                    <a:pt x="3668" y="3380"/>
                  </a:cubicBezTo>
                  <a:cubicBezTo>
                    <a:pt x="3668" y="9551"/>
                    <a:pt x="3668" y="9551"/>
                    <a:pt x="3668" y="9551"/>
                  </a:cubicBezTo>
                  <a:cubicBezTo>
                    <a:pt x="3668" y="9845"/>
                    <a:pt x="3668" y="10139"/>
                    <a:pt x="3668" y="10286"/>
                  </a:cubicBezTo>
                  <a:cubicBezTo>
                    <a:pt x="3668" y="20278"/>
                    <a:pt x="3668" y="20278"/>
                    <a:pt x="3668" y="20278"/>
                  </a:cubicBezTo>
                  <a:cubicBezTo>
                    <a:pt x="3668" y="21012"/>
                    <a:pt x="4483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6521" y="21600"/>
                    <a:pt x="7336" y="21012"/>
                    <a:pt x="7336" y="20278"/>
                  </a:cubicBezTo>
                  <a:cubicBezTo>
                    <a:pt x="7336" y="11314"/>
                    <a:pt x="7336" y="11314"/>
                    <a:pt x="7336" y="11314"/>
                  </a:cubicBezTo>
                  <a:cubicBezTo>
                    <a:pt x="8355" y="11314"/>
                    <a:pt x="8355" y="11314"/>
                    <a:pt x="8355" y="11314"/>
                  </a:cubicBezTo>
                  <a:cubicBezTo>
                    <a:pt x="8355" y="20278"/>
                    <a:pt x="8355" y="20278"/>
                    <a:pt x="8355" y="20278"/>
                  </a:cubicBezTo>
                  <a:cubicBezTo>
                    <a:pt x="8355" y="21012"/>
                    <a:pt x="9170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1208" y="21600"/>
                    <a:pt x="12023" y="21012"/>
                    <a:pt x="12023" y="20278"/>
                  </a:cubicBezTo>
                  <a:cubicBezTo>
                    <a:pt x="12023" y="10286"/>
                    <a:pt x="12023" y="10286"/>
                    <a:pt x="12023" y="10286"/>
                  </a:cubicBezTo>
                  <a:cubicBezTo>
                    <a:pt x="12226" y="10139"/>
                    <a:pt x="12226" y="9845"/>
                    <a:pt x="12226" y="9551"/>
                  </a:cubicBezTo>
                  <a:cubicBezTo>
                    <a:pt x="12226" y="4261"/>
                    <a:pt x="12226" y="4261"/>
                    <a:pt x="12226" y="4261"/>
                  </a:cubicBezTo>
                  <a:cubicBezTo>
                    <a:pt x="12226" y="4261"/>
                    <a:pt x="12226" y="4408"/>
                    <a:pt x="12430" y="4555"/>
                  </a:cubicBezTo>
                  <a:cubicBezTo>
                    <a:pt x="12838" y="5143"/>
                    <a:pt x="13245" y="5878"/>
                    <a:pt x="13653" y="6318"/>
                  </a:cubicBezTo>
                  <a:cubicBezTo>
                    <a:pt x="13857" y="6612"/>
                    <a:pt x="14060" y="6759"/>
                    <a:pt x="14264" y="7053"/>
                  </a:cubicBezTo>
                  <a:cubicBezTo>
                    <a:pt x="14264" y="7053"/>
                    <a:pt x="14468" y="7200"/>
                    <a:pt x="14468" y="7347"/>
                  </a:cubicBezTo>
                  <a:cubicBezTo>
                    <a:pt x="14468" y="7347"/>
                    <a:pt x="14672" y="7347"/>
                    <a:pt x="14672" y="7494"/>
                  </a:cubicBezTo>
                  <a:cubicBezTo>
                    <a:pt x="14875" y="7494"/>
                    <a:pt x="15079" y="7641"/>
                    <a:pt x="15283" y="7641"/>
                  </a:cubicBezTo>
                  <a:cubicBezTo>
                    <a:pt x="15283" y="7641"/>
                    <a:pt x="15283" y="7641"/>
                    <a:pt x="15283" y="7641"/>
                  </a:cubicBezTo>
                  <a:cubicBezTo>
                    <a:pt x="15487" y="7641"/>
                    <a:pt x="15487" y="7641"/>
                    <a:pt x="15691" y="7641"/>
                  </a:cubicBezTo>
                  <a:cubicBezTo>
                    <a:pt x="15691" y="7788"/>
                    <a:pt x="15894" y="7788"/>
                    <a:pt x="15894" y="7788"/>
                  </a:cubicBezTo>
                  <a:cubicBezTo>
                    <a:pt x="16098" y="7788"/>
                    <a:pt x="16302" y="7641"/>
                    <a:pt x="16506" y="7641"/>
                  </a:cubicBezTo>
                  <a:cubicBezTo>
                    <a:pt x="17321" y="7641"/>
                    <a:pt x="18136" y="7494"/>
                    <a:pt x="18951" y="7494"/>
                  </a:cubicBezTo>
                  <a:cubicBezTo>
                    <a:pt x="19766" y="7347"/>
                    <a:pt x="20377" y="7200"/>
                    <a:pt x="20377" y="7200"/>
                  </a:cubicBezTo>
                  <a:cubicBezTo>
                    <a:pt x="21192" y="7053"/>
                    <a:pt x="21600" y="6612"/>
                    <a:pt x="21600" y="6024"/>
                  </a:cubicBezTo>
                  <a:cubicBezTo>
                    <a:pt x="21396" y="5437"/>
                    <a:pt x="20581" y="5143"/>
                    <a:pt x="19766" y="529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4" name="Freeform 12"/>
            <p:cNvSpPr/>
            <p:nvPr/>
          </p:nvSpPr>
          <p:spPr bwMode="auto">
            <a:xfrm>
              <a:off x="230503" y="0"/>
              <a:ext cx="149228" cy="209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9" h="21600" extrusionOk="0">
                  <a:moveTo>
                    <a:pt x="11824" y="9840"/>
                  </a:moveTo>
                  <a:cubicBezTo>
                    <a:pt x="11451" y="9600"/>
                    <a:pt x="11451" y="9600"/>
                    <a:pt x="11451" y="9600"/>
                  </a:cubicBezTo>
                  <a:cubicBezTo>
                    <a:pt x="10334" y="9360"/>
                    <a:pt x="8844" y="8880"/>
                    <a:pt x="8472" y="8880"/>
                  </a:cubicBezTo>
                  <a:cubicBezTo>
                    <a:pt x="8472" y="8880"/>
                    <a:pt x="8100" y="8640"/>
                    <a:pt x="8100" y="8640"/>
                  </a:cubicBezTo>
                  <a:cubicBezTo>
                    <a:pt x="6982" y="8400"/>
                    <a:pt x="6610" y="8160"/>
                    <a:pt x="5865" y="7680"/>
                  </a:cubicBezTo>
                  <a:cubicBezTo>
                    <a:pt x="5120" y="6960"/>
                    <a:pt x="5493" y="6240"/>
                    <a:pt x="6237" y="5760"/>
                  </a:cubicBezTo>
                  <a:cubicBezTo>
                    <a:pt x="7355" y="5040"/>
                    <a:pt x="8844" y="4800"/>
                    <a:pt x="9962" y="4800"/>
                  </a:cubicBezTo>
                  <a:cubicBezTo>
                    <a:pt x="10706" y="4800"/>
                    <a:pt x="13686" y="4560"/>
                    <a:pt x="17410" y="6480"/>
                  </a:cubicBezTo>
                  <a:cubicBezTo>
                    <a:pt x="18155" y="6960"/>
                    <a:pt x="19644" y="6240"/>
                    <a:pt x="20389" y="5760"/>
                  </a:cubicBezTo>
                  <a:cubicBezTo>
                    <a:pt x="20762" y="5280"/>
                    <a:pt x="20762" y="4800"/>
                    <a:pt x="20389" y="4320"/>
                  </a:cubicBezTo>
                  <a:cubicBezTo>
                    <a:pt x="19272" y="3360"/>
                    <a:pt x="15548" y="2640"/>
                    <a:pt x="13686" y="2400"/>
                  </a:cubicBezTo>
                  <a:cubicBezTo>
                    <a:pt x="13313" y="2160"/>
                    <a:pt x="12568" y="2160"/>
                    <a:pt x="11824" y="2160"/>
                  </a:cubicBezTo>
                  <a:cubicBezTo>
                    <a:pt x="11824" y="480"/>
                    <a:pt x="11824" y="480"/>
                    <a:pt x="11824" y="480"/>
                  </a:cubicBezTo>
                  <a:cubicBezTo>
                    <a:pt x="11824" y="240"/>
                    <a:pt x="11451" y="0"/>
                    <a:pt x="11079" y="0"/>
                  </a:cubicBezTo>
                  <a:cubicBezTo>
                    <a:pt x="8844" y="0"/>
                    <a:pt x="8844" y="0"/>
                    <a:pt x="8844" y="0"/>
                  </a:cubicBezTo>
                  <a:cubicBezTo>
                    <a:pt x="8472" y="0"/>
                    <a:pt x="8100" y="240"/>
                    <a:pt x="8100" y="480"/>
                  </a:cubicBezTo>
                  <a:cubicBezTo>
                    <a:pt x="8100" y="2160"/>
                    <a:pt x="8100" y="2160"/>
                    <a:pt x="8100" y="2160"/>
                  </a:cubicBezTo>
                  <a:cubicBezTo>
                    <a:pt x="5865" y="2400"/>
                    <a:pt x="4003" y="2880"/>
                    <a:pt x="2513" y="3600"/>
                  </a:cubicBezTo>
                  <a:cubicBezTo>
                    <a:pt x="279" y="5040"/>
                    <a:pt x="-466" y="7200"/>
                    <a:pt x="1024" y="8880"/>
                  </a:cubicBezTo>
                  <a:cubicBezTo>
                    <a:pt x="1396" y="9600"/>
                    <a:pt x="2513" y="10320"/>
                    <a:pt x="3631" y="10800"/>
                  </a:cubicBezTo>
                  <a:cubicBezTo>
                    <a:pt x="4748" y="11040"/>
                    <a:pt x="9217" y="12480"/>
                    <a:pt x="11451" y="12960"/>
                  </a:cubicBezTo>
                  <a:cubicBezTo>
                    <a:pt x="12568" y="13440"/>
                    <a:pt x="12568" y="13440"/>
                    <a:pt x="12568" y="13440"/>
                  </a:cubicBezTo>
                  <a:cubicBezTo>
                    <a:pt x="13313" y="13680"/>
                    <a:pt x="14058" y="13920"/>
                    <a:pt x="14431" y="14400"/>
                  </a:cubicBezTo>
                  <a:cubicBezTo>
                    <a:pt x="15175" y="15120"/>
                    <a:pt x="14803" y="15840"/>
                    <a:pt x="14058" y="16320"/>
                  </a:cubicBezTo>
                  <a:cubicBezTo>
                    <a:pt x="13313" y="16800"/>
                    <a:pt x="12196" y="17040"/>
                    <a:pt x="10706" y="17040"/>
                  </a:cubicBezTo>
                  <a:cubicBezTo>
                    <a:pt x="9589" y="17040"/>
                    <a:pt x="8472" y="16800"/>
                    <a:pt x="6982" y="16560"/>
                  </a:cubicBezTo>
                  <a:cubicBezTo>
                    <a:pt x="6237" y="16320"/>
                    <a:pt x="5493" y="16080"/>
                    <a:pt x="4748" y="15600"/>
                  </a:cubicBezTo>
                  <a:cubicBezTo>
                    <a:pt x="4748" y="15600"/>
                    <a:pt x="4375" y="1560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003" y="14880"/>
                    <a:pt x="3258" y="14880"/>
                    <a:pt x="2886" y="14880"/>
                  </a:cubicBezTo>
                  <a:cubicBezTo>
                    <a:pt x="1768" y="14880"/>
                    <a:pt x="651" y="15360"/>
                    <a:pt x="279" y="15840"/>
                  </a:cubicBezTo>
                  <a:cubicBezTo>
                    <a:pt x="-94" y="16320"/>
                    <a:pt x="-94" y="16800"/>
                    <a:pt x="279" y="17040"/>
                  </a:cubicBezTo>
                  <a:cubicBezTo>
                    <a:pt x="1768" y="18480"/>
                    <a:pt x="4748" y="19440"/>
                    <a:pt x="8100" y="19680"/>
                  </a:cubicBezTo>
                  <a:cubicBezTo>
                    <a:pt x="8100" y="21360"/>
                    <a:pt x="8100" y="21360"/>
                    <a:pt x="8100" y="21360"/>
                  </a:cubicBezTo>
                  <a:cubicBezTo>
                    <a:pt x="8100" y="21600"/>
                    <a:pt x="8472" y="21600"/>
                    <a:pt x="8844" y="21600"/>
                  </a:cubicBezTo>
                  <a:cubicBezTo>
                    <a:pt x="11079" y="21600"/>
                    <a:pt x="11079" y="21600"/>
                    <a:pt x="11079" y="21600"/>
                  </a:cubicBezTo>
                  <a:cubicBezTo>
                    <a:pt x="11451" y="21600"/>
                    <a:pt x="11824" y="21600"/>
                    <a:pt x="11824" y="21360"/>
                  </a:cubicBezTo>
                  <a:cubicBezTo>
                    <a:pt x="11824" y="19680"/>
                    <a:pt x="11824" y="19680"/>
                    <a:pt x="11824" y="19680"/>
                  </a:cubicBezTo>
                  <a:cubicBezTo>
                    <a:pt x="14431" y="19680"/>
                    <a:pt x="16665" y="19200"/>
                    <a:pt x="17782" y="18480"/>
                  </a:cubicBezTo>
                  <a:cubicBezTo>
                    <a:pt x="20017" y="17280"/>
                    <a:pt x="21134" y="15120"/>
                    <a:pt x="20017" y="13440"/>
                  </a:cubicBezTo>
                  <a:cubicBezTo>
                    <a:pt x="18900" y="11520"/>
                    <a:pt x="14803" y="10560"/>
                    <a:pt x="11824" y="98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8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5" name="成组"/>
          <p:cNvGrpSpPr/>
          <p:nvPr/>
        </p:nvGrpSpPr>
        <p:grpSpPr bwMode="auto">
          <a:xfrm>
            <a:off x="519053" y="5711945"/>
            <a:ext cx="379730" cy="463551"/>
            <a:chOff x="0" y="0"/>
            <a:chExt cx="379729" cy="463550"/>
          </a:xfrm>
          <a:solidFill>
            <a:srgbClr val="FF9401"/>
          </a:solidFill>
        </p:grpSpPr>
        <p:sp>
          <p:nvSpPr>
            <p:cNvPr id="56" name="Freeform 10"/>
            <p:cNvSpPr/>
            <p:nvPr/>
          </p:nvSpPr>
          <p:spPr bwMode="auto">
            <a:xfrm>
              <a:off x="53113" y="23470"/>
              <a:ext cx="99742" cy="9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2274" y="13698"/>
                  </a:moveTo>
                  <a:cubicBezTo>
                    <a:pt x="3411" y="17912"/>
                    <a:pt x="6253" y="21600"/>
                    <a:pt x="10800" y="21600"/>
                  </a:cubicBezTo>
                  <a:cubicBezTo>
                    <a:pt x="15347" y="21600"/>
                    <a:pt x="18189" y="17912"/>
                    <a:pt x="19326" y="13698"/>
                  </a:cubicBezTo>
                  <a:cubicBezTo>
                    <a:pt x="20463" y="13171"/>
                    <a:pt x="21600" y="11590"/>
                    <a:pt x="21032" y="10537"/>
                  </a:cubicBezTo>
                  <a:cubicBezTo>
                    <a:pt x="21032" y="9483"/>
                    <a:pt x="20463" y="8956"/>
                    <a:pt x="19895" y="8956"/>
                  </a:cubicBezTo>
                  <a:cubicBezTo>
                    <a:pt x="19895" y="3688"/>
                    <a:pt x="15916" y="0"/>
                    <a:pt x="10800" y="0"/>
                  </a:cubicBezTo>
                  <a:cubicBezTo>
                    <a:pt x="5684" y="0"/>
                    <a:pt x="1705" y="3688"/>
                    <a:pt x="1705" y="8956"/>
                  </a:cubicBezTo>
                  <a:cubicBezTo>
                    <a:pt x="568" y="8956"/>
                    <a:pt x="0" y="9483"/>
                    <a:pt x="0" y="10537"/>
                  </a:cubicBezTo>
                  <a:cubicBezTo>
                    <a:pt x="0" y="11590"/>
                    <a:pt x="568" y="13698"/>
                    <a:pt x="2274" y="13698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Freeform 11"/>
            <p:cNvSpPr/>
            <p:nvPr/>
          </p:nvSpPr>
          <p:spPr bwMode="auto">
            <a:xfrm>
              <a:off x="0" y="123222"/>
              <a:ext cx="283646" cy="340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66" y="5290"/>
                  </a:moveTo>
                  <a:cubicBezTo>
                    <a:pt x="19766" y="5290"/>
                    <a:pt x="19766" y="5290"/>
                    <a:pt x="19766" y="5290"/>
                  </a:cubicBezTo>
                  <a:cubicBezTo>
                    <a:pt x="19358" y="5290"/>
                    <a:pt x="18543" y="5437"/>
                    <a:pt x="17728" y="5437"/>
                  </a:cubicBezTo>
                  <a:cubicBezTo>
                    <a:pt x="17321" y="5584"/>
                    <a:pt x="16913" y="5584"/>
                    <a:pt x="16709" y="5584"/>
                  </a:cubicBezTo>
                  <a:cubicBezTo>
                    <a:pt x="16506" y="5584"/>
                    <a:pt x="16506" y="5584"/>
                    <a:pt x="16302" y="5584"/>
                  </a:cubicBezTo>
                  <a:cubicBezTo>
                    <a:pt x="16302" y="5584"/>
                    <a:pt x="16302" y="5437"/>
                    <a:pt x="16098" y="5437"/>
                  </a:cubicBezTo>
                  <a:cubicBezTo>
                    <a:pt x="15691" y="4702"/>
                    <a:pt x="14875" y="3673"/>
                    <a:pt x="14468" y="2792"/>
                  </a:cubicBezTo>
                  <a:cubicBezTo>
                    <a:pt x="14060" y="2351"/>
                    <a:pt x="13857" y="1910"/>
                    <a:pt x="13653" y="1616"/>
                  </a:cubicBezTo>
                  <a:cubicBezTo>
                    <a:pt x="13653" y="1469"/>
                    <a:pt x="13449" y="1469"/>
                    <a:pt x="13449" y="1322"/>
                  </a:cubicBezTo>
                  <a:cubicBezTo>
                    <a:pt x="13449" y="1176"/>
                    <a:pt x="13449" y="1176"/>
                    <a:pt x="13449" y="1176"/>
                  </a:cubicBezTo>
                  <a:cubicBezTo>
                    <a:pt x="13245" y="1029"/>
                    <a:pt x="13245" y="882"/>
                    <a:pt x="13042" y="882"/>
                  </a:cubicBezTo>
                  <a:cubicBezTo>
                    <a:pt x="12838" y="735"/>
                    <a:pt x="12430" y="441"/>
                    <a:pt x="11004" y="294"/>
                  </a:cubicBezTo>
                  <a:cubicBezTo>
                    <a:pt x="10596" y="147"/>
                    <a:pt x="10392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0"/>
                    <a:pt x="9985" y="0"/>
                    <a:pt x="9985" y="0"/>
                  </a:cubicBezTo>
                  <a:cubicBezTo>
                    <a:pt x="9985" y="588"/>
                    <a:pt x="9781" y="1763"/>
                    <a:pt x="8762" y="3233"/>
                  </a:cubicBezTo>
                  <a:cubicBezTo>
                    <a:pt x="8558" y="2204"/>
                    <a:pt x="8355" y="1322"/>
                    <a:pt x="8355" y="1322"/>
                  </a:cubicBezTo>
                  <a:cubicBezTo>
                    <a:pt x="8762" y="735"/>
                    <a:pt x="8762" y="735"/>
                    <a:pt x="8762" y="735"/>
                  </a:cubicBezTo>
                  <a:cubicBezTo>
                    <a:pt x="8151" y="294"/>
                    <a:pt x="8151" y="294"/>
                    <a:pt x="8151" y="294"/>
                  </a:cubicBezTo>
                  <a:cubicBezTo>
                    <a:pt x="7743" y="294"/>
                    <a:pt x="7743" y="294"/>
                    <a:pt x="7743" y="294"/>
                  </a:cubicBezTo>
                  <a:cubicBezTo>
                    <a:pt x="7132" y="735"/>
                    <a:pt x="7132" y="735"/>
                    <a:pt x="7132" y="735"/>
                  </a:cubicBezTo>
                  <a:cubicBezTo>
                    <a:pt x="7540" y="1322"/>
                    <a:pt x="7540" y="1322"/>
                    <a:pt x="7540" y="1322"/>
                  </a:cubicBezTo>
                  <a:cubicBezTo>
                    <a:pt x="7336" y="1322"/>
                    <a:pt x="7132" y="2204"/>
                    <a:pt x="7132" y="3233"/>
                  </a:cubicBezTo>
                  <a:cubicBezTo>
                    <a:pt x="6113" y="1763"/>
                    <a:pt x="5706" y="588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706" y="0"/>
                    <a:pt x="5706" y="0"/>
                    <a:pt x="5706" y="0"/>
                  </a:cubicBezTo>
                  <a:cubicBezTo>
                    <a:pt x="5502" y="0"/>
                    <a:pt x="5094" y="147"/>
                    <a:pt x="4891" y="294"/>
                  </a:cubicBezTo>
                  <a:cubicBezTo>
                    <a:pt x="4075" y="441"/>
                    <a:pt x="2853" y="735"/>
                    <a:pt x="2038" y="1029"/>
                  </a:cubicBezTo>
                  <a:cubicBezTo>
                    <a:pt x="1630" y="1322"/>
                    <a:pt x="408" y="2498"/>
                    <a:pt x="0" y="6465"/>
                  </a:cubicBezTo>
                  <a:cubicBezTo>
                    <a:pt x="0" y="7788"/>
                    <a:pt x="204" y="10139"/>
                    <a:pt x="204" y="10139"/>
                  </a:cubicBezTo>
                  <a:cubicBezTo>
                    <a:pt x="408" y="10727"/>
                    <a:pt x="611" y="11314"/>
                    <a:pt x="1426" y="11314"/>
                  </a:cubicBezTo>
                  <a:cubicBezTo>
                    <a:pt x="2445" y="11314"/>
                    <a:pt x="2853" y="10873"/>
                    <a:pt x="2853" y="10286"/>
                  </a:cubicBezTo>
                  <a:cubicBezTo>
                    <a:pt x="2853" y="10286"/>
                    <a:pt x="2649" y="8229"/>
                    <a:pt x="2853" y="6612"/>
                  </a:cubicBezTo>
                  <a:cubicBezTo>
                    <a:pt x="2853" y="5290"/>
                    <a:pt x="3260" y="3380"/>
                    <a:pt x="3668" y="3380"/>
                  </a:cubicBezTo>
                  <a:cubicBezTo>
                    <a:pt x="3668" y="3380"/>
                    <a:pt x="3668" y="3380"/>
                    <a:pt x="3668" y="3380"/>
                  </a:cubicBezTo>
                  <a:cubicBezTo>
                    <a:pt x="3668" y="9551"/>
                    <a:pt x="3668" y="9551"/>
                    <a:pt x="3668" y="9551"/>
                  </a:cubicBezTo>
                  <a:cubicBezTo>
                    <a:pt x="3668" y="9845"/>
                    <a:pt x="3668" y="10139"/>
                    <a:pt x="3668" y="10286"/>
                  </a:cubicBezTo>
                  <a:cubicBezTo>
                    <a:pt x="3668" y="20278"/>
                    <a:pt x="3668" y="20278"/>
                    <a:pt x="3668" y="20278"/>
                  </a:cubicBezTo>
                  <a:cubicBezTo>
                    <a:pt x="3668" y="21012"/>
                    <a:pt x="4483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5502" y="21600"/>
                    <a:pt x="5502" y="21600"/>
                    <a:pt x="5502" y="21600"/>
                  </a:cubicBezTo>
                  <a:cubicBezTo>
                    <a:pt x="6521" y="21600"/>
                    <a:pt x="7336" y="21012"/>
                    <a:pt x="7336" y="20278"/>
                  </a:cubicBezTo>
                  <a:cubicBezTo>
                    <a:pt x="7336" y="11314"/>
                    <a:pt x="7336" y="11314"/>
                    <a:pt x="7336" y="11314"/>
                  </a:cubicBezTo>
                  <a:cubicBezTo>
                    <a:pt x="8355" y="11314"/>
                    <a:pt x="8355" y="11314"/>
                    <a:pt x="8355" y="11314"/>
                  </a:cubicBezTo>
                  <a:cubicBezTo>
                    <a:pt x="8355" y="20278"/>
                    <a:pt x="8355" y="20278"/>
                    <a:pt x="8355" y="20278"/>
                  </a:cubicBezTo>
                  <a:cubicBezTo>
                    <a:pt x="8355" y="21012"/>
                    <a:pt x="9170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0189" y="21600"/>
                    <a:pt x="10189" y="21600"/>
                    <a:pt x="10189" y="21600"/>
                  </a:cubicBezTo>
                  <a:cubicBezTo>
                    <a:pt x="11208" y="21600"/>
                    <a:pt x="12023" y="21012"/>
                    <a:pt x="12023" y="20278"/>
                  </a:cubicBezTo>
                  <a:cubicBezTo>
                    <a:pt x="12023" y="10286"/>
                    <a:pt x="12023" y="10286"/>
                    <a:pt x="12023" y="10286"/>
                  </a:cubicBezTo>
                  <a:cubicBezTo>
                    <a:pt x="12226" y="10139"/>
                    <a:pt x="12226" y="9845"/>
                    <a:pt x="12226" y="9551"/>
                  </a:cubicBezTo>
                  <a:cubicBezTo>
                    <a:pt x="12226" y="4261"/>
                    <a:pt x="12226" y="4261"/>
                    <a:pt x="12226" y="4261"/>
                  </a:cubicBezTo>
                  <a:cubicBezTo>
                    <a:pt x="12226" y="4261"/>
                    <a:pt x="12226" y="4408"/>
                    <a:pt x="12430" y="4555"/>
                  </a:cubicBezTo>
                  <a:cubicBezTo>
                    <a:pt x="12838" y="5143"/>
                    <a:pt x="13245" y="5878"/>
                    <a:pt x="13653" y="6318"/>
                  </a:cubicBezTo>
                  <a:cubicBezTo>
                    <a:pt x="13857" y="6612"/>
                    <a:pt x="14060" y="6759"/>
                    <a:pt x="14264" y="7053"/>
                  </a:cubicBezTo>
                  <a:cubicBezTo>
                    <a:pt x="14264" y="7053"/>
                    <a:pt x="14468" y="7200"/>
                    <a:pt x="14468" y="7347"/>
                  </a:cubicBezTo>
                  <a:cubicBezTo>
                    <a:pt x="14468" y="7347"/>
                    <a:pt x="14672" y="7347"/>
                    <a:pt x="14672" y="7494"/>
                  </a:cubicBezTo>
                  <a:cubicBezTo>
                    <a:pt x="14875" y="7494"/>
                    <a:pt x="15079" y="7641"/>
                    <a:pt x="15283" y="7641"/>
                  </a:cubicBezTo>
                  <a:cubicBezTo>
                    <a:pt x="15283" y="7641"/>
                    <a:pt x="15283" y="7641"/>
                    <a:pt x="15283" y="7641"/>
                  </a:cubicBezTo>
                  <a:cubicBezTo>
                    <a:pt x="15487" y="7641"/>
                    <a:pt x="15487" y="7641"/>
                    <a:pt x="15691" y="7641"/>
                  </a:cubicBezTo>
                  <a:cubicBezTo>
                    <a:pt x="15691" y="7788"/>
                    <a:pt x="15894" y="7788"/>
                    <a:pt x="15894" y="7788"/>
                  </a:cubicBezTo>
                  <a:cubicBezTo>
                    <a:pt x="16098" y="7788"/>
                    <a:pt x="16302" y="7641"/>
                    <a:pt x="16506" y="7641"/>
                  </a:cubicBezTo>
                  <a:cubicBezTo>
                    <a:pt x="17321" y="7641"/>
                    <a:pt x="18136" y="7494"/>
                    <a:pt x="18951" y="7494"/>
                  </a:cubicBezTo>
                  <a:cubicBezTo>
                    <a:pt x="19766" y="7347"/>
                    <a:pt x="20377" y="7200"/>
                    <a:pt x="20377" y="7200"/>
                  </a:cubicBezTo>
                  <a:cubicBezTo>
                    <a:pt x="21192" y="7053"/>
                    <a:pt x="21600" y="6612"/>
                    <a:pt x="21600" y="6024"/>
                  </a:cubicBezTo>
                  <a:cubicBezTo>
                    <a:pt x="21396" y="5437"/>
                    <a:pt x="20581" y="5143"/>
                    <a:pt x="19766" y="529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Freeform 12"/>
            <p:cNvSpPr/>
            <p:nvPr/>
          </p:nvSpPr>
          <p:spPr bwMode="auto">
            <a:xfrm>
              <a:off x="230503" y="0"/>
              <a:ext cx="149227" cy="209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9" h="21600" extrusionOk="0">
                  <a:moveTo>
                    <a:pt x="11824" y="9840"/>
                  </a:moveTo>
                  <a:cubicBezTo>
                    <a:pt x="11451" y="9600"/>
                    <a:pt x="11451" y="9600"/>
                    <a:pt x="11451" y="9600"/>
                  </a:cubicBezTo>
                  <a:cubicBezTo>
                    <a:pt x="10334" y="9360"/>
                    <a:pt x="8844" y="8880"/>
                    <a:pt x="8472" y="8880"/>
                  </a:cubicBezTo>
                  <a:cubicBezTo>
                    <a:pt x="8472" y="8880"/>
                    <a:pt x="8100" y="8640"/>
                    <a:pt x="8100" y="8640"/>
                  </a:cubicBezTo>
                  <a:cubicBezTo>
                    <a:pt x="6982" y="8400"/>
                    <a:pt x="6610" y="8160"/>
                    <a:pt x="5865" y="7680"/>
                  </a:cubicBezTo>
                  <a:cubicBezTo>
                    <a:pt x="5120" y="6960"/>
                    <a:pt x="5493" y="6240"/>
                    <a:pt x="6237" y="5760"/>
                  </a:cubicBezTo>
                  <a:cubicBezTo>
                    <a:pt x="7355" y="5040"/>
                    <a:pt x="8844" y="4800"/>
                    <a:pt x="9962" y="4800"/>
                  </a:cubicBezTo>
                  <a:cubicBezTo>
                    <a:pt x="10706" y="4800"/>
                    <a:pt x="13686" y="4560"/>
                    <a:pt x="17410" y="6480"/>
                  </a:cubicBezTo>
                  <a:cubicBezTo>
                    <a:pt x="18155" y="6960"/>
                    <a:pt x="19644" y="6240"/>
                    <a:pt x="20389" y="5760"/>
                  </a:cubicBezTo>
                  <a:cubicBezTo>
                    <a:pt x="20762" y="5280"/>
                    <a:pt x="20762" y="4800"/>
                    <a:pt x="20389" y="4320"/>
                  </a:cubicBezTo>
                  <a:cubicBezTo>
                    <a:pt x="19272" y="3360"/>
                    <a:pt x="15548" y="2640"/>
                    <a:pt x="13686" y="2400"/>
                  </a:cubicBezTo>
                  <a:cubicBezTo>
                    <a:pt x="13313" y="2160"/>
                    <a:pt x="12568" y="2160"/>
                    <a:pt x="11824" y="2160"/>
                  </a:cubicBezTo>
                  <a:cubicBezTo>
                    <a:pt x="11824" y="480"/>
                    <a:pt x="11824" y="480"/>
                    <a:pt x="11824" y="480"/>
                  </a:cubicBezTo>
                  <a:cubicBezTo>
                    <a:pt x="11824" y="240"/>
                    <a:pt x="11451" y="0"/>
                    <a:pt x="11079" y="0"/>
                  </a:cubicBezTo>
                  <a:cubicBezTo>
                    <a:pt x="8844" y="0"/>
                    <a:pt x="8844" y="0"/>
                    <a:pt x="8844" y="0"/>
                  </a:cubicBezTo>
                  <a:cubicBezTo>
                    <a:pt x="8472" y="0"/>
                    <a:pt x="8100" y="240"/>
                    <a:pt x="8100" y="480"/>
                  </a:cubicBezTo>
                  <a:cubicBezTo>
                    <a:pt x="8100" y="2160"/>
                    <a:pt x="8100" y="2160"/>
                    <a:pt x="8100" y="2160"/>
                  </a:cubicBezTo>
                  <a:cubicBezTo>
                    <a:pt x="5865" y="2400"/>
                    <a:pt x="4003" y="2880"/>
                    <a:pt x="2513" y="3600"/>
                  </a:cubicBezTo>
                  <a:cubicBezTo>
                    <a:pt x="279" y="5040"/>
                    <a:pt x="-466" y="7200"/>
                    <a:pt x="1024" y="8880"/>
                  </a:cubicBezTo>
                  <a:cubicBezTo>
                    <a:pt x="1396" y="9600"/>
                    <a:pt x="2513" y="10320"/>
                    <a:pt x="3631" y="10800"/>
                  </a:cubicBezTo>
                  <a:cubicBezTo>
                    <a:pt x="4748" y="11040"/>
                    <a:pt x="9217" y="12480"/>
                    <a:pt x="11451" y="12960"/>
                  </a:cubicBezTo>
                  <a:cubicBezTo>
                    <a:pt x="12568" y="13440"/>
                    <a:pt x="12568" y="13440"/>
                    <a:pt x="12568" y="13440"/>
                  </a:cubicBezTo>
                  <a:cubicBezTo>
                    <a:pt x="13313" y="13680"/>
                    <a:pt x="14058" y="13920"/>
                    <a:pt x="14431" y="14400"/>
                  </a:cubicBezTo>
                  <a:cubicBezTo>
                    <a:pt x="15175" y="15120"/>
                    <a:pt x="14803" y="15840"/>
                    <a:pt x="14058" y="16320"/>
                  </a:cubicBezTo>
                  <a:cubicBezTo>
                    <a:pt x="13313" y="16800"/>
                    <a:pt x="12196" y="17040"/>
                    <a:pt x="10706" y="17040"/>
                  </a:cubicBezTo>
                  <a:cubicBezTo>
                    <a:pt x="9589" y="17040"/>
                    <a:pt x="8472" y="16800"/>
                    <a:pt x="6982" y="16560"/>
                  </a:cubicBezTo>
                  <a:cubicBezTo>
                    <a:pt x="6237" y="16320"/>
                    <a:pt x="5493" y="16080"/>
                    <a:pt x="4748" y="15600"/>
                  </a:cubicBezTo>
                  <a:cubicBezTo>
                    <a:pt x="4748" y="15600"/>
                    <a:pt x="4375" y="1560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375" y="15360"/>
                    <a:pt x="4375" y="15360"/>
                    <a:pt x="4375" y="15360"/>
                  </a:cubicBezTo>
                  <a:cubicBezTo>
                    <a:pt x="4003" y="14880"/>
                    <a:pt x="3258" y="14880"/>
                    <a:pt x="2886" y="14880"/>
                  </a:cubicBezTo>
                  <a:cubicBezTo>
                    <a:pt x="1768" y="14880"/>
                    <a:pt x="651" y="15360"/>
                    <a:pt x="279" y="15840"/>
                  </a:cubicBezTo>
                  <a:cubicBezTo>
                    <a:pt x="-94" y="16320"/>
                    <a:pt x="-94" y="16800"/>
                    <a:pt x="279" y="17040"/>
                  </a:cubicBezTo>
                  <a:cubicBezTo>
                    <a:pt x="1768" y="18480"/>
                    <a:pt x="4748" y="19440"/>
                    <a:pt x="8100" y="19680"/>
                  </a:cubicBezTo>
                  <a:cubicBezTo>
                    <a:pt x="8100" y="21360"/>
                    <a:pt x="8100" y="21360"/>
                    <a:pt x="8100" y="21360"/>
                  </a:cubicBezTo>
                  <a:cubicBezTo>
                    <a:pt x="8100" y="21600"/>
                    <a:pt x="8472" y="21600"/>
                    <a:pt x="8844" y="21600"/>
                  </a:cubicBezTo>
                  <a:cubicBezTo>
                    <a:pt x="11079" y="21600"/>
                    <a:pt x="11079" y="21600"/>
                    <a:pt x="11079" y="21600"/>
                  </a:cubicBezTo>
                  <a:cubicBezTo>
                    <a:pt x="11451" y="21600"/>
                    <a:pt x="11824" y="21600"/>
                    <a:pt x="11824" y="21360"/>
                  </a:cubicBezTo>
                  <a:cubicBezTo>
                    <a:pt x="11824" y="19680"/>
                    <a:pt x="11824" y="19680"/>
                    <a:pt x="11824" y="19680"/>
                  </a:cubicBezTo>
                  <a:cubicBezTo>
                    <a:pt x="14431" y="19680"/>
                    <a:pt x="16665" y="19200"/>
                    <a:pt x="17782" y="18480"/>
                  </a:cubicBezTo>
                  <a:cubicBezTo>
                    <a:pt x="20017" y="17280"/>
                    <a:pt x="21134" y="15120"/>
                    <a:pt x="20017" y="13440"/>
                  </a:cubicBezTo>
                  <a:cubicBezTo>
                    <a:pt x="18900" y="11520"/>
                    <a:pt x="14803" y="10560"/>
                    <a:pt x="11824" y="9840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</p:spPr>
          <p:txBody>
            <a:bodyPr wrap="square" lIns="45719" tIns="45719" rIns="45719" bIns="45719" numCol="1" anchor="t">
              <a:noAutofit/>
            </a:bodyPr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endParaRPr sz="1400" b="0" i="0" u="none" strike="noStrike" kern="0" cap="none" spc="0">
                <a:ln>
                  <a:noFill/>
                </a:ln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0" name="持有至到期"/>
          <p:cNvSpPr/>
          <p:nvPr/>
        </p:nvSpPr>
        <p:spPr bwMode="auto">
          <a:xfrm>
            <a:off x="1759579" y="6193424"/>
            <a:ext cx="1087531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持有至到期</a:t>
            </a:r>
            <a:endParaRPr b="1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1" name="线条"/>
          <p:cNvSpPr/>
          <p:nvPr/>
        </p:nvSpPr>
        <p:spPr bwMode="auto">
          <a:xfrm>
            <a:off x="2796860" y="6306976"/>
            <a:ext cx="796458" cy="0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核心企业兑付，账款到达企业账户"/>
          <p:cNvSpPr/>
          <p:nvPr/>
        </p:nvSpPr>
        <p:spPr bwMode="auto">
          <a:xfrm>
            <a:off x="3679825" y="6153150"/>
            <a:ext cx="433197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核心企业兑付</a:t>
            </a: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，</a:t>
            </a: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账款到达企业账户</a:t>
            </a:r>
            <a:r>
              <a:rPr lang="zh-CN" altLang="en-US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（仅有部分账款可持有到期）</a:t>
            </a:r>
            <a:endParaRPr lang="zh-CN" altLang="en-US"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3" name="合法电子债权凭证"/>
          <p:cNvSpPr/>
          <p:nvPr/>
        </p:nvSpPr>
        <p:spPr bwMode="auto">
          <a:xfrm>
            <a:off x="534035" y="5316220"/>
            <a:ext cx="760730" cy="275590"/>
          </a:xfrm>
          <a:prstGeom prst="rect">
            <a:avLst/>
          </a:prstGeom>
          <a:solidFill>
            <a:srgbClr val="FF9401"/>
          </a:solidFill>
          <a:ln w="19050">
            <a:solidFill>
              <a:srgbClr val="FFFFFF"/>
            </a:solidFill>
            <a:miter/>
          </a:ln>
        </p:spPr>
        <p:txBody>
          <a:bodyPr wrap="square" lIns="45719" rIns="45719">
            <a:spAutoFit/>
          </a:bodyPr>
          <a:lstStyle>
            <a:lvl1pPr algn="l">
              <a:lnSpc>
                <a:spcPct val="100000"/>
              </a:lnSpc>
              <a:defRPr sz="1500">
                <a:solidFill>
                  <a:srgbClr val="000000"/>
                </a:solidFill>
                <a:latin typeface="Libian SC Regular"/>
                <a:ea typeface="Libian SC Regular"/>
                <a:cs typeface="Libian SC Regular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00" b="0" i="0" u="none" strike="noStrike" kern="0" cap="none" spc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</a:t>
            </a:r>
            <a:r>
              <a:rPr lang="zh-CN" sz="1200" b="0" i="0" u="none" strike="noStrike" kern="0" cap="none" spc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收账款</a:t>
            </a:r>
            <a:endParaRPr lang="zh-CN" sz="1200" b="0" i="0" u="none" strike="noStrike" kern="0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卖出"/>
          <p:cNvSpPr/>
          <p:nvPr/>
        </p:nvSpPr>
        <p:spPr bwMode="auto">
          <a:xfrm>
            <a:off x="1789430" y="5017135"/>
            <a:ext cx="578485" cy="2787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no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融资</a:t>
            </a:r>
            <a:endParaRPr lang="zh-CN" b="1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7" name="线条"/>
          <p:cNvSpPr/>
          <p:nvPr/>
        </p:nvSpPr>
        <p:spPr bwMode="auto">
          <a:xfrm>
            <a:off x="6743700" y="5142865"/>
            <a:ext cx="1014095" cy="15875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提交申请"/>
          <p:cNvSpPr/>
          <p:nvPr/>
        </p:nvSpPr>
        <p:spPr bwMode="auto">
          <a:xfrm>
            <a:off x="6816805" y="4867178"/>
            <a:ext cx="933782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提交申请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69" name="银行"/>
          <p:cNvSpPr/>
          <p:nvPr/>
        </p:nvSpPr>
        <p:spPr bwMode="auto">
          <a:xfrm>
            <a:off x="7876641" y="4988603"/>
            <a:ext cx="323371" cy="306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0" y="4809"/>
                </a:lnTo>
                <a:lnTo>
                  <a:pt x="0" y="6302"/>
                </a:lnTo>
                <a:lnTo>
                  <a:pt x="21600" y="6302"/>
                </a:lnTo>
                <a:lnTo>
                  <a:pt x="21600" y="4809"/>
                </a:lnTo>
                <a:lnTo>
                  <a:pt x="10800" y="0"/>
                </a:lnTo>
                <a:close/>
                <a:moveTo>
                  <a:pt x="2300" y="7104"/>
                </a:moveTo>
                <a:lnTo>
                  <a:pt x="2300" y="7712"/>
                </a:lnTo>
                <a:lnTo>
                  <a:pt x="2688" y="7712"/>
                </a:lnTo>
                <a:lnTo>
                  <a:pt x="2688" y="16945"/>
                </a:lnTo>
                <a:lnTo>
                  <a:pt x="2300" y="16945"/>
                </a:lnTo>
                <a:lnTo>
                  <a:pt x="2300" y="17559"/>
                </a:lnTo>
                <a:lnTo>
                  <a:pt x="5189" y="17559"/>
                </a:lnTo>
                <a:lnTo>
                  <a:pt x="5189" y="16945"/>
                </a:lnTo>
                <a:lnTo>
                  <a:pt x="4799" y="16945"/>
                </a:lnTo>
                <a:lnTo>
                  <a:pt x="4799" y="7712"/>
                </a:lnTo>
                <a:lnTo>
                  <a:pt x="5189" y="7712"/>
                </a:lnTo>
                <a:lnTo>
                  <a:pt x="5189" y="7104"/>
                </a:lnTo>
                <a:lnTo>
                  <a:pt x="2300" y="7104"/>
                </a:lnTo>
                <a:close/>
                <a:moveTo>
                  <a:pt x="6350" y="7104"/>
                </a:moveTo>
                <a:lnTo>
                  <a:pt x="6350" y="7712"/>
                </a:lnTo>
                <a:lnTo>
                  <a:pt x="6738" y="7712"/>
                </a:lnTo>
                <a:lnTo>
                  <a:pt x="6738" y="16945"/>
                </a:lnTo>
                <a:lnTo>
                  <a:pt x="6350" y="16945"/>
                </a:lnTo>
                <a:lnTo>
                  <a:pt x="6350" y="17559"/>
                </a:lnTo>
                <a:lnTo>
                  <a:pt x="9239" y="17559"/>
                </a:lnTo>
                <a:lnTo>
                  <a:pt x="9239" y="16945"/>
                </a:lnTo>
                <a:lnTo>
                  <a:pt x="8849" y="16945"/>
                </a:lnTo>
                <a:lnTo>
                  <a:pt x="8849" y="7712"/>
                </a:lnTo>
                <a:lnTo>
                  <a:pt x="9239" y="7712"/>
                </a:lnTo>
                <a:lnTo>
                  <a:pt x="9239" y="7104"/>
                </a:lnTo>
                <a:lnTo>
                  <a:pt x="6350" y="7104"/>
                </a:lnTo>
                <a:close/>
                <a:moveTo>
                  <a:pt x="12359" y="7104"/>
                </a:moveTo>
                <a:lnTo>
                  <a:pt x="12359" y="7712"/>
                </a:lnTo>
                <a:lnTo>
                  <a:pt x="12749" y="7712"/>
                </a:lnTo>
                <a:lnTo>
                  <a:pt x="12749" y="16945"/>
                </a:lnTo>
                <a:lnTo>
                  <a:pt x="12359" y="16945"/>
                </a:lnTo>
                <a:lnTo>
                  <a:pt x="12359" y="17559"/>
                </a:lnTo>
                <a:lnTo>
                  <a:pt x="15248" y="17559"/>
                </a:lnTo>
                <a:lnTo>
                  <a:pt x="15248" y="16945"/>
                </a:lnTo>
                <a:lnTo>
                  <a:pt x="14860" y="16945"/>
                </a:lnTo>
                <a:lnTo>
                  <a:pt x="14860" y="7712"/>
                </a:lnTo>
                <a:lnTo>
                  <a:pt x="15248" y="7712"/>
                </a:lnTo>
                <a:lnTo>
                  <a:pt x="15248" y="7104"/>
                </a:lnTo>
                <a:lnTo>
                  <a:pt x="12359" y="7104"/>
                </a:lnTo>
                <a:close/>
                <a:moveTo>
                  <a:pt x="16409" y="7104"/>
                </a:moveTo>
                <a:lnTo>
                  <a:pt x="16409" y="7712"/>
                </a:lnTo>
                <a:lnTo>
                  <a:pt x="16799" y="7712"/>
                </a:lnTo>
                <a:lnTo>
                  <a:pt x="16799" y="16945"/>
                </a:lnTo>
                <a:lnTo>
                  <a:pt x="16409" y="16945"/>
                </a:lnTo>
                <a:lnTo>
                  <a:pt x="16409" y="17559"/>
                </a:lnTo>
                <a:lnTo>
                  <a:pt x="19298" y="17559"/>
                </a:lnTo>
                <a:lnTo>
                  <a:pt x="19298" y="16945"/>
                </a:lnTo>
                <a:lnTo>
                  <a:pt x="18910" y="16945"/>
                </a:lnTo>
                <a:lnTo>
                  <a:pt x="18910" y="7712"/>
                </a:lnTo>
                <a:lnTo>
                  <a:pt x="19298" y="7712"/>
                </a:lnTo>
                <a:lnTo>
                  <a:pt x="19298" y="7104"/>
                </a:lnTo>
                <a:lnTo>
                  <a:pt x="16409" y="7104"/>
                </a:lnTo>
                <a:close/>
                <a:moveTo>
                  <a:pt x="1068" y="18363"/>
                </a:moveTo>
                <a:lnTo>
                  <a:pt x="1068" y="19579"/>
                </a:lnTo>
                <a:lnTo>
                  <a:pt x="20530" y="19579"/>
                </a:lnTo>
                <a:lnTo>
                  <a:pt x="20530" y="18363"/>
                </a:lnTo>
                <a:lnTo>
                  <a:pt x="1068" y="18363"/>
                </a:lnTo>
                <a:close/>
                <a:moveTo>
                  <a:pt x="0" y="20383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383"/>
                </a:lnTo>
                <a:lnTo>
                  <a:pt x="0" y="20383"/>
                </a:lnTo>
                <a:close/>
              </a:path>
            </a:pathLst>
          </a:custGeom>
          <a:solidFill>
            <a:srgbClr val="2864FF"/>
          </a:solidFill>
          <a:ln w="12700">
            <a:noFill/>
            <a:miter/>
          </a:ln>
        </p:spPr>
        <p:txBody>
          <a:bodyPr lIns="45719" rIns="45719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金融机构审核"/>
          <p:cNvSpPr/>
          <p:nvPr/>
        </p:nvSpPr>
        <p:spPr bwMode="auto">
          <a:xfrm>
            <a:off x="8337615" y="4969273"/>
            <a:ext cx="1208751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金融机构审核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1" name="线条"/>
          <p:cNvSpPr/>
          <p:nvPr/>
        </p:nvSpPr>
        <p:spPr bwMode="auto">
          <a:xfrm>
            <a:off x="9546641" y="5088019"/>
            <a:ext cx="651837" cy="1"/>
          </a:xfrm>
          <a:prstGeom prst="line">
            <a:avLst/>
          </a:prstGeom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4B4B4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放款"/>
          <p:cNvSpPr/>
          <p:nvPr/>
        </p:nvSpPr>
        <p:spPr bwMode="auto">
          <a:xfrm>
            <a:off x="9623980" y="4784720"/>
            <a:ext cx="451218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放款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3" name="Freeform 57"/>
          <p:cNvSpPr/>
          <p:nvPr/>
        </p:nvSpPr>
        <p:spPr bwMode="auto">
          <a:xfrm>
            <a:off x="10446090" y="4836187"/>
            <a:ext cx="429850" cy="408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21398"/>
                </a:moveTo>
                <a:cubicBezTo>
                  <a:pt x="3086" y="15084"/>
                  <a:pt x="7406" y="8770"/>
                  <a:pt x="15120" y="11761"/>
                </a:cubicBezTo>
                <a:cubicBezTo>
                  <a:pt x="15120" y="13090"/>
                  <a:pt x="15120" y="13090"/>
                  <a:pt x="15120" y="13090"/>
                </a:cubicBezTo>
                <a:cubicBezTo>
                  <a:pt x="14503" y="13755"/>
                  <a:pt x="12960" y="14087"/>
                  <a:pt x="9566" y="13755"/>
                </a:cubicBezTo>
                <a:cubicBezTo>
                  <a:pt x="9566" y="14087"/>
                  <a:pt x="9566" y="14087"/>
                  <a:pt x="9566" y="14087"/>
                </a:cubicBezTo>
                <a:cubicBezTo>
                  <a:pt x="13886" y="15084"/>
                  <a:pt x="16663" y="14752"/>
                  <a:pt x="19440" y="10432"/>
                </a:cubicBezTo>
                <a:cubicBezTo>
                  <a:pt x="21600" y="10432"/>
                  <a:pt x="21600" y="10432"/>
                  <a:pt x="21600" y="10432"/>
                </a:cubicBezTo>
                <a:cubicBezTo>
                  <a:pt x="17280" y="17410"/>
                  <a:pt x="17280" y="17410"/>
                  <a:pt x="17280" y="17410"/>
                </a:cubicBezTo>
                <a:cubicBezTo>
                  <a:pt x="8331" y="17743"/>
                  <a:pt x="8331" y="17743"/>
                  <a:pt x="8331" y="17743"/>
                </a:cubicBezTo>
                <a:cubicBezTo>
                  <a:pt x="7406" y="21398"/>
                  <a:pt x="7406" y="21398"/>
                  <a:pt x="7406" y="21398"/>
                </a:cubicBezTo>
                <a:cubicBezTo>
                  <a:pt x="0" y="21398"/>
                  <a:pt x="0" y="21398"/>
                  <a:pt x="0" y="21398"/>
                </a:cubicBezTo>
                <a:close/>
                <a:moveTo>
                  <a:pt x="11417" y="2456"/>
                </a:moveTo>
                <a:cubicBezTo>
                  <a:pt x="11417" y="3121"/>
                  <a:pt x="11726" y="3453"/>
                  <a:pt x="11726" y="4118"/>
                </a:cubicBezTo>
                <a:cubicBezTo>
                  <a:pt x="11726" y="4783"/>
                  <a:pt x="11417" y="5115"/>
                  <a:pt x="11109" y="5115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874" y="5780"/>
                  <a:pt x="9874" y="5780"/>
                  <a:pt x="9874" y="5780"/>
                </a:cubicBezTo>
                <a:cubicBezTo>
                  <a:pt x="9566" y="5780"/>
                  <a:pt x="9257" y="5447"/>
                  <a:pt x="8949" y="5115"/>
                </a:cubicBezTo>
                <a:cubicBezTo>
                  <a:pt x="8640" y="4450"/>
                  <a:pt x="8331" y="4118"/>
                  <a:pt x="8331" y="3453"/>
                </a:cubicBezTo>
                <a:cubicBezTo>
                  <a:pt x="8023" y="2789"/>
                  <a:pt x="8023" y="2124"/>
                  <a:pt x="8023" y="1792"/>
                </a:cubicBezTo>
                <a:cubicBezTo>
                  <a:pt x="8023" y="1127"/>
                  <a:pt x="8023" y="795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8331" y="463"/>
                  <a:pt x="8331" y="463"/>
                  <a:pt x="8331" y="463"/>
                </a:cubicBezTo>
                <a:cubicBezTo>
                  <a:pt x="9566" y="130"/>
                  <a:pt x="9566" y="130"/>
                  <a:pt x="9566" y="130"/>
                </a:cubicBezTo>
                <a:cubicBezTo>
                  <a:pt x="9566" y="130"/>
                  <a:pt x="9566" y="130"/>
                  <a:pt x="9566" y="130"/>
                </a:cubicBezTo>
                <a:cubicBezTo>
                  <a:pt x="9874" y="-202"/>
                  <a:pt x="10491" y="130"/>
                  <a:pt x="10800" y="795"/>
                </a:cubicBezTo>
                <a:cubicBezTo>
                  <a:pt x="10800" y="1127"/>
                  <a:pt x="11109" y="1792"/>
                  <a:pt x="11417" y="2456"/>
                </a:cubicBezTo>
                <a:close/>
                <a:moveTo>
                  <a:pt x="9257" y="1460"/>
                </a:moveTo>
                <a:cubicBezTo>
                  <a:pt x="8640" y="1792"/>
                  <a:pt x="8640" y="1792"/>
                  <a:pt x="8640" y="1792"/>
                </a:cubicBezTo>
                <a:cubicBezTo>
                  <a:pt x="8640" y="1792"/>
                  <a:pt x="8640" y="1792"/>
                  <a:pt x="8640" y="2124"/>
                </a:cubicBezTo>
                <a:cubicBezTo>
                  <a:pt x="9257" y="1792"/>
                  <a:pt x="9257" y="1792"/>
                  <a:pt x="9257" y="1792"/>
                </a:cubicBezTo>
                <a:cubicBezTo>
                  <a:pt x="9257" y="1792"/>
                  <a:pt x="9257" y="1792"/>
                  <a:pt x="9257" y="1460"/>
                </a:cubicBezTo>
                <a:close/>
                <a:moveTo>
                  <a:pt x="8640" y="1460"/>
                </a:moveTo>
                <a:cubicBezTo>
                  <a:pt x="9257" y="1127"/>
                  <a:pt x="9257" y="1127"/>
                  <a:pt x="9257" y="1127"/>
                </a:cubicBezTo>
                <a:cubicBezTo>
                  <a:pt x="9257" y="1127"/>
                  <a:pt x="9257" y="1127"/>
                  <a:pt x="9257" y="1127"/>
                </a:cubicBezTo>
                <a:cubicBezTo>
                  <a:pt x="9257" y="1127"/>
                  <a:pt x="9257" y="1127"/>
                  <a:pt x="9257" y="1127"/>
                </a:cubicBezTo>
                <a:cubicBezTo>
                  <a:pt x="8640" y="1127"/>
                  <a:pt x="8640" y="1127"/>
                  <a:pt x="8640" y="1127"/>
                </a:cubicBezTo>
                <a:cubicBezTo>
                  <a:pt x="8640" y="1127"/>
                  <a:pt x="8640" y="1127"/>
                  <a:pt x="8640" y="1127"/>
                </a:cubicBezTo>
                <a:cubicBezTo>
                  <a:pt x="8640" y="1127"/>
                  <a:pt x="8640" y="1460"/>
                  <a:pt x="8640" y="1460"/>
                </a:cubicBezTo>
                <a:close/>
                <a:moveTo>
                  <a:pt x="10183" y="4783"/>
                </a:moveTo>
                <a:cubicBezTo>
                  <a:pt x="9566" y="4783"/>
                  <a:pt x="9566" y="4783"/>
                  <a:pt x="9566" y="4783"/>
                </a:cubicBezTo>
                <a:cubicBezTo>
                  <a:pt x="9566" y="4783"/>
                  <a:pt x="9566" y="4783"/>
                  <a:pt x="9566" y="4783"/>
                </a:cubicBezTo>
                <a:cubicBezTo>
                  <a:pt x="9566" y="4783"/>
                  <a:pt x="9566" y="4783"/>
                  <a:pt x="9566" y="4783"/>
                </a:cubicBezTo>
                <a:cubicBezTo>
                  <a:pt x="10183" y="4783"/>
                  <a:pt x="10183" y="4783"/>
                  <a:pt x="10183" y="4783"/>
                </a:cubicBezTo>
                <a:cubicBezTo>
                  <a:pt x="10183" y="4783"/>
                  <a:pt x="10183" y="4783"/>
                  <a:pt x="10183" y="4783"/>
                </a:cubicBezTo>
                <a:close/>
                <a:moveTo>
                  <a:pt x="9566" y="4450"/>
                </a:moveTo>
                <a:cubicBezTo>
                  <a:pt x="10183" y="4450"/>
                  <a:pt x="10183" y="4450"/>
                  <a:pt x="10183" y="4450"/>
                </a:cubicBezTo>
                <a:cubicBezTo>
                  <a:pt x="9874" y="4118"/>
                  <a:pt x="9874" y="4118"/>
                  <a:pt x="9874" y="4118"/>
                </a:cubicBezTo>
                <a:cubicBezTo>
                  <a:pt x="9257" y="4450"/>
                  <a:pt x="9257" y="4450"/>
                  <a:pt x="9257" y="4450"/>
                </a:cubicBezTo>
                <a:cubicBezTo>
                  <a:pt x="9257" y="4450"/>
                  <a:pt x="9566" y="4450"/>
                  <a:pt x="9566" y="4450"/>
                </a:cubicBezTo>
                <a:close/>
                <a:moveTo>
                  <a:pt x="9257" y="2456"/>
                </a:moveTo>
                <a:cubicBezTo>
                  <a:pt x="8640" y="2456"/>
                  <a:pt x="8640" y="2456"/>
                  <a:pt x="8640" y="2456"/>
                </a:cubicBezTo>
                <a:cubicBezTo>
                  <a:pt x="8640" y="2789"/>
                  <a:pt x="8640" y="2789"/>
                  <a:pt x="8640" y="2789"/>
                </a:cubicBezTo>
                <a:cubicBezTo>
                  <a:pt x="9257" y="2456"/>
                  <a:pt x="9257" y="2456"/>
                  <a:pt x="9257" y="2456"/>
                </a:cubicBezTo>
                <a:cubicBezTo>
                  <a:pt x="9257" y="2456"/>
                  <a:pt x="9257" y="2456"/>
                  <a:pt x="9257" y="2456"/>
                </a:cubicBezTo>
                <a:close/>
                <a:moveTo>
                  <a:pt x="8949" y="3786"/>
                </a:moveTo>
                <a:cubicBezTo>
                  <a:pt x="9566" y="3453"/>
                  <a:pt x="9566" y="3453"/>
                  <a:pt x="9566" y="3453"/>
                </a:cubicBezTo>
                <a:cubicBezTo>
                  <a:pt x="9566" y="3453"/>
                  <a:pt x="9566" y="3453"/>
                  <a:pt x="9566" y="3453"/>
                </a:cubicBezTo>
                <a:cubicBezTo>
                  <a:pt x="8949" y="3453"/>
                  <a:pt x="8949" y="3453"/>
                  <a:pt x="8949" y="3453"/>
                </a:cubicBezTo>
                <a:cubicBezTo>
                  <a:pt x="8949" y="3453"/>
                  <a:pt x="8949" y="3786"/>
                  <a:pt x="8949" y="3786"/>
                </a:cubicBezTo>
                <a:close/>
                <a:moveTo>
                  <a:pt x="10800" y="4118"/>
                </a:moveTo>
                <a:cubicBezTo>
                  <a:pt x="10800" y="3786"/>
                  <a:pt x="10800" y="3121"/>
                  <a:pt x="10800" y="2456"/>
                </a:cubicBezTo>
                <a:cubicBezTo>
                  <a:pt x="10491" y="2124"/>
                  <a:pt x="10183" y="1460"/>
                  <a:pt x="10183" y="1127"/>
                </a:cubicBezTo>
                <a:cubicBezTo>
                  <a:pt x="9874" y="795"/>
                  <a:pt x="9874" y="795"/>
                  <a:pt x="9874" y="795"/>
                </a:cubicBezTo>
                <a:cubicBezTo>
                  <a:pt x="9874" y="795"/>
                  <a:pt x="9874" y="795"/>
                  <a:pt x="9874" y="1127"/>
                </a:cubicBezTo>
                <a:cubicBezTo>
                  <a:pt x="9874" y="1460"/>
                  <a:pt x="9874" y="2124"/>
                  <a:pt x="10183" y="2789"/>
                </a:cubicBezTo>
                <a:cubicBezTo>
                  <a:pt x="10491" y="3453"/>
                  <a:pt x="10491" y="3786"/>
                  <a:pt x="10800" y="4118"/>
                </a:cubicBezTo>
                <a:cubicBezTo>
                  <a:pt x="10800" y="4450"/>
                  <a:pt x="10800" y="4450"/>
                  <a:pt x="11109" y="4450"/>
                </a:cubicBezTo>
                <a:cubicBezTo>
                  <a:pt x="11109" y="4450"/>
                  <a:pt x="10800" y="4450"/>
                  <a:pt x="10800" y="4118"/>
                </a:cubicBezTo>
                <a:close/>
                <a:moveTo>
                  <a:pt x="15737" y="8770"/>
                </a:moveTo>
                <a:cubicBezTo>
                  <a:pt x="15429" y="9103"/>
                  <a:pt x="15120" y="9767"/>
                  <a:pt x="15120" y="10100"/>
                </a:cubicBezTo>
                <a:cubicBezTo>
                  <a:pt x="14811" y="10432"/>
                  <a:pt x="14811" y="10764"/>
                  <a:pt x="15120" y="11096"/>
                </a:cubicBezTo>
                <a:cubicBezTo>
                  <a:pt x="15120" y="11096"/>
                  <a:pt x="15120" y="11096"/>
                  <a:pt x="15120" y="11096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046" y="11761"/>
                  <a:pt x="16046" y="11761"/>
                  <a:pt x="16046" y="11761"/>
                </a:cubicBezTo>
                <a:cubicBezTo>
                  <a:pt x="16354" y="11761"/>
                  <a:pt x="16663" y="11761"/>
                  <a:pt x="16971" y="11429"/>
                </a:cubicBezTo>
                <a:cubicBezTo>
                  <a:pt x="17280" y="11096"/>
                  <a:pt x="17589" y="10764"/>
                  <a:pt x="17897" y="10432"/>
                </a:cubicBezTo>
                <a:cubicBezTo>
                  <a:pt x="18206" y="10100"/>
                  <a:pt x="18514" y="9435"/>
                  <a:pt x="18514" y="9103"/>
                </a:cubicBezTo>
                <a:cubicBezTo>
                  <a:pt x="18514" y="8770"/>
                  <a:pt x="18514" y="8438"/>
                  <a:pt x="18514" y="8106"/>
                </a:cubicBezTo>
                <a:cubicBezTo>
                  <a:pt x="18514" y="8106"/>
                  <a:pt x="18514" y="8106"/>
                  <a:pt x="18514" y="8106"/>
                </a:cubicBezTo>
                <a:cubicBezTo>
                  <a:pt x="18514" y="8106"/>
                  <a:pt x="18514" y="8106"/>
                  <a:pt x="18514" y="8106"/>
                </a:cubicBezTo>
                <a:cubicBezTo>
                  <a:pt x="17589" y="7441"/>
                  <a:pt x="17589" y="7441"/>
                  <a:pt x="17589" y="7441"/>
                </a:cubicBezTo>
                <a:cubicBezTo>
                  <a:pt x="17280" y="7441"/>
                  <a:pt x="16971" y="7441"/>
                  <a:pt x="16663" y="7773"/>
                </a:cubicBezTo>
                <a:cubicBezTo>
                  <a:pt x="16354" y="8106"/>
                  <a:pt x="16046" y="8438"/>
                  <a:pt x="15737" y="8770"/>
                </a:cubicBezTo>
                <a:close/>
                <a:moveTo>
                  <a:pt x="16354" y="10764"/>
                </a:moveTo>
                <a:cubicBezTo>
                  <a:pt x="16663" y="11096"/>
                  <a:pt x="16663" y="11096"/>
                  <a:pt x="16663" y="11096"/>
                </a:cubicBezTo>
                <a:cubicBezTo>
                  <a:pt x="16663" y="10764"/>
                  <a:pt x="16663" y="10764"/>
                  <a:pt x="16663" y="10764"/>
                </a:cubicBezTo>
                <a:cubicBezTo>
                  <a:pt x="16354" y="10432"/>
                  <a:pt x="16354" y="10432"/>
                  <a:pt x="16354" y="10432"/>
                </a:cubicBezTo>
                <a:cubicBezTo>
                  <a:pt x="16354" y="10432"/>
                  <a:pt x="16354" y="10432"/>
                  <a:pt x="16354" y="10764"/>
                </a:cubicBezTo>
                <a:close/>
                <a:moveTo>
                  <a:pt x="16354" y="11096"/>
                </a:moveTo>
                <a:cubicBezTo>
                  <a:pt x="16046" y="10764"/>
                  <a:pt x="16046" y="10764"/>
                  <a:pt x="16046" y="10764"/>
                </a:cubicBezTo>
                <a:cubicBezTo>
                  <a:pt x="16046" y="10764"/>
                  <a:pt x="16046" y="10764"/>
                  <a:pt x="16046" y="10764"/>
                </a:cubicBezTo>
                <a:cubicBezTo>
                  <a:pt x="16046" y="10764"/>
                  <a:pt x="16046" y="10764"/>
                  <a:pt x="16046" y="10764"/>
                </a:cubicBezTo>
                <a:cubicBezTo>
                  <a:pt x="16354" y="11096"/>
                  <a:pt x="16354" y="11096"/>
                  <a:pt x="16354" y="11096"/>
                </a:cubicBezTo>
                <a:cubicBezTo>
                  <a:pt x="16354" y="11096"/>
                  <a:pt x="16354" y="11096"/>
                  <a:pt x="16354" y="11096"/>
                </a:cubicBezTo>
                <a:cubicBezTo>
                  <a:pt x="16354" y="11096"/>
                  <a:pt x="16354" y="11096"/>
                  <a:pt x="16354" y="11096"/>
                </a:cubicBezTo>
                <a:close/>
                <a:moveTo>
                  <a:pt x="17589" y="8438"/>
                </a:moveTo>
                <a:cubicBezTo>
                  <a:pt x="17897" y="8770"/>
                  <a:pt x="17897" y="8770"/>
                  <a:pt x="17897" y="8770"/>
                </a:cubicBezTo>
                <a:cubicBezTo>
                  <a:pt x="17897" y="8770"/>
                  <a:pt x="18206" y="8770"/>
                  <a:pt x="18206" y="8770"/>
                </a:cubicBezTo>
                <a:cubicBezTo>
                  <a:pt x="17897" y="8770"/>
                  <a:pt x="17897" y="8770"/>
                  <a:pt x="17897" y="8770"/>
                </a:cubicBezTo>
                <a:cubicBezTo>
                  <a:pt x="17589" y="8438"/>
                  <a:pt x="17589" y="8438"/>
                  <a:pt x="17589" y="8438"/>
                </a:cubicBezTo>
                <a:cubicBezTo>
                  <a:pt x="17589" y="8438"/>
                  <a:pt x="17589" y="8438"/>
                  <a:pt x="17589" y="8438"/>
                </a:cubicBezTo>
                <a:close/>
                <a:moveTo>
                  <a:pt x="17897" y="9103"/>
                </a:moveTo>
                <a:cubicBezTo>
                  <a:pt x="17589" y="8770"/>
                  <a:pt x="17589" y="8770"/>
                  <a:pt x="17589" y="8770"/>
                </a:cubicBezTo>
                <a:cubicBezTo>
                  <a:pt x="17589" y="8770"/>
                  <a:pt x="17589" y="8770"/>
                  <a:pt x="17589" y="8770"/>
                </a:cubicBezTo>
                <a:cubicBezTo>
                  <a:pt x="17897" y="9103"/>
                  <a:pt x="17897" y="9103"/>
                  <a:pt x="17897" y="9103"/>
                </a:cubicBezTo>
                <a:cubicBezTo>
                  <a:pt x="17897" y="9103"/>
                  <a:pt x="17897" y="9103"/>
                  <a:pt x="17897" y="9103"/>
                </a:cubicBezTo>
                <a:close/>
                <a:moveTo>
                  <a:pt x="16663" y="10100"/>
                </a:moveTo>
                <a:cubicBezTo>
                  <a:pt x="16971" y="10432"/>
                  <a:pt x="16971" y="10432"/>
                  <a:pt x="16971" y="10432"/>
                </a:cubicBezTo>
                <a:cubicBezTo>
                  <a:pt x="17280" y="10432"/>
                  <a:pt x="17280" y="10432"/>
                  <a:pt x="17280" y="10432"/>
                </a:cubicBezTo>
                <a:cubicBezTo>
                  <a:pt x="16663" y="10100"/>
                  <a:pt x="16663" y="10100"/>
                  <a:pt x="16663" y="10100"/>
                </a:cubicBezTo>
                <a:cubicBezTo>
                  <a:pt x="16663" y="10100"/>
                  <a:pt x="16663" y="10100"/>
                  <a:pt x="16663" y="10100"/>
                </a:cubicBezTo>
                <a:close/>
                <a:moveTo>
                  <a:pt x="17589" y="9767"/>
                </a:moveTo>
                <a:cubicBezTo>
                  <a:pt x="17280" y="9435"/>
                  <a:pt x="17280" y="9435"/>
                  <a:pt x="17280" y="9435"/>
                </a:cubicBezTo>
                <a:cubicBezTo>
                  <a:pt x="17280" y="9435"/>
                  <a:pt x="17280" y="9435"/>
                  <a:pt x="16971" y="9435"/>
                </a:cubicBezTo>
                <a:cubicBezTo>
                  <a:pt x="17589" y="9767"/>
                  <a:pt x="17589" y="9767"/>
                  <a:pt x="17589" y="9767"/>
                </a:cubicBezTo>
                <a:cubicBezTo>
                  <a:pt x="17589" y="9767"/>
                  <a:pt x="17589" y="9767"/>
                  <a:pt x="17589" y="9767"/>
                </a:cubicBezTo>
                <a:close/>
                <a:moveTo>
                  <a:pt x="16971" y="8106"/>
                </a:moveTo>
                <a:cubicBezTo>
                  <a:pt x="16663" y="8438"/>
                  <a:pt x="16354" y="8770"/>
                  <a:pt x="16046" y="9103"/>
                </a:cubicBezTo>
                <a:cubicBezTo>
                  <a:pt x="15737" y="9435"/>
                  <a:pt x="15737" y="9767"/>
                  <a:pt x="15429" y="10100"/>
                </a:cubicBezTo>
                <a:cubicBezTo>
                  <a:pt x="15429" y="10432"/>
                  <a:pt x="15429" y="10432"/>
                  <a:pt x="15429" y="10432"/>
                </a:cubicBezTo>
                <a:cubicBezTo>
                  <a:pt x="15429" y="10432"/>
                  <a:pt x="15429" y="10432"/>
                  <a:pt x="15737" y="10432"/>
                </a:cubicBezTo>
                <a:cubicBezTo>
                  <a:pt x="16046" y="10100"/>
                  <a:pt x="16354" y="9767"/>
                  <a:pt x="16354" y="9435"/>
                </a:cubicBezTo>
                <a:cubicBezTo>
                  <a:pt x="16663" y="9103"/>
                  <a:pt x="16971" y="8438"/>
                  <a:pt x="16971" y="8438"/>
                </a:cubicBezTo>
                <a:cubicBezTo>
                  <a:pt x="16971" y="8106"/>
                  <a:pt x="17280" y="8106"/>
                  <a:pt x="17280" y="8106"/>
                </a:cubicBezTo>
                <a:cubicBezTo>
                  <a:pt x="17280" y="8106"/>
                  <a:pt x="16971" y="8106"/>
                  <a:pt x="16971" y="8106"/>
                </a:cubicBezTo>
                <a:close/>
                <a:moveTo>
                  <a:pt x="12034" y="6776"/>
                </a:moveTo>
                <a:cubicBezTo>
                  <a:pt x="11417" y="6776"/>
                  <a:pt x="11109" y="6444"/>
                  <a:pt x="10491" y="6444"/>
                </a:cubicBezTo>
                <a:cubicBezTo>
                  <a:pt x="9874" y="6444"/>
                  <a:pt x="9566" y="6444"/>
                  <a:pt x="9257" y="6776"/>
                </a:cubicBezTo>
                <a:cubicBezTo>
                  <a:pt x="9257" y="6776"/>
                  <a:pt x="9257" y="6776"/>
                  <a:pt x="9257" y="6776"/>
                </a:cubicBezTo>
                <a:cubicBezTo>
                  <a:pt x="8949" y="8106"/>
                  <a:pt x="8949" y="8106"/>
                  <a:pt x="8949" y="8106"/>
                </a:cubicBezTo>
                <a:cubicBezTo>
                  <a:pt x="8949" y="8106"/>
                  <a:pt x="8949" y="8106"/>
                  <a:pt x="8949" y="8106"/>
                </a:cubicBezTo>
                <a:cubicBezTo>
                  <a:pt x="8949" y="8106"/>
                  <a:pt x="8949" y="8106"/>
                  <a:pt x="8949" y="8438"/>
                </a:cubicBezTo>
                <a:cubicBezTo>
                  <a:pt x="8949" y="8438"/>
                  <a:pt x="8949" y="8438"/>
                  <a:pt x="8949" y="8438"/>
                </a:cubicBezTo>
                <a:cubicBezTo>
                  <a:pt x="8949" y="8438"/>
                  <a:pt x="8949" y="8438"/>
                  <a:pt x="8949" y="8438"/>
                </a:cubicBezTo>
                <a:cubicBezTo>
                  <a:pt x="8949" y="8770"/>
                  <a:pt x="8949" y="9103"/>
                  <a:pt x="9566" y="9435"/>
                </a:cubicBezTo>
                <a:cubicBezTo>
                  <a:pt x="9874" y="9767"/>
                  <a:pt x="10183" y="10100"/>
                  <a:pt x="10800" y="10100"/>
                </a:cubicBezTo>
                <a:cubicBezTo>
                  <a:pt x="11417" y="10432"/>
                  <a:pt x="12034" y="10764"/>
                  <a:pt x="12343" y="10764"/>
                </a:cubicBezTo>
                <a:cubicBezTo>
                  <a:pt x="12960" y="10764"/>
                  <a:pt x="13269" y="10764"/>
                  <a:pt x="13577" y="10432"/>
                </a:cubicBezTo>
                <a:cubicBezTo>
                  <a:pt x="13577" y="10432"/>
                  <a:pt x="13577" y="10432"/>
                  <a:pt x="13577" y="10432"/>
                </a:cubicBezTo>
                <a:cubicBezTo>
                  <a:pt x="13577" y="10100"/>
                  <a:pt x="13577" y="10100"/>
                  <a:pt x="13577" y="10100"/>
                </a:cubicBezTo>
                <a:cubicBezTo>
                  <a:pt x="14194" y="8770"/>
                  <a:pt x="14194" y="8770"/>
                  <a:pt x="14194" y="8770"/>
                </a:cubicBezTo>
                <a:cubicBezTo>
                  <a:pt x="14194" y="8438"/>
                  <a:pt x="13886" y="8106"/>
                  <a:pt x="13577" y="7773"/>
                </a:cubicBezTo>
                <a:cubicBezTo>
                  <a:pt x="13269" y="7441"/>
                  <a:pt x="12651" y="7109"/>
                  <a:pt x="12034" y="6776"/>
                </a:cubicBezTo>
                <a:close/>
                <a:moveTo>
                  <a:pt x="10183" y="8106"/>
                </a:moveTo>
                <a:cubicBezTo>
                  <a:pt x="9874" y="8770"/>
                  <a:pt x="9874" y="8770"/>
                  <a:pt x="9874" y="8770"/>
                </a:cubicBezTo>
                <a:cubicBezTo>
                  <a:pt x="9874" y="8770"/>
                  <a:pt x="10183" y="9103"/>
                  <a:pt x="10183" y="9103"/>
                </a:cubicBezTo>
                <a:cubicBezTo>
                  <a:pt x="10491" y="8438"/>
                  <a:pt x="10491" y="8438"/>
                  <a:pt x="10491" y="8438"/>
                </a:cubicBezTo>
                <a:cubicBezTo>
                  <a:pt x="10183" y="8438"/>
                  <a:pt x="10183" y="8106"/>
                  <a:pt x="10183" y="8106"/>
                </a:cubicBezTo>
                <a:close/>
                <a:moveTo>
                  <a:pt x="9874" y="8770"/>
                </a:moveTo>
                <a:cubicBezTo>
                  <a:pt x="9566" y="8438"/>
                  <a:pt x="9566" y="8438"/>
                  <a:pt x="9566" y="8438"/>
                </a:cubicBezTo>
                <a:cubicBezTo>
                  <a:pt x="9566" y="8438"/>
                  <a:pt x="9566" y="8438"/>
                  <a:pt x="9566" y="8438"/>
                </a:cubicBezTo>
                <a:cubicBezTo>
                  <a:pt x="9874" y="7773"/>
                  <a:pt x="9874" y="7773"/>
                  <a:pt x="9874" y="7773"/>
                </a:cubicBezTo>
                <a:cubicBezTo>
                  <a:pt x="9874" y="7773"/>
                  <a:pt x="9874" y="8106"/>
                  <a:pt x="9874" y="8106"/>
                </a:cubicBezTo>
                <a:cubicBezTo>
                  <a:pt x="9874" y="8106"/>
                  <a:pt x="9874" y="8106"/>
                  <a:pt x="9874" y="8106"/>
                </a:cubicBezTo>
                <a:cubicBezTo>
                  <a:pt x="9874" y="8770"/>
                  <a:pt x="9874" y="8770"/>
                  <a:pt x="9874" y="8770"/>
                </a:cubicBezTo>
                <a:close/>
                <a:moveTo>
                  <a:pt x="12960" y="9435"/>
                </a:moveTo>
                <a:cubicBezTo>
                  <a:pt x="12651" y="10100"/>
                  <a:pt x="12651" y="10100"/>
                  <a:pt x="12651" y="10100"/>
                </a:cubicBezTo>
                <a:cubicBezTo>
                  <a:pt x="12960" y="10100"/>
                  <a:pt x="12960" y="10100"/>
                  <a:pt x="12960" y="10100"/>
                </a:cubicBezTo>
                <a:cubicBezTo>
                  <a:pt x="12960" y="10100"/>
                  <a:pt x="12960" y="10100"/>
                  <a:pt x="12960" y="10100"/>
                </a:cubicBezTo>
                <a:cubicBezTo>
                  <a:pt x="13269" y="9435"/>
                  <a:pt x="13269" y="9435"/>
                  <a:pt x="13269" y="9435"/>
                </a:cubicBezTo>
                <a:cubicBezTo>
                  <a:pt x="13269" y="9435"/>
                  <a:pt x="12960" y="9435"/>
                  <a:pt x="12960" y="9435"/>
                </a:cubicBezTo>
                <a:close/>
                <a:moveTo>
                  <a:pt x="12651" y="9767"/>
                </a:moveTo>
                <a:cubicBezTo>
                  <a:pt x="12651" y="9435"/>
                  <a:pt x="12651" y="9435"/>
                  <a:pt x="12651" y="9435"/>
                </a:cubicBezTo>
                <a:cubicBezTo>
                  <a:pt x="12651" y="9435"/>
                  <a:pt x="12651" y="9103"/>
                  <a:pt x="12651" y="9103"/>
                </a:cubicBezTo>
                <a:cubicBezTo>
                  <a:pt x="12343" y="9767"/>
                  <a:pt x="12343" y="9767"/>
                  <a:pt x="12343" y="9767"/>
                </a:cubicBezTo>
                <a:cubicBezTo>
                  <a:pt x="12343" y="9767"/>
                  <a:pt x="12343" y="9767"/>
                  <a:pt x="12651" y="9767"/>
                </a:cubicBezTo>
                <a:close/>
                <a:moveTo>
                  <a:pt x="10800" y="8770"/>
                </a:moveTo>
                <a:cubicBezTo>
                  <a:pt x="10491" y="9103"/>
                  <a:pt x="10491" y="9103"/>
                  <a:pt x="10491" y="9103"/>
                </a:cubicBezTo>
                <a:cubicBezTo>
                  <a:pt x="10800" y="9435"/>
                  <a:pt x="10800" y="9435"/>
                  <a:pt x="10800" y="9435"/>
                </a:cubicBezTo>
                <a:cubicBezTo>
                  <a:pt x="11109" y="8770"/>
                  <a:pt x="11109" y="8770"/>
                  <a:pt x="11109" y="8770"/>
                </a:cubicBezTo>
                <a:cubicBezTo>
                  <a:pt x="11109" y="8770"/>
                  <a:pt x="10800" y="8770"/>
                  <a:pt x="10800" y="8770"/>
                </a:cubicBezTo>
                <a:close/>
                <a:moveTo>
                  <a:pt x="11726" y="9767"/>
                </a:moveTo>
                <a:cubicBezTo>
                  <a:pt x="12034" y="9103"/>
                  <a:pt x="12034" y="9103"/>
                  <a:pt x="12034" y="9103"/>
                </a:cubicBezTo>
                <a:cubicBezTo>
                  <a:pt x="11726" y="9103"/>
                  <a:pt x="11726" y="9103"/>
                  <a:pt x="11726" y="9103"/>
                </a:cubicBezTo>
                <a:cubicBezTo>
                  <a:pt x="11417" y="9767"/>
                  <a:pt x="11417" y="9767"/>
                  <a:pt x="11417" y="9767"/>
                </a:cubicBezTo>
                <a:cubicBezTo>
                  <a:pt x="11417" y="9767"/>
                  <a:pt x="11726" y="9767"/>
                  <a:pt x="11726" y="9767"/>
                </a:cubicBezTo>
                <a:close/>
                <a:moveTo>
                  <a:pt x="12960" y="8438"/>
                </a:moveTo>
                <a:cubicBezTo>
                  <a:pt x="13269" y="8438"/>
                  <a:pt x="13269" y="8770"/>
                  <a:pt x="13269" y="8770"/>
                </a:cubicBezTo>
                <a:cubicBezTo>
                  <a:pt x="13269" y="8770"/>
                  <a:pt x="13269" y="8438"/>
                  <a:pt x="12960" y="8438"/>
                </a:cubicBezTo>
                <a:cubicBezTo>
                  <a:pt x="12651" y="8438"/>
                  <a:pt x="12034" y="8438"/>
                  <a:pt x="11726" y="8106"/>
                </a:cubicBezTo>
                <a:cubicBezTo>
                  <a:pt x="11109" y="7773"/>
                  <a:pt x="10800" y="7773"/>
                  <a:pt x="10491" y="7441"/>
                </a:cubicBezTo>
                <a:cubicBezTo>
                  <a:pt x="10183" y="7109"/>
                  <a:pt x="10183" y="7109"/>
                  <a:pt x="10183" y="7109"/>
                </a:cubicBezTo>
                <a:cubicBezTo>
                  <a:pt x="10183" y="7109"/>
                  <a:pt x="10183" y="7109"/>
                  <a:pt x="10491" y="7109"/>
                </a:cubicBezTo>
                <a:cubicBezTo>
                  <a:pt x="10800" y="7109"/>
                  <a:pt x="11417" y="7441"/>
                  <a:pt x="11726" y="7773"/>
                </a:cubicBezTo>
                <a:cubicBezTo>
                  <a:pt x="12343" y="7773"/>
                  <a:pt x="12651" y="8106"/>
                  <a:pt x="12960" y="8438"/>
                </a:cubicBezTo>
                <a:close/>
                <a:moveTo>
                  <a:pt x="17280" y="2789"/>
                </a:moveTo>
                <a:cubicBezTo>
                  <a:pt x="17897" y="2456"/>
                  <a:pt x="18514" y="2124"/>
                  <a:pt x="18823" y="2124"/>
                </a:cubicBezTo>
                <a:cubicBezTo>
                  <a:pt x="19440" y="2124"/>
                  <a:pt x="19749" y="2456"/>
                  <a:pt x="20057" y="2789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118"/>
                  <a:pt x="20674" y="4118"/>
                  <a:pt x="20674" y="4118"/>
                </a:cubicBezTo>
                <a:cubicBezTo>
                  <a:pt x="20674" y="4450"/>
                  <a:pt x="20366" y="5115"/>
                  <a:pt x="20057" y="5447"/>
                </a:cubicBezTo>
                <a:cubicBezTo>
                  <a:pt x="19440" y="5780"/>
                  <a:pt x="19131" y="6112"/>
                  <a:pt x="18514" y="6112"/>
                </a:cubicBezTo>
                <a:cubicBezTo>
                  <a:pt x="17897" y="6444"/>
                  <a:pt x="17280" y="6776"/>
                  <a:pt x="16663" y="6776"/>
                </a:cubicBezTo>
                <a:cubicBezTo>
                  <a:pt x="16046" y="6776"/>
                  <a:pt x="15737" y="6444"/>
                  <a:pt x="15737" y="6112"/>
                </a:cubicBezTo>
                <a:cubicBezTo>
                  <a:pt x="15737" y="6444"/>
                  <a:pt x="15737" y="6444"/>
                  <a:pt x="15737" y="6444"/>
                </a:cubicBezTo>
                <a:cubicBezTo>
                  <a:pt x="15737" y="6112"/>
                  <a:pt x="15737" y="6112"/>
                  <a:pt x="15737" y="6112"/>
                </a:cubicBezTo>
                <a:cubicBezTo>
                  <a:pt x="15737" y="6112"/>
                  <a:pt x="15429" y="6112"/>
                  <a:pt x="15429" y="6112"/>
                </a:cubicBezTo>
                <a:cubicBezTo>
                  <a:pt x="15429" y="6112"/>
                  <a:pt x="15429" y="6112"/>
                  <a:pt x="15429" y="6112"/>
                </a:cubicBezTo>
                <a:cubicBezTo>
                  <a:pt x="15120" y="4783"/>
                  <a:pt x="15120" y="4783"/>
                  <a:pt x="15120" y="4783"/>
                </a:cubicBezTo>
                <a:cubicBezTo>
                  <a:pt x="15120" y="4783"/>
                  <a:pt x="15120" y="4783"/>
                  <a:pt x="15120" y="4783"/>
                </a:cubicBezTo>
                <a:cubicBezTo>
                  <a:pt x="14811" y="4450"/>
                  <a:pt x="15120" y="4118"/>
                  <a:pt x="15737" y="3453"/>
                </a:cubicBezTo>
                <a:cubicBezTo>
                  <a:pt x="16046" y="3121"/>
                  <a:pt x="16663" y="3121"/>
                  <a:pt x="17280" y="2789"/>
                </a:cubicBezTo>
                <a:close/>
                <a:moveTo>
                  <a:pt x="16663" y="5115"/>
                </a:moveTo>
                <a:cubicBezTo>
                  <a:pt x="16663" y="5780"/>
                  <a:pt x="16663" y="5780"/>
                  <a:pt x="16663" y="5780"/>
                </a:cubicBezTo>
                <a:cubicBezTo>
                  <a:pt x="16971" y="5780"/>
                  <a:pt x="16971" y="5780"/>
                  <a:pt x="16971" y="5780"/>
                </a:cubicBezTo>
                <a:cubicBezTo>
                  <a:pt x="16663" y="5115"/>
                  <a:pt x="16663" y="5115"/>
                  <a:pt x="16663" y="5115"/>
                </a:cubicBezTo>
                <a:cubicBezTo>
                  <a:pt x="16663" y="5115"/>
                  <a:pt x="16663" y="5115"/>
                  <a:pt x="16663" y="5115"/>
                </a:cubicBezTo>
                <a:close/>
                <a:moveTo>
                  <a:pt x="16354" y="5780"/>
                </a:moveTo>
                <a:cubicBezTo>
                  <a:pt x="16354" y="5115"/>
                  <a:pt x="16354" y="5115"/>
                  <a:pt x="16354" y="5115"/>
                </a:cubicBezTo>
                <a:cubicBezTo>
                  <a:pt x="16354" y="5115"/>
                  <a:pt x="16354" y="5115"/>
                  <a:pt x="16354" y="5115"/>
                </a:cubicBezTo>
                <a:cubicBezTo>
                  <a:pt x="16046" y="5115"/>
                  <a:pt x="16046" y="5115"/>
                  <a:pt x="16046" y="5115"/>
                </a:cubicBezTo>
                <a:cubicBezTo>
                  <a:pt x="16354" y="5780"/>
                  <a:pt x="16354" y="5780"/>
                  <a:pt x="16354" y="5780"/>
                </a:cubicBezTo>
                <a:cubicBezTo>
                  <a:pt x="16354" y="5780"/>
                  <a:pt x="16354" y="5780"/>
                  <a:pt x="16354" y="5780"/>
                </a:cubicBezTo>
                <a:cubicBezTo>
                  <a:pt x="16354" y="5780"/>
                  <a:pt x="16354" y="5780"/>
                  <a:pt x="16354" y="5780"/>
                </a:cubicBezTo>
                <a:close/>
                <a:moveTo>
                  <a:pt x="19440" y="3786"/>
                </a:moveTo>
                <a:cubicBezTo>
                  <a:pt x="19749" y="4450"/>
                  <a:pt x="19749" y="4450"/>
                  <a:pt x="19749" y="4450"/>
                </a:cubicBezTo>
                <a:cubicBezTo>
                  <a:pt x="19749" y="4450"/>
                  <a:pt x="19749" y="4450"/>
                  <a:pt x="19749" y="4450"/>
                </a:cubicBezTo>
                <a:cubicBezTo>
                  <a:pt x="19749" y="4450"/>
                  <a:pt x="19749" y="4450"/>
                  <a:pt x="19749" y="4450"/>
                </a:cubicBezTo>
                <a:cubicBezTo>
                  <a:pt x="19749" y="3786"/>
                  <a:pt x="19749" y="3786"/>
                  <a:pt x="19749" y="3786"/>
                </a:cubicBezTo>
                <a:cubicBezTo>
                  <a:pt x="19440" y="3786"/>
                  <a:pt x="19440" y="3786"/>
                  <a:pt x="19440" y="3786"/>
                </a:cubicBezTo>
                <a:close/>
                <a:moveTo>
                  <a:pt x="19440" y="4783"/>
                </a:moveTo>
                <a:cubicBezTo>
                  <a:pt x="19131" y="4118"/>
                  <a:pt x="19131" y="4118"/>
                  <a:pt x="19131" y="4118"/>
                </a:cubicBezTo>
                <a:cubicBezTo>
                  <a:pt x="19131" y="4118"/>
                  <a:pt x="19131" y="4118"/>
                  <a:pt x="19131" y="4118"/>
                </a:cubicBezTo>
                <a:cubicBezTo>
                  <a:pt x="19440" y="4783"/>
                  <a:pt x="19440" y="4783"/>
                  <a:pt x="19440" y="4783"/>
                </a:cubicBezTo>
                <a:cubicBezTo>
                  <a:pt x="19440" y="4783"/>
                  <a:pt x="19440" y="4783"/>
                  <a:pt x="19440" y="4783"/>
                </a:cubicBezTo>
                <a:close/>
                <a:moveTo>
                  <a:pt x="17280" y="5115"/>
                </a:moveTo>
                <a:cubicBezTo>
                  <a:pt x="17589" y="5780"/>
                  <a:pt x="17589" y="5780"/>
                  <a:pt x="17589" y="5780"/>
                </a:cubicBezTo>
                <a:cubicBezTo>
                  <a:pt x="17589" y="5780"/>
                  <a:pt x="17589" y="5780"/>
                  <a:pt x="17897" y="5447"/>
                </a:cubicBezTo>
                <a:cubicBezTo>
                  <a:pt x="17589" y="4783"/>
                  <a:pt x="17589" y="4783"/>
                  <a:pt x="17589" y="4783"/>
                </a:cubicBezTo>
                <a:cubicBezTo>
                  <a:pt x="17589" y="4783"/>
                  <a:pt x="17280" y="5115"/>
                  <a:pt x="17280" y="5115"/>
                </a:cubicBezTo>
                <a:close/>
                <a:moveTo>
                  <a:pt x="18823" y="5115"/>
                </a:moveTo>
                <a:cubicBezTo>
                  <a:pt x="18514" y="4450"/>
                  <a:pt x="18514" y="4450"/>
                  <a:pt x="18514" y="4450"/>
                </a:cubicBezTo>
                <a:cubicBezTo>
                  <a:pt x="18514" y="4450"/>
                  <a:pt x="18206" y="4450"/>
                  <a:pt x="18206" y="4783"/>
                </a:cubicBezTo>
                <a:cubicBezTo>
                  <a:pt x="18514" y="5447"/>
                  <a:pt x="18514" y="5447"/>
                  <a:pt x="18514" y="5447"/>
                </a:cubicBezTo>
                <a:cubicBezTo>
                  <a:pt x="18514" y="5115"/>
                  <a:pt x="18823" y="5115"/>
                  <a:pt x="18823" y="5115"/>
                </a:cubicBezTo>
                <a:close/>
                <a:moveTo>
                  <a:pt x="18823" y="3121"/>
                </a:moveTo>
                <a:cubicBezTo>
                  <a:pt x="18514" y="3121"/>
                  <a:pt x="17897" y="3121"/>
                  <a:pt x="17589" y="3453"/>
                </a:cubicBezTo>
                <a:cubicBezTo>
                  <a:pt x="16971" y="3786"/>
                  <a:pt x="16354" y="4118"/>
                  <a:pt x="16046" y="4118"/>
                </a:cubicBezTo>
                <a:cubicBezTo>
                  <a:pt x="15737" y="4450"/>
                  <a:pt x="15737" y="4450"/>
                  <a:pt x="15737" y="4450"/>
                </a:cubicBezTo>
                <a:cubicBezTo>
                  <a:pt x="15737" y="4450"/>
                  <a:pt x="16046" y="4450"/>
                  <a:pt x="16046" y="4450"/>
                </a:cubicBezTo>
                <a:cubicBezTo>
                  <a:pt x="16663" y="4450"/>
                  <a:pt x="16971" y="4118"/>
                  <a:pt x="17589" y="4118"/>
                </a:cubicBezTo>
                <a:cubicBezTo>
                  <a:pt x="18206" y="3786"/>
                  <a:pt x="18823" y="3453"/>
                  <a:pt x="19131" y="3121"/>
                </a:cubicBezTo>
                <a:cubicBezTo>
                  <a:pt x="19131" y="3121"/>
                  <a:pt x="19440" y="3121"/>
                  <a:pt x="19440" y="3121"/>
                </a:cubicBezTo>
                <a:cubicBezTo>
                  <a:pt x="19440" y="3121"/>
                  <a:pt x="19131" y="3121"/>
                  <a:pt x="18823" y="3121"/>
                </a:cubicBezTo>
                <a:close/>
              </a:path>
            </a:pathLst>
          </a:custGeom>
          <a:solidFill>
            <a:srgbClr val="FF940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400" b="0" i="0" u="none" strike="noStrike" kern="0" cap="none" spc="0">
              <a:ln>
                <a:noFill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alibri" panose="020F0502020204030204"/>
            </a:endParaRPr>
          </a:p>
        </p:txBody>
      </p:sp>
      <p:sp>
        <p:nvSpPr>
          <p:cNvPr id="74" name="债权贴现"/>
          <p:cNvSpPr/>
          <p:nvPr/>
        </p:nvSpPr>
        <p:spPr bwMode="auto">
          <a:xfrm>
            <a:off x="10931015" y="5014358"/>
            <a:ext cx="963450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账款</a:t>
            </a: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贴现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75" name="补充资料（如有）"/>
          <p:cNvSpPr/>
          <p:nvPr/>
        </p:nvSpPr>
        <p:spPr bwMode="auto">
          <a:xfrm>
            <a:off x="4097020" y="5567045"/>
            <a:ext cx="1273175" cy="27559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0" i="0" u="none" strike="noStrike" kern="0" cap="none" spc="0">
                <a:ln>
                  <a:noFill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补充资料（如有）</a:t>
            </a:r>
            <a:endParaRPr b="0" i="0" u="none" strike="noStrike" kern="0" cap="none" spc="0">
              <a:ln>
                <a:noFill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cxnSp>
        <p:nvCxnSpPr>
          <p:cNvPr id="76" name="直接连接符 34"/>
          <p:cNvCxnSpPr/>
          <p:nvPr/>
        </p:nvCxnSpPr>
        <p:spPr bwMode="auto">
          <a:xfrm flipH="1" flipV="1">
            <a:off x="1344844" y="5183480"/>
            <a:ext cx="7620" cy="56832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77" name="直接连接符 36"/>
          <p:cNvCxnSpPr/>
          <p:nvPr/>
        </p:nvCxnSpPr>
        <p:spPr bwMode="auto">
          <a:xfrm flipV="1">
            <a:off x="1344844" y="5183480"/>
            <a:ext cx="386715" cy="317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79" name="直接连接符 1"/>
          <p:cNvCxnSpPr/>
          <p:nvPr/>
        </p:nvCxnSpPr>
        <p:spPr bwMode="auto">
          <a:xfrm flipH="1" flipV="1">
            <a:off x="1344844" y="5732755"/>
            <a:ext cx="7620" cy="56832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80" name="直接连接符 6"/>
          <p:cNvCxnSpPr/>
          <p:nvPr/>
        </p:nvCxnSpPr>
        <p:spPr bwMode="auto">
          <a:xfrm flipV="1">
            <a:off x="1352464" y="6303620"/>
            <a:ext cx="386715" cy="3175"/>
          </a:xfrm>
          <a:prstGeom prst="line">
            <a:avLst/>
          </a:prstGeom>
          <a:noFill/>
          <a:ln w="25400" cap="flat">
            <a:solidFill>
              <a:srgbClr val="2864FF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" name="Freeform 96"/>
          <p:cNvSpPr>
            <a:spLocks noChangeArrowheads="1"/>
          </p:cNvSpPr>
          <p:nvPr/>
        </p:nvSpPr>
        <p:spPr bwMode="auto">
          <a:xfrm>
            <a:off x="10284074" y="1370270"/>
            <a:ext cx="408083" cy="412652"/>
          </a:xfrm>
          <a:custGeom>
            <a:avLst/>
            <a:gdLst>
              <a:gd name="T0" fmla="*/ 2147483646 w 602"/>
              <a:gd name="T1" fmla="*/ 2147483646 h 580"/>
              <a:gd name="T2" fmla="*/ 2147483646 w 602"/>
              <a:gd name="T3" fmla="*/ 2147483646 h 580"/>
              <a:gd name="T4" fmla="*/ 2147483646 w 602"/>
              <a:gd name="T5" fmla="*/ 2147483646 h 580"/>
              <a:gd name="T6" fmla="*/ 2147483646 w 602"/>
              <a:gd name="T7" fmla="*/ 2147483646 h 580"/>
              <a:gd name="T8" fmla="*/ 1320341830 w 602"/>
              <a:gd name="T9" fmla="*/ 2147483646 h 580"/>
              <a:gd name="T10" fmla="*/ 0 w 602"/>
              <a:gd name="T11" fmla="*/ 2147483646 h 580"/>
              <a:gd name="T12" fmla="*/ 0 w 602"/>
              <a:gd name="T13" fmla="*/ 2147483646 h 580"/>
              <a:gd name="T14" fmla="*/ 0 w 602"/>
              <a:gd name="T15" fmla="*/ 2147483646 h 580"/>
              <a:gd name="T16" fmla="*/ 2147483646 w 602"/>
              <a:gd name="T17" fmla="*/ 2147483646 h 580"/>
              <a:gd name="T18" fmla="*/ 2147483646 w 602"/>
              <a:gd name="T19" fmla="*/ 2147483646 h 580"/>
              <a:gd name="T20" fmla="*/ 2147483646 w 602"/>
              <a:gd name="T21" fmla="*/ 2147483646 h 580"/>
              <a:gd name="T22" fmla="*/ 2147483646 w 602"/>
              <a:gd name="T23" fmla="*/ 2147483646 h 580"/>
              <a:gd name="T24" fmla="*/ 2147483646 w 602"/>
              <a:gd name="T25" fmla="*/ 2147483646 h 580"/>
              <a:gd name="T26" fmla="*/ 2147483646 w 602"/>
              <a:gd name="T27" fmla="*/ 2147483646 h 580"/>
              <a:gd name="T28" fmla="*/ 2147483646 w 602"/>
              <a:gd name="T29" fmla="*/ 2147483646 h 580"/>
              <a:gd name="T30" fmla="*/ 2147483646 w 602"/>
              <a:gd name="T31" fmla="*/ 2147483646 h 580"/>
              <a:gd name="T32" fmla="*/ 2147483646 w 602"/>
              <a:gd name="T33" fmla="*/ 0 h 580"/>
              <a:gd name="T34" fmla="*/ 2147483646 w 602"/>
              <a:gd name="T35" fmla="*/ 2147483646 h 580"/>
              <a:gd name="T36" fmla="*/ 2147483646 w 602"/>
              <a:gd name="T37" fmla="*/ 2147483646 h 580"/>
              <a:gd name="T38" fmla="*/ 2147483646 w 602"/>
              <a:gd name="T39" fmla="*/ 2147483646 h 580"/>
              <a:gd name="T40" fmla="*/ 2147483646 w 602"/>
              <a:gd name="T41" fmla="*/ 2147483646 h 580"/>
              <a:gd name="T42" fmla="*/ 2147483646 w 602"/>
              <a:gd name="T43" fmla="*/ 2147483646 h 580"/>
              <a:gd name="T44" fmla="*/ 2147483646 w 602"/>
              <a:gd name="T45" fmla="*/ 2147483646 h 580"/>
              <a:gd name="T46" fmla="*/ 2147483646 w 602"/>
              <a:gd name="T47" fmla="*/ 2147483646 h 580"/>
              <a:gd name="T48" fmla="*/ 2147483646 w 602"/>
              <a:gd name="T49" fmla="*/ 2147483646 h 580"/>
              <a:gd name="T50" fmla="*/ 2147483646 w 602"/>
              <a:gd name="T51" fmla="*/ 2147483646 h 58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602" h="580" extrusionOk="0">
                <a:moveTo>
                  <a:pt x="601" y="551"/>
                </a:moveTo>
                <a:lnTo>
                  <a:pt x="601" y="551"/>
                </a:lnTo>
                <a:cubicBezTo>
                  <a:pt x="601" y="572"/>
                  <a:pt x="594" y="579"/>
                  <a:pt x="572" y="579"/>
                </a:cubicBezTo>
                <a:cubicBezTo>
                  <a:pt x="28" y="579"/>
                  <a:pt x="28" y="579"/>
                  <a:pt x="28" y="579"/>
                </a:cubicBezTo>
                <a:cubicBezTo>
                  <a:pt x="14" y="579"/>
                  <a:pt x="0" y="572"/>
                  <a:pt x="0" y="551"/>
                </a:cubicBezTo>
                <a:cubicBezTo>
                  <a:pt x="0" y="551"/>
                  <a:pt x="0" y="452"/>
                  <a:pt x="78" y="410"/>
                </a:cubicBezTo>
                <a:cubicBezTo>
                  <a:pt x="120" y="388"/>
                  <a:pt x="106" y="410"/>
                  <a:pt x="163" y="381"/>
                </a:cubicBezTo>
                <a:cubicBezTo>
                  <a:pt x="219" y="360"/>
                  <a:pt x="233" y="353"/>
                  <a:pt x="233" y="353"/>
                </a:cubicBezTo>
                <a:cubicBezTo>
                  <a:pt x="233" y="296"/>
                  <a:pt x="233" y="296"/>
                  <a:pt x="233" y="296"/>
                </a:cubicBezTo>
                <a:cubicBezTo>
                  <a:pt x="233" y="296"/>
                  <a:pt x="212" y="275"/>
                  <a:pt x="205" y="226"/>
                </a:cubicBezTo>
                <a:cubicBezTo>
                  <a:pt x="191" y="233"/>
                  <a:pt x="191" y="212"/>
                  <a:pt x="191" y="198"/>
                </a:cubicBezTo>
                <a:cubicBezTo>
                  <a:pt x="191" y="183"/>
                  <a:pt x="184" y="148"/>
                  <a:pt x="198" y="148"/>
                </a:cubicBezTo>
                <a:cubicBezTo>
                  <a:pt x="191" y="127"/>
                  <a:pt x="191" y="99"/>
                  <a:pt x="191" y="92"/>
                </a:cubicBezTo>
                <a:cubicBezTo>
                  <a:pt x="198" y="49"/>
                  <a:pt x="240" y="0"/>
                  <a:pt x="304" y="0"/>
                </a:cubicBezTo>
                <a:cubicBezTo>
                  <a:pt x="375" y="0"/>
                  <a:pt x="410" y="49"/>
                  <a:pt x="410" y="92"/>
                </a:cubicBezTo>
                <a:cubicBezTo>
                  <a:pt x="410" y="99"/>
                  <a:pt x="410" y="127"/>
                  <a:pt x="403" y="148"/>
                </a:cubicBezTo>
                <a:cubicBezTo>
                  <a:pt x="424" y="148"/>
                  <a:pt x="417" y="183"/>
                  <a:pt x="417" y="198"/>
                </a:cubicBezTo>
                <a:cubicBezTo>
                  <a:pt x="417" y="212"/>
                  <a:pt x="410" y="233"/>
                  <a:pt x="396" y="226"/>
                </a:cubicBezTo>
                <a:cubicBezTo>
                  <a:pt x="389" y="275"/>
                  <a:pt x="368" y="296"/>
                  <a:pt x="368" y="296"/>
                </a:cubicBezTo>
                <a:cubicBezTo>
                  <a:pt x="368" y="353"/>
                  <a:pt x="368" y="353"/>
                  <a:pt x="368" y="353"/>
                </a:cubicBezTo>
                <a:cubicBezTo>
                  <a:pt x="368" y="353"/>
                  <a:pt x="382" y="360"/>
                  <a:pt x="438" y="381"/>
                </a:cubicBezTo>
                <a:cubicBezTo>
                  <a:pt x="502" y="410"/>
                  <a:pt x="481" y="388"/>
                  <a:pt x="530" y="410"/>
                </a:cubicBezTo>
                <a:cubicBezTo>
                  <a:pt x="601" y="452"/>
                  <a:pt x="601" y="551"/>
                  <a:pt x="601" y="551"/>
                </a:cubicBezTo>
              </a:path>
            </a:pathLst>
          </a:custGeom>
          <a:solidFill>
            <a:srgbClr val="FF9401"/>
          </a:solidFill>
          <a:ln>
            <a:noFill/>
          </a:ln>
        </p:spPr>
        <p:txBody>
          <a:bodyPr wrap="none" anchor="ctr"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sz="1350" kern="0">
              <a:solidFill>
                <a:srgbClr val="C00000"/>
              </a:solidFill>
              <a:latin typeface="Heiti SC Light"/>
              <a:ea typeface="Heiti SC Light"/>
              <a:cs typeface="Heiti SC Light"/>
            </a:endParaRPr>
          </a:p>
        </p:txBody>
      </p:sp>
      <p:sp>
        <p:nvSpPr>
          <p:cNvPr id="109" name="融易单"/>
          <p:cNvSpPr/>
          <p:nvPr/>
        </p:nvSpPr>
        <p:spPr bwMode="auto">
          <a:xfrm>
            <a:off x="479702" y="2400352"/>
            <a:ext cx="1144270" cy="306705"/>
          </a:xfrm>
          <a:prstGeom prst="rect">
            <a:avLst/>
          </a:prstGeom>
          <a:solidFill>
            <a:srgbClr val="2864FF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defRPr/>
            </a:pPr>
            <a:r>
              <a:rPr lang="zh-CN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开通</a:t>
            </a:r>
            <a:r>
              <a:rPr lang="zh-CN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产品</a:t>
            </a:r>
            <a:endParaRPr lang="zh-CN" sz="14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110" name="融易单"/>
          <p:cNvSpPr/>
          <p:nvPr/>
        </p:nvSpPr>
        <p:spPr bwMode="auto">
          <a:xfrm>
            <a:off x="450492" y="4149142"/>
            <a:ext cx="1144270" cy="306705"/>
          </a:xfrm>
          <a:prstGeom prst="rect">
            <a:avLst/>
          </a:prstGeom>
          <a:solidFill>
            <a:srgbClr val="FF9401"/>
          </a:solidFill>
          <a:ln w="12700">
            <a:noFill/>
            <a:miter lim="400000"/>
          </a:ln>
        </p:spPr>
        <p:txBody>
          <a:bodyPr wrap="none" lIns="45719" rIns="45719">
            <a:spAutoFit/>
          </a:bodyPr>
          <a:lstStyle>
            <a:lvl1pPr algn="l">
              <a:lnSpc>
                <a:spcPct val="100000"/>
              </a:lnSpc>
              <a:defRPr sz="1800">
                <a:solidFill>
                  <a:srgbClr val="4B4B4B"/>
                </a:solidFill>
                <a:latin typeface="WeibeiSC-Bold"/>
                <a:ea typeface="WeibeiSC-Bold"/>
                <a:cs typeface="WeibeiSC-Bold"/>
              </a:defRPr>
            </a:lvl1pPr>
          </a:lstStyle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zh-CN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Helvetica"/>
              </a:rPr>
              <a:t>账款交易</a:t>
            </a:r>
            <a:endParaRPr lang="zh-CN" sz="14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Helvetica"/>
            </a:endParaRPr>
          </a:p>
        </p:txBody>
      </p:sp>
      <p:sp>
        <p:nvSpPr>
          <p:cNvPr id="59" name="灯片编号占位符 19"/>
          <p:cNvSpPr>
            <a:spLocks noGrp="1"/>
          </p:cNvSpPr>
          <p:nvPr/>
        </p:nvSpPr>
        <p:spPr>
          <a:xfrm>
            <a:off x="8610648" y="6356781"/>
            <a:ext cx="2742815" cy="364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554355" rtl="0" eaLnBrk="1" latinLnBrk="0" hangingPunct="1">
              <a:defRPr sz="725" kern="1200">
                <a:solidFill>
                  <a:sysClr val="windowText" lastClr="000000">
                    <a:tint val="75000"/>
                  </a:sysClr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27749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55435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83248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10871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138684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1663700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194119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218055" algn="l" defTabSz="554355" rtl="0" eaLnBrk="1" latinLnBrk="0" hangingPunct="1">
              <a:defRPr sz="1095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1"/>
          <a:stretch>
            <a:fillRect/>
          </a:stretch>
        </p:blipFill>
        <p:spPr>
          <a:xfrm>
            <a:off x="3792220" y="1370330"/>
            <a:ext cx="1093470" cy="584200"/>
          </a:xfrm>
          <a:prstGeom prst="rect">
            <a:avLst/>
          </a:prstGeom>
        </p:spPr>
      </p:pic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8" name="矩形 17"/>
          <p:cNvSpPr/>
          <p:nvPr/>
        </p:nvSpPr>
        <p:spPr bwMode="auto">
          <a:xfrm>
            <a:off x="8734425" y="1163320"/>
            <a:ext cx="1462405" cy="3676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rtlCol="0">
            <a:noAutofit/>
          </a:bodyPr>
          <a:lstStyle>
            <a:lvl1pPr algn="l" defTabSz="457200">
              <a:lnSpc>
                <a:spcPct val="100000"/>
              </a:lnSpc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ern="0">
                <a:ln>
                  <a:noFill/>
                </a:ln>
                <a:latin typeface="微软雅黑" panose="020B0503020204020204" charset="-122"/>
                <a:ea typeface="微软雅黑" panose="020B0503020204020204" charset="-122"/>
                <a:cs typeface="Helvetica"/>
                <a:sym typeface="+mn-ea"/>
              </a:rPr>
              <a:t>联易融产融平台建档认证</a:t>
            </a:r>
            <a:endParaRPr kern="0">
              <a:ln>
                <a:noFill/>
              </a:ln>
              <a:latin typeface="微软雅黑" panose="020B0503020204020204" charset="-122"/>
              <a:ea typeface="微软雅黑" panose="020B0503020204020204" charset="-122"/>
              <a:cs typeface="Helvetica"/>
              <a:sym typeface="+mn-ea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95" y="1418590"/>
            <a:ext cx="1141730" cy="364490"/>
          </a:xfrm>
          <a:prstGeom prst="rect">
            <a:avLst/>
          </a:prstGeom>
        </p:spPr>
      </p:pic>
      <p:sp>
        <p:nvSpPr>
          <p:cNvPr id="48" name="线条"/>
          <p:cNvSpPr/>
          <p:nvPr/>
        </p:nvSpPr>
        <p:spPr bwMode="auto">
          <a:xfrm>
            <a:off x="8905917" y="1613532"/>
            <a:ext cx="1119032" cy="1"/>
          </a:xfrm>
          <a:prstGeom prst="line">
            <a:avLst/>
          </a:prstGeom>
          <a:solidFill>
            <a:srgbClr val="2864FF"/>
          </a:solidFill>
          <a:ln w="25400">
            <a:solidFill>
              <a:srgbClr val="2864FF"/>
            </a:solidFill>
            <a:miter/>
            <a:tailEnd type="triangle"/>
          </a:ln>
        </p:spPr>
        <p:txBody>
          <a:bodyPr lIns="45719" rIns="45719"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4B4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 i="0" u="none" strike="noStrike" kern="0" cap="none" spc="0">
              <a:ln>
                <a:noFill/>
              </a:ln>
              <a:solidFill>
                <a:srgbClr val="4B4B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685" y="5014595"/>
            <a:ext cx="1141730" cy="3644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序号"/>
          <p:cNvSpPr/>
          <p:nvPr>
            <p:custDataLst>
              <p:tags r:id="rId1"/>
            </p:custDataLst>
          </p:nvPr>
        </p:nvSpPr>
        <p:spPr bwMode="auto">
          <a:xfrm>
            <a:off x="4894970" y="3665104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27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项标题"/>
          <p:cNvSpPr/>
          <p:nvPr>
            <p:custDataLst>
              <p:tags r:id="rId2"/>
            </p:custDataLst>
          </p:nvPr>
        </p:nvSpPr>
        <p:spPr bwMode="auto">
          <a:xfrm>
            <a:off x="679117" y="3646054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融资申请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7" name="直接连接符 12"/>
          <p:cNvCxnSpPr/>
          <p:nvPr>
            <p:custDataLst>
              <p:tags r:id="rId3"/>
            </p:custDataLst>
          </p:nvPr>
        </p:nvCxnSpPr>
        <p:spPr bwMode="auto">
          <a:xfrm>
            <a:off x="622300" y="4390711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序号"/>
          <p:cNvSpPr/>
          <p:nvPr>
            <p:custDataLst>
              <p:tags r:id="rId4"/>
            </p:custDataLst>
          </p:nvPr>
        </p:nvSpPr>
        <p:spPr bwMode="auto">
          <a:xfrm>
            <a:off x="10543295" y="189317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44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项标题"/>
          <p:cNvSpPr/>
          <p:nvPr>
            <p:custDataLst>
              <p:tags r:id="rId5"/>
            </p:custDataLst>
          </p:nvPr>
        </p:nvSpPr>
        <p:spPr bwMode="auto">
          <a:xfrm>
            <a:off x="6328078" y="188237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账款管理</a:t>
            </a:r>
            <a:endParaRPr lang="zh-CN" alt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" name="直接连接符 15"/>
          <p:cNvCxnSpPr/>
          <p:nvPr>
            <p:custDataLst>
              <p:tags r:id="rId6"/>
            </p:custDataLst>
          </p:nvPr>
        </p:nvCxnSpPr>
        <p:spPr bwMode="auto">
          <a:xfrm>
            <a:off x="6271260" y="2611794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序号"/>
          <p:cNvSpPr/>
          <p:nvPr>
            <p:custDataLst>
              <p:tags r:id="rId7"/>
            </p:custDataLst>
          </p:nvPr>
        </p:nvSpPr>
        <p:spPr bwMode="auto">
          <a:xfrm>
            <a:off x="10543295" y="2746966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47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项标题"/>
          <p:cNvSpPr/>
          <p:nvPr>
            <p:custDataLst>
              <p:tags r:id="rId8"/>
            </p:custDataLst>
          </p:nvPr>
        </p:nvSpPr>
        <p:spPr bwMode="auto">
          <a:xfrm>
            <a:off x="6328078" y="2746966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7</a:t>
            </a:r>
            <a:r>
              <a:rPr lang="en-US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兑付管理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连接符 22"/>
          <p:cNvCxnSpPr/>
          <p:nvPr>
            <p:custDataLst>
              <p:tags r:id="rId9"/>
            </p:custDataLst>
          </p:nvPr>
        </p:nvCxnSpPr>
        <p:spPr bwMode="auto">
          <a:xfrm>
            <a:off x="6271260" y="3478923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序号"/>
          <p:cNvSpPr/>
          <p:nvPr>
            <p:custDataLst>
              <p:tags r:id="rId10"/>
            </p:custDataLst>
          </p:nvPr>
        </p:nvSpPr>
        <p:spPr bwMode="auto">
          <a:xfrm>
            <a:off x="4901955" y="187412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04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项标题"/>
          <p:cNvSpPr/>
          <p:nvPr>
            <p:custDataLst>
              <p:tags r:id="rId11"/>
            </p:custDataLst>
          </p:nvPr>
        </p:nvSpPr>
        <p:spPr bwMode="auto">
          <a:xfrm>
            <a:off x="679450" y="1868805"/>
            <a:ext cx="3843020" cy="730250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注册及开通</a:t>
            </a:r>
            <a:endParaRPr lang="zh-CN" altLang="en-US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直接连接符 26"/>
          <p:cNvCxnSpPr/>
          <p:nvPr>
            <p:custDataLst>
              <p:tags r:id="rId12"/>
            </p:custDataLst>
          </p:nvPr>
        </p:nvCxnSpPr>
        <p:spPr bwMode="auto">
          <a:xfrm>
            <a:off x="622935" y="2609889"/>
            <a:ext cx="4872990" cy="2540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序号"/>
          <p:cNvSpPr/>
          <p:nvPr>
            <p:custDataLst>
              <p:tags r:id="rId13"/>
            </p:custDataLst>
          </p:nvPr>
        </p:nvSpPr>
        <p:spPr bwMode="auto">
          <a:xfrm>
            <a:off x="4894970" y="2760936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24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项标题"/>
          <p:cNvSpPr/>
          <p:nvPr>
            <p:custDataLst>
              <p:tags r:id="rId14"/>
            </p:custDataLst>
          </p:nvPr>
        </p:nvSpPr>
        <p:spPr bwMode="auto">
          <a:xfrm>
            <a:off x="679117" y="2757761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altLang="en-US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资金方准入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直接连接符 29"/>
          <p:cNvCxnSpPr/>
          <p:nvPr>
            <p:custDataLst>
              <p:tags r:id="rId15"/>
            </p:custDataLst>
          </p:nvPr>
        </p:nvCxnSpPr>
        <p:spPr bwMode="auto">
          <a:xfrm>
            <a:off x="622300" y="3485273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30"/>
          <p:cNvSpPr/>
          <p:nvPr/>
        </p:nvSpPr>
        <p:spPr bwMode="auto">
          <a:xfrm>
            <a:off x="1229360" y="2759710"/>
            <a:ext cx="4064000" cy="914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000" b="0" i="0" u="none" strike="noStrike" kern="0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文本框 31"/>
          <p:cNvSpPr/>
          <p:nvPr/>
        </p:nvSpPr>
        <p:spPr bwMode="auto">
          <a:xfrm>
            <a:off x="1036955" y="2776855"/>
            <a:ext cx="4064000" cy="914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kern="0" cap="none" spc="0">
              <a:ln>
                <a:noFill/>
              </a:ln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序号"/>
          <p:cNvSpPr/>
          <p:nvPr>
            <p:custDataLst>
              <p:tags r:id="rId16"/>
            </p:custDataLst>
          </p:nvPr>
        </p:nvSpPr>
        <p:spPr bwMode="auto">
          <a:xfrm>
            <a:off x="10543295" y="3665458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49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项标题"/>
          <p:cNvSpPr/>
          <p:nvPr>
            <p:custDataLst>
              <p:tags r:id="rId17"/>
            </p:custDataLst>
          </p:nvPr>
        </p:nvSpPr>
        <p:spPr bwMode="auto">
          <a:xfrm>
            <a:off x="6328078" y="3650853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8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账款导入与作废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直接连接符 15"/>
          <p:cNvCxnSpPr/>
          <p:nvPr>
            <p:custDataLst>
              <p:tags r:id="rId18"/>
            </p:custDataLst>
          </p:nvPr>
        </p:nvCxnSpPr>
        <p:spPr bwMode="auto">
          <a:xfrm>
            <a:off x="6271260" y="4392334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序号"/>
          <p:cNvSpPr/>
          <p:nvPr>
            <p:custDataLst>
              <p:tags r:id="rId19"/>
            </p:custDataLst>
          </p:nvPr>
        </p:nvSpPr>
        <p:spPr bwMode="auto">
          <a:xfrm>
            <a:off x="4894970" y="4554739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40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项标题"/>
          <p:cNvSpPr/>
          <p:nvPr>
            <p:custDataLst>
              <p:tags r:id="rId20"/>
            </p:custDataLst>
          </p:nvPr>
        </p:nvSpPr>
        <p:spPr bwMode="auto">
          <a:xfrm>
            <a:off x="679117" y="4535689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4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服务费台账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4" name="直接连接符 12"/>
          <p:cNvCxnSpPr/>
          <p:nvPr>
            <p:custDataLst>
              <p:tags r:id="rId21"/>
            </p:custDataLst>
          </p:nvPr>
        </p:nvCxnSpPr>
        <p:spPr bwMode="auto">
          <a:xfrm>
            <a:off x="622300" y="5280346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序号"/>
          <p:cNvSpPr/>
          <p:nvPr>
            <p:custDataLst>
              <p:tags r:id="rId22"/>
            </p:custDataLst>
          </p:nvPr>
        </p:nvSpPr>
        <p:spPr bwMode="auto">
          <a:xfrm>
            <a:off x="10557900" y="455636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58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项标题"/>
          <p:cNvSpPr/>
          <p:nvPr>
            <p:custDataLst>
              <p:tags r:id="rId23"/>
            </p:custDataLst>
          </p:nvPr>
        </p:nvSpPr>
        <p:spPr bwMode="auto">
          <a:xfrm>
            <a:off x="6342683" y="454175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9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账户中心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直接连接符 15"/>
          <p:cNvCxnSpPr/>
          <p:nvPr>
            <p:custDataLst>
              <p:tags r:id="rId24"/>
            </p:custDataLst>
          </p:nvPr>
        </p:nvCxnSpPr>
        <p:spPr bwMode="auto">
          <a:xfrm>
            <a:off x="6285865" y="5283239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序号"/>
          <p:cNvSpPr/>
          <p:nvPr>
            <p:custDataLst>
              <p:tags r:id="rId25"/>
            </p:custDataLst>
          </p:nvPr>
        </p:nvSpPr>
        <p:spPr bwMode="auto">
          <a:xfrm>
            <a:off x="4897510" y="5437743"/>
            <a:ext cx="601230" cy="72994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2000" b="1" kern="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42</a:t>
            </a:r>
            <a:endParaRPr lang="en-US" sz="2000" b="1" kern="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项标题"/>
          <p:cNvSpPr/>
          <p:nvPr>
            <p:custDataLst>
              <p:tags r:id="rId26"/>
            </p:custDataLst>
          </p:nvPr>
        </p:nvSpPr>
        <p:spPr bwMode="auto">
          <a:xfrm>
            <a:off x="682293" y="5423138"/>
            <a:ext cx="3842777" cy="729941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64FF"/>
              </a:buClr>
              <a:buFont typeface="Wingdings" panose="05000000000000000000"/>
              <a:buChar char="n"/>
              <a:defRPr/>
            </a:pP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0</a:t>
            </a:r>
            <a:r>
              <a:rPr lang="en-US" altLang="zh-CN" sz="2000" b="1" kern="0" spc="3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5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lang="zh-CN" sz="2000" b="1" kern="0" spc="300">
                <a:solidFill>
                  <a:schemeClr val="bg1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台账管理</a:t>
            </a:r>
            <a:endParaRPr lang="zh-CN" sz="2000" b="1" kern="0" spc="300">
              <a:solidFill>
                <a:schemeClr val="bg1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直接连接符 15"/>
          <p:cNvCxnSpPr/>
          <p:nvPr>
            <p:custDataLst>
              <p:tags r:id="rId27"/>
            </p:custDataLst>
          </p:nvPr>
        </p:nvCxnSpPr>
        <p:spPr bwMode="auto">
          <a:xfrm>
            <a:off x="625475" y="6164619"/>
            <a:ext cx="4873625" cy="2899"/>
          </a:xfrm>
          <a:prstGeom prst="line">
            <a:avLst/>
          </a:prstGeom>
          <a:ln w="15875">
            <a:solidFill>
              <a:schemeClr val="tx2"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232005" cy="68567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614035" y="2242185"/>
            <a:ext cx="963930" cy="963930"/>
          </a:xfrm>
          <a:prstGeom prst="ellips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39410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注册及开通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01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rot="5400000">
            <a:off x="-7302" y="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3175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5400000" flipH="1" flipV="1">
            <a:off x="9488007" y="4109720"/>
            <a:ext cx="2748280" cy="2748280"/>
          </a:xfrm>
          <a:prstGeom prst="rtTriangle">
            <a:avLst/>
          </a:prstGeom>
          <a:gradFill>
            <a:gsLst>
              <a:gs pos="16000">
                <a:srgbClr val="4A53A2"/>
              </a:gs>
              <a:gs pos="100000">
                <a:srgbClr val="29A3DC"/>
              </a:gs>
            </a:gsLst>
            <a:lin ang="10800000" scaled="0"/>
          </a:gradFill>
          <a:ln>
            <a:noFill/>
          </a:ln>
          <a:effectLst>
            <a:outerShdw blurRad="254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56928"/>
            <a:ext cx="2504128" cy="5106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26995" y="4394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909955"/>
            <a:ext cx="11236325" cy="5600065"/>
          </a:xfrm>
          <a:prstGeom prst="rect">
            <a:avLst/>
          </a:prstGeom>
        </p:spPr>
      </p:pic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32962"/>
            <a:ext cx="661860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注册及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登录：https://llt.hbsltzb.com/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8760" y="48577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7" name="文本框 1"/>
          <p:cNvSpPr/>
          <p:nvPr/>
        </p:nvSpPr>
        <p:spPr bwMode="auto">
          <a:xfrm>
            <a:off x="521335" y="2450465"/>
            <a:ext cx="11170920" cy="2676525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请客户使用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火狐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谷歌浏览器登录客户端：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平台共有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主体信用、物的信用、数据信用、供应链票据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等分页，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请选择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主体信用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—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银行保理业务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—</a:t>
            </a:r>
            <a:r>
              <a:rPr 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我要办理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”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产品进行注册和激活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客户可以通过三种方式注册登录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联链通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自主注册：客户自行在平台网站上自主申请注册，内管审核通过后完成注册；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自主建档：由平台邀请客户，客户在收到内管端发送的邀请后，自行在平台上注册并完成企业信息录入；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非自主建档：由运营服务人员在内管端完成企业全部信息录入后，获取邀请短信后在平台进行登录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激活。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sndAc>
      <p:stSnd>
        <p:snd r:embed="rId3" name="explode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749906" y="95148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点击右上角“登录“，点击弹窗左下角“注册”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可点击“注册指引”了解注册流程。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1781175"/>
            <a:ext cx="10116820" cy="49561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在信息填写页面，填写信息后勾选”我已阅读并确认《用户协议》和《隐私政策》”(两份协议，点击均可查看详细内容) ;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点击”注册“，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平台会发送注册邀请码到填写的电子邮箱和手机短信，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页面会自动跳转到门户首页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1740" t="10538" r="9313"/>
          <a:stretch>
            <a:fillRect/>
          </a:stretch>
        </p:blipFill>
        <p:spPr>
          <a:xfrm>
            <a:off x="2155825" y="2383790"/>
            <a:ext cx="7989570" cy="438594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741651" y="891160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注册成功后，页面会有”注册成功“的提示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注册成功，被授权人收到平台发送的邀请短信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和邮件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，重新进入平台页面输入手机号和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初始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密码进行登录(首次登录修改密码)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45" y="2244725"/>
            <a:ext cx="7684770" cy="34105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903855"/>
            <a:ext cx="7101840" cy="31508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983105"/>
            <a:ext cx="7278370" cy="3077210"/>
          </a:xfrm>
          <a:prstGeom prst="rect">
            <a:avLst/>
          </a:prstGeom>
        </p:spPr>
      </p:pic>
      <p:sp>
        <p:nvSpPr>
          <p:cNvPr id="6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"/>
          <p:cNvSpPr/>
          <p:nvPr/>
        </p:nvSpPr>
        <p:spPr bwMode="auto">
          <a:xfrm>
            <a:off x="354330" y="792480"/>
            <a:ext cx="11460480" cy="10039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登录之后，门户首页右上角自动反显当前企业名称，可申请办理各业务;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主体信用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银行保理业务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银行保理产品入口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我要办理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进行建档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注:自主注册的供应商在办理各业务之前，需要进行建档</a:t>
            </a: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885" y="3153410"/>
            <a:ext cx="6003925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开始建档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进入建档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环节。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45" y="1657350"/>
            <a:ext cx="8677275" cy="3543300"/>
          </a:xfrm>
          <a:prstGeom prst="rect">
            <a:avLst/>
          </a:prstGeom>
        </p:spPr>
      </p:pic>
      <p:sp>
        <p:nvSpPr>
          <p:cNvPr id="7" name="TextBox 44"/>
          <p:cNvSpPr txBox="1"/>
          <p:nvPr/>
        </p:nvSpPr>
        <p:spPr>
          <a:xfrm>
            <a:off x="298395" y="32059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18511" y="1181990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经办人收到平台发送的邀请短信后，使用手机号和默认密码登录登录平台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（首次登录需修改密码）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登录后有新窗口弹出，若无新窗口弹出，查看浏览器是否有阻碍弹窗；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开始建档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进入建档环节。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24707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305" y="3099435"/>
            <a:ext cx="4610735" cy="2394585"/>
          </a:xfrm>
          <a:prstGeom prst="rect">
            <a:avLst/>
          </a:prstGeom>
          <a:ln>
            <a:solidFill>
              <a:srgbClr val="FF6600"/>
            </a:solidFill>
          </a:ln>
        </p:spPr>
      </p:pic>
      <p:sp>
        <p:nvSpPr>
          <p:cNvPr id="8" name="右箭头 7"/>
          <p:cNvSpPr/>
          <p:nvPr/>
        </p:nvSpPr>
        <p:spPr>
          <a:xfrm>
            <a:off x="6672580" y="4074160"/>
            <a:ext cx="638810" cy="556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965450"/>
            <a:ext cx="5999480" cy="26619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sndAc>
      <p:stSnd>
        <p:snd r:embed="rId4" name="explode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803275" y="1112520"/>
            <a:ext cx="10918825" cy="4603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上传必传（标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为必传）的企业证件影像件，（影像件需为原件拍照或者复印件加盖公章）上传完毕后点击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新图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1786255"/>
            <a:ext cx="9791065" cy="44881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进入补充完善企业信息的流程，填写企业基本信息和企业关联人信息（标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为必填），点击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新图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" y="1863090"/>
            <a:ext cx="9751060" cy="40627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11988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进入上传企业授权书环节，点击下载授权书，打印后盖公章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法人签字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盖章后上传，点击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注：盖章文件一式两份，且平台需上传两份企业授权书。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新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" y="2028825"/>
            <a:ext cx="10092690" cy="41414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" y="2188845"/>
            <a:ext cx="9794875" cy="3801745"/>
          </a:xfrm>
          <a:prstGeom prst="rect">
            <a:avLst/>
          </a:prstGeom>
        </p:spPr>
      </p:pic>
      <p:sp>
        <p:nvSpPr>
          <p:cNvPr id="5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进入添加银行账户环节，点击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在弹窗中输入收付款账号，并点击选择，选择银行，点击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，返回到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列表页面。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None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575" y="4002405"/>
            <a:ext cx="3974465" cy="282829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6358255" y="4221480"/>
            <a:ext cx="2459355" cy="1631315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可添加多个收款账户，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若仅添加一个收款账户，则该账户为默认账户；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若有多个账户，则勾选其中一个账户，则设置其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为默认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账户；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00000"/>
              </a:lnSpc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添加完成后点击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11794821" y="6585495"/>
            <a:ext cx="164465" cy="245110"/>
          </a:xfrm>
        </p:spPr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404110"/>
            <a:ext cx="10610850" cy="3111500"/>
          </a:xfrm>
          <a:prstGeom prst="rect">
            <a:avLst/>
          </a:prstGeom>
        </p:spPr>
      </p:pic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239010"/>
            <a:ext cx="8801735" cy="392811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进入被授权人人脸识别环节，识别完成后等待识别结果，或者点击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点击此处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获得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结果。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467600" y="5080000"/>
            <a:ext cx="584200" cy="3683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扫码后进入小程序识别环节，点击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开始识别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进入识别页面后，点击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，识别成功后点击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关闭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310130"/>
            <a:ext cx="2224405" cy="4194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60" y="2314258"/>
            <a:ext cx="1911985" cy="4185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291715"/>
            <a:ext cx="2299970" cy="42310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直接箭头连接符 8"/>
          <p:cNvCxnSpPr/>
          <p:nvPr/>
        </p:nvCxnSpPr>
        <p:spPr>
          <a:xfrm>
            <a:off x="4315460" y="4323080"/>
            <a:ext cx="688340" cy="20320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477760" y="4302760"/>
            <a:ext cx="688340" cy="20320"/>
          </a:xfrm>
          <a:prstGeom prst="straightConnector1">
            <a:avLst/>
          </a:prstGeom>
          <a:ln w="82550" cap="sq">
            <a:solidFill>
              <a:srgbClr val="FF0000"/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55" y="2150745"/>
            <a:ext cx="9826625" cy="255651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460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企业建档申请完成，等待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平台审核。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1448435"/>
            <a:ext cx="6372225" cy="396113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1029306" y="1112775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若建档申请被退回，则登录之后，点击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重新开始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页面会显示退回原因，可根据退回原因定位需要修改的地方进行修改，修改后再次提交至平台进行审核。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95" y="5158105"/>
            <a:ext cx="10011410" cy="1355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44"/>
          <p:cNvSpPr txBox="1"/>
          <p:nvPr/>
        </p:nvSpPr>
        <p:spPr>
          <a:xfrm>
            <a:off x="205050" y="232962"/>
            <a:ext cx="225615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093" y="225032"/>
            <a:ext cx="2504128" cy="510696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298174" y="822441"/>
            <a:ext cx="11578879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44"/>
          <p:cNvSpPr txBox="1"/>
          <p:nvPr/>
        </p:nvSpPr>
        <p:spPr>
          <a:xfrm>
            <a:off x="205050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1.3.1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激活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1"/>
          <p:cNvSpPr/>
          <p:nvPr/>
        </p:nvSpPr>
        <p:spPr bwMode="auto">
          <a:xfrm>
            <a:off x="1029306" y="1112775"/>
            <a:ext cx="10692767" cy="27997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对于自主建档和自主注册的用户：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平台审核通过后，会收到账户审核成功的短信后，使用已注册的手机号码与密码登录电脑PC端 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进入企业认证通过页面，点击“激活账户”。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对于非自主建档的用户：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经办人会在企业建档审核通过后收到平台发送的邀请短信后，使用手机号和默认密码登录登录平台；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首次登录需修改密码；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742950" lvl="1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直接进入协议签署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页面。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-简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登录后有新窗口弹出，若无新窗口弹出，请查看浏览器是否有阻碍弹窗。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065" y="3522345"/>
            <a:ext cx="3874135" cy="2720340"/>
          </a:xfrm>
          <a:prstGeom prst="rect">
            <a:avLst/>
          </a:prstGeom>
          <a:ln>
            <a:solidFill>
              <a:srgbClr val="FF6600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7540625" y="6438900"/>
            <a:ext cx="28105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仅自主建档和自主注册用户有该页面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506845" y="4145915"/>
            <a:ext cx="986155" cy="5816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35" y="3522345"/>
            <a:ext cx="5430520" cy="255841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" y="1933575"/>
            <a:ext cx="5231765" cy="2660015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488315" y="734695"/>
            <a:ext cx="11381105" cy="11988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登录点击银行保理业务，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银行保理产品入口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点击“我要办理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进入激活账户协议阅读签署页面，查看阅读协议，每个协议徐阅读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秒以上；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确认并签署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”;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Clr>
                <a:srgbClr val="ED7D3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转产融平台界面，签署弹出的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数字证书服务协议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TextBox 44"/>
          <p:cNvSpPr txBox="1"/>
          <p:nvPr/>
        </p:nvSpPr>
        <p:spPr>
          <a:xfrm>
            <a:off x="190445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激活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" y="4090670"/>
            <a:ext cx="5231130" cy="2630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945" y="3635375"/>
            <a:ext cx="5609590" cy="27209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640" y="1989455"/>
            <a:ext cx="4476750" cy="2745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1805940"/>
            <a:ext cx="5880735" cy="2993390"/>
          </a:xfrm>
          <a:prstGeom prst="rect">
            <a:avLst/>
          </a:prstGeom>
        </p:spPr>
      </p:pic>
      <p:sp>
        <p:nvSpPr>
          <p:cNvPr id="10" name="文本框 1"/>
          <p:cNvSpPr/>
          <p:nvPr/>
        </p:nvSpPr>
        <p:spPr bwMode="auto">
          <a:xfrm>
            <a:off x="383511" y="855600"/>
            <a:ext cx="10692767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进入产融首页，点击进入我的产品“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线上保理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点击立即开通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再次点击我的产品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线上保理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签署协议，一直到进入产品界面看到操作菜单既可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TextBox 44"/>
          <p:cNvSpPr txBox="1"/>
          <p:nvPr/>
        </p:nvSpPr>
        <p:spPr>
          <a:xfrm>
            <a:off x="190445" y="232962"/>
            <a:ext cx="2562225" cy="5016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1.3.2  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账户</a:t>
            </a:r>
            <a:r>
              <a:rPr lang="zh-CN" altLang="en-US" sz="26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激活</a:t>
            </a:r>
            <a:endParaRPr lang="zh-CN" altLang="en-US" sz="26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715" y="4526280"/>
            <a:ext cx="4225925" cy="20478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3715385"/>
            <a:ext cx="802005" cy="3422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50" y="2169160"/>
            <a:ext cx="635000" cy="2711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61820"/>
            <a:ext cx="5187950" cy="21424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37611" t="20839" b="26170"/>
          <a:stretch>
            <a:fillRect/>
          </a:stretch>
        </p:blipFill>
        <p:spPr>
          <a:xfrm>
            <a:off x="7452995" y="2331720"/>
            <a:ext cx="596900" cy="2165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02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3890" y="339410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资金方准入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21905"/>
          <a:stretch>
            <a:fillRect/>
          </a:stretch>
        </p:blipFill>
        <p:spPr>
          <a:xfrm>
            <a:off x="479425" y="1988820"/>
            <a:ext cx="10998200" cy="427863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一、登录平台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425" y="689610"/>
            <a:ext cx="10998200" cy="9817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eaLnBrk="1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用户登录：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收到上传资料的短信通知后，请登录电脑端：</a:t>
            </a:r>
            <a:r>
              <a:rPr lang="en-US" altLang="zh-CN" sz="1400" u="sng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https://llt.hbsltzb.com/#/</a:t>
            </a:r>
            <a:r>
              <a:rPr lang="zh-CN" altLang="en-US" sz="1400" u="sng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选择主体信用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应收账款电子凭证业务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我要办理</a:t>
            </a:r>
            <a:endParaRPr lang="en-US" altLang="zh-CN" sz="1400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>
              <a:lnSpc>
                <a:spcPct val="150000"/>
              </a:lnSpc>
              <a:buClr>
                <a:srgbClr val="000000"/>
              </a:buClr>
              <a:buFont typeface="+mj-lt"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注：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建议使用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谷歌浏览器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或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-简"/>
                <a:sym typeface="+mn-ea"/>
              </a:rPr>
              <a:t>搜狗浏览器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选择产品：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选择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线上保理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产品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707515" y="4250055"/>
            <a:ext cx="1581150" cy="4076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52305" y="2060575"/>
            <a:ext cx="1176020" cy="146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32215" y="2132965"/>
            <a:ext cx="3176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如有多家企业，点击此处切换企业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1315" y="4581525"/>
            <a:ext cx="1818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选择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线上保理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产品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4310380"/>
            <a:ext cx="635000" cy="2711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4004945"/>
            <a:ext cx="10998000" cy="25169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13388" b="51085"/>
          <a:stretch>
            <a:fillRect/>
          </a:stretch>
        </p:blipFill>
        <p:spPr>
          <a:xfrm>
            <a:off x="551180" y="1196340"/>
            <a:ext cx="10998000" cy="2100204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二、资金方准入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新增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965" y="690245"/>
            <a:ext cx="10996930" cy="42164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点击【新增】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51180" y="1367155"/>
            <a:ext cx="112839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4520" y="4293235"/>
            <a:ext cx="1003300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15865" y="4430395"/>
            <a:ext cx="615950" cy="1828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967085" y="1270635"/>
            <a:ext cx="386080" cy="2362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9425" y="3472180"/>
            <a:ext cx="10996930" cy="42164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选择银行名称、核心企业名称，上传准入材料（带星号的为必传），完成后点击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提交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endParaRPr lang="en-US" altLang="zh-CN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47215" y="4436745"/>
            <a:ext cx="615950" cy="1828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62445" y="6220460"/>
            <a:ext cx="317500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03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1390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融资申请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464310"/>
            <a:ext cx="10998000" cy="268047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一、融资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51815" y="1493520"/>
            <a:ext cx="105600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07935" y="3140710"/>
            <a:ext cx="386080" cy="2184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51405" y="2778125"/>
            <a:ext cx="530860" cy="1962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1965" y="690245"/>
            <a:ext cx="10996930" cy="69786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发起融资申请位置（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3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种方式）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1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）方式一：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【工作台】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【融资申请】，选择账款，点击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办理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137285"/>
            <a:ext cx="10998000" cy="194399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" y="4004945"/>
            <a:ext cx="10998000" cy="169111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一、融资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508635" y="1916430"/>
            <a:ext cx="112839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776585" y="1268730"/>
            <a:ext cx="508635" cy="266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81965" y="704850"/>
            <a:ext cx="10998835" cy="3860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2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）方式二：【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账款管理】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【账款信息】，点击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融资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或选择多笔账款，点击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批量融资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775460" y="2348865"/>
            <a:ext cx="313690" cy="2800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694035" y="2394585"/>
            <a:ext cx="252095" cy="2419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478790" y="3579495"/>
            <a:ext cx="10998835" cy="3860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3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）方式三：【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融资管理】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【融资申请】，点击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，可进入融资申请详情页面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8"/>
            </p:custDataLst>
          </p:nvPr>
        </p:nvSpPr>
        <p:spPr>
          <a:xfrm>
            <a:off x="482600" y="4940935"/>
            <a:ext cx="112839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861675" y="4076700"/>
            <a:ext cx="508635" cy="266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336405" y="1694815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如发起多笔，可选择批量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融资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9"/>
    </p:custData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1201" r="1247"/>
          <a:stretch>
            <a:fillRect/>
          </a:stretch>
        </p:blipFill>
        <p:spPr>
          <a:xfrm>
            <a:off x="482600" y="4077970"/>
            <a:ext cx="10998000" cy="24845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330" r="1387" b="45666"/>
          <a:stretch>
            <a:fillRect/>
          </a:stretch>
        </p:blipFill>
        <p:spPr>
          <a:xfrm>
            <a:off x="482600" y="1222375"/>
            <a:ext cx="10998000" cy="3223837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二、确认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融资信息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055735" y="4725670"/>
            <a:ext cx="2493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选择收款账户，如资方指定收款账户，请选择对应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银行的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对公户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82645" y="2606040"/>
            <a:ext cx="317690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选择资金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用途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06465" y="6262370"/>
            <a:ext cx="481330" cy="2546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671945" y="6165850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确认无误后，点击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下一步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endParaRPr lang="en-US" altLang="zh-CN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31540" y="2421255"/>
            <a:ext cx="1266825" cy="2311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15640" y="3148965"/>
            <a:ext cx="1029335" cy="2876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43250" y="3429635"/>
            <a:ext cx="14522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填写申请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金额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89920" y="4509770"/>
            <a:ext cx="574675" cy="2419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1965" y="690245"/>
            <a:ext cx="10996930" cy="4502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确认融资信息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选择资金用途，填写融资申请金额，选择收款账户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9233"/>
          <a:stretch>
            <a:fillRect/>
          </a:stretch>
        </p:blipFill>
        <p:spPr>
          <a:xfrm>
            <a:off x="482600" y="1125220"/>
            <a:ext cx="10998200" cy="538099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二、确认融资信息（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如需）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9624060" y="2334260"/>
            <a:ext cx="1781810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如需切换申请融资的账款，可点击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选择账款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endParaRPr lang="en-US" altLang="zh-CN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861675" y="1917065"/>
            <a:ext cx="574675" cy="2419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51405" y="2709545"/>
            <a:ext cx="300990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96225" y="5805805"/>
            <a:ext cx="2004060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勾选对应账款，点击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确定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，即可切换融资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账款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39735" y="5598795"/>
            <a:ext cx="414655" cy="233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1965" y="690245"/>
            <a:ext cx="10996930" cy="4502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just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切换申请融资的账款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选择账款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，勾选需切换的账款，点击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，即可切换。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144270"/>
            <a:ext cx="10998000" cy="1860929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7865"/>
            <a:ext cx="11028045" cy="4457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新增合同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录入合同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订单信息，上传合同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订单影像件，点击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048750" y="1452245"/>
            <a:ext cx="317690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新增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，增加合同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701020" y="1249045"/>
            <a:ext cx="490855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80550" y="2211070"/>
            <a:ext cx="1098550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88070" y="8105140"/>
            <a:ext cx="321945" cy="222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13894" b="10193"/>
          <a:stretch>
            <a:fillRect/>
          </a:stretch>
        </p:blipFill>
        <p:spPr>
          <a:xfrm>
            <a:off x="479425" y="2562860"/>
            <a:ext cx="10998200" cy="39344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55595" y="2924810"/>
            <a:ext cx="3091180" cy="21742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27350" y="5224145"/>
            <a:ext cx="467360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688070" y="6235700"/>
            <a:ext cx="321945" cy="222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56680" y="3929380"/>
            <a:ext cx="23844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上传后的合同</a:t>
            </a:r>
            <a:r>
              <a:rPr lang="en-US" altLang="zh-CN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订单可在此预览</a:t>
            </a:r>
            <a:endParaRPr lang="zh-CN" altLang="en-US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83880" y="2427605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查看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，查看已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编辑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，编辑已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删除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，删除已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4008" b="14856"/>
          <a:stretch>
            <a:fillRect/>
          </a:stretch>
        </p:blipFill>
        <p:spPr>
          <a:xfrm>
            <a:off x="482600" y="3634740"/>
            <a:ext cx="10998200" cy="2712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111250"/>
            <a:ext cx="10998000" cy="2188747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0245"/>
            <a:ext cx="11024235" cy="4483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上传发票信息：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，可选择三种录入方式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848340" y="1168400"/>
            <a:ext cx="504825" cy="2857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5375910" y="2717165"/>
            <a:ext cx="1226185" cy="3098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83655" y="1060450"/>
            <a:ext cx="23844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打开后可自动分配发票占用金额</a:t>
            </a:r>
            <a:endParaRPr lang="zh-CN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200005" y="2788920"/>
            <a:ext cx="95694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71720" y="3027045"/>
            <a:ext cx="25241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如未打开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自动分配占用金额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，需手动填写发票占用金额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69655" y="1148080"/>
            <a:ext cx="1320165" cy="2857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848340" y="1348740"/>
            <a:ext cx="79819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新增发票</a:t>
            </a:r>
            <a:endParaRPr lang="zh-CN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43925" y="3077210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查看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，查看已上传的</a:t>
            </a:r>
            <a:r>
              <a:rPr 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发票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编辑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，编辑已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上传的发票信息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删除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，删除已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上传的发票信息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3944" b="11591"/>
          <a:stretch>
            <a:fillRect/>
          </a:stretch>
        </p:blipFill>
        <p:spPr>
          <a:xfrm>
            <a:off x="482600" y="1111250"/>
            <a:ext cx="10998200" cy="244792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655820" y="1856105"/>
            <a:ext cx="1316990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8790" y="69278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1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）方式一：上传发票影像，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可打开文件夹选择文件，或拖拽文件到对应上传区域；选择好文件后，点击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影像识别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23610" y="3274060"/>
            <a:ext cx="56070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148455"/>
            <a:ext cx="10998000" cy="167036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78790" y="370395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2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）方式二：录入发票信息，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可手动录入发票信息，点击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点击上传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，上传发票影像件，无误后点击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" y="5781675"/>
            <a:ext cx="10998000" cy="35032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6092825"/>
            <a:ext cx="10998000" cy="212051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898140" y="4135120"/>
            <a:ext cx="2988945" cy="16656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矩形 24"/>
          <p:cNvSpPr/>
          <p:nvPr/>
        </p:nvSpPr>
        <p:spPr>
          <a:xfrm flipV="1">
            <a:off x="2927350" y="5876925"/>
            <a:ext cx="683895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6" name="矩形 25"/>
          <p:cNvSpPr/>
          <p:nvPr/>
        </p:nvSpPr>
        <p:spPr>
          <a:xfrm flipV="1">
            <a:off x="8656955" y="6104890"/>
            <a:ext cx="35433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71945" y="5149215"/>
            <a:ext cx="23844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上传后的发票可在此预览</a:t>
            </a:r>
            <a:endParaRPr lang="zh-CN" altLang="en-US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" y="5085080"/>
            <a:ext cx="10998000" cy="8225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96975"/>
            <a:ext cx="10998000" cy="2215757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 flipV="1">
            <a:off x="4655820" y="2132965"/>
            <a:ext cx="1354455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43475" y="1700530"/>
            <a:ext cx="636270" cy="2463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8790" y="69024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3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）方式三：上传发票信息表格，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下载发票信息模板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，填写完成后，上传填写完成后的文件，点击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发票解析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 flipV="1">
            <a:off x="7176135" y="3068955"/>
            <a:ext cx="448945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b="62171"/>
          <a:stretch>
            <a:fillRect/>
          </a:stretch>
        </p:blipFill>
        <p:spPr>
          <a:xfrm>
            <a:off x="482600" y="3463925"/>
            <a:ext cx="10998200" cy="8299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86410" y="4495800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资料上传完成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确认账款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，提交信息，账款生成。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 flipV="1">
            <a:off x="6727190" y="5661025"/>
            <a:ext cx="448945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35" y="5213985"/>
            <a:ext cx="10998000" cy="1570216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8745855" y="196090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四、合同签署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83235" y="686435"/>
            <a:ext cx="10964545" cy="42354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方式一：线上签署，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确认合同信息无误后，勾选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我已认真阅读并同意签署以上所有合同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确认签署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endParaRPr lang="en-US" alt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377045" y="6279515"/>
            <a:ext cx="616585" cy="158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912350" y="3284855"/>
            <a:ext cx="1794510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确认提交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endParaRPr lang="en-US" altLang="zh-CN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60775" y="3429000"/>
            <a:ext cx="128905" cy="1447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91585" y="3284855"/>
            <a:ext cx="343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勾选本笔融资申请的收款账户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235" y="4759960"/>
            <a:ext cx="10964545" cy="42354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二：线下签署，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下载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，下载合同，线下盖章后，扫描成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PDF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稳定，点击上传，上传盖章的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PDF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文档合同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12536"/>
          <a:stretch>
            <a:fillRect/>
          </a:stretch>
        </p:blipFill>
        <p:spPr>
          <a:xfrm>
            <a:off x="479425" y="1176020"/>
            <a:ext cx="10998200" cy="35179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553065" y="4422140"/>
            <a:ext cx="443865" cy="2451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75460" y="4364990"/>
            <a:ext cx="237490" cy="2451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4149090"/>
            <a:ext cx="10998000" cy="199493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79830"/>
            <a:ext cx="10998000" cy="218579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四、合同签署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8790" y="69024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三：批量签署，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如为批量融资，需前往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合同签署】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【待签署】，进行融资合同的签署，可勾选多笔后，点击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批量签署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847215" y="2564765"/>
            <a:ext cx="164465" cy="8261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2600" y="2132965"/>
            <a:ext cx="654050" cy="228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142220" y="2485390"/>
            <a:ext cx="194310" cy="9740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67080" y="2420620"/>
            <a:ext cx="468630" cy="1606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775950" y="1352550"/>
            <a:ext cx="442595" cy="16383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600" y="3561080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签署完成后，则提交成功，如提示需前往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融资审核】进行后续操作，需前往操作。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18150"/>
          <a:stretch>
            <a:fillRect/>
          </a:stretch>
        </p:blipFill>
        <p:spPr>
          <a:xfrm>
            <a:off x="483235" y="4149090"/>
            <a:ext cx="10998200" cy="220789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44320"/>
            <a:ext cx="10998000" cy="1994932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五、融资审核（如需）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235" y="690245"/>
            <a:ext cx="10997565" cy="73469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如需进行融资审核：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方式一：融资申请提交界面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融资审核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字眼，跳转至融资审核界面）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425" y="3658870"/>
            <a:ext cx="10997565" cy="44450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方式二：首页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（【工作台】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【融资审核】，点击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办理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，进入融资审核界面）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17460" y="5733415"/>
            <a:ext cx="421005" cy="2432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75685" y="5398770"/>
            <a:ext cx="525145" cy="2178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51180" y="4149090"/>
            <a:ext cx="567690" cy="2711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644640" y="3061970"/>
            <a:ext cx="439420" cy="1885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152525"/>
            <a:ext cx="10998000" cy="1955711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五、融资审核（如需）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425" y="689610"/>
            <a:ext cx="10997565" cy="44450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方式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三：融资审核界面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（【融资管理】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【融资审核】，点击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办理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，进入融资审核界面，可批量勾选后，点击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批量通过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23160" y="1268730"/>
            <a:ext cx="421005" cy="2432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272395" y="1268730"/>
            <a:ext cx="507365" cy="2076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858010" y="2132965"/>
            <a:ext cx="193040" cy="715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67080" y="2348865"/>
            <a:ext cx="439420" cy="2622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00005" y="2132965"/>
            <a:ext cx="193040" cy="715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9425" y="3347720"/>
            <a:ext cx="10997565" cy="44450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4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进入融资审核详情页面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后：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确认融资信息无误，选择审批意见，点击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提交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</a:t>
            </a:r>
            <a:r>
              <a:rPr 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完成审核。</a:t>
            </a:r>
            <a:endParaRPr 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" y="3933190"/>
            <a:ext cx="10998000" cy="194420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0973435" y="5536565"/>
            <a:ext cx="336550" cy="2260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51405" y="5500370"/>
            <a:ext cx="3770630" cy="2622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04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1390" y="3394103"/>
            <a:ext cx="335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服务费台账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35" y="4293235"/>
            <a:ext cx="10998000" cy="21052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5" y="1791335"/>
            <a:ext cx="10998000" cy="2275448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一、发起开票申请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235" y="690245"/>
            <a:ext cx="10981055" cy="10725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发起开票申请：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在【台账管理】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【服务费台账】，点击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申请开票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，可勾选多笔，点击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批量申请开票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；选择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开票类型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和输入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收电子发票邮箱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；开票成功后，将发送至邮箱。</a:t>
            </a:r>
            <a:endParaRPr lang="en-US" alt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注：服务费支付方为当前企业，且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已放款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的账款，才可申请开票。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847215" y="2860675"/>
            <a:ext cx="212725" cy="11442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978390" y="1801495"/>
            <a:ext cx="1269365" cy="2120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775950" y="3545840"/>
            <a:ext cx="448945" cy="2381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67080" y="3858895"/>
            <a:ext cx="542925" cy="2197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59150" y="5717540"/>
            <a:ext cx="2092325" cy="1663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42305" y="5711190"/>
            <a:ext cx="2092325" cy="1663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05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1390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台账管理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2421890"/>
            <a:ext cx="10998000" cy="239287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一、交易台账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143954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【台账管理】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【交易台账】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交易状态：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可查看账款的交易状态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操作：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资方已放款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的账款，可下载交易回单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导出：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导出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可导出所有的账款数据，勾选账款后，导出勾选的账款数据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270240" y="3573145"/>
            <a:ext cx="803275" cy="11874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920095" y="2564765"/>
            <a:ext cx="352425" cy="1739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7080" y="4149090"/>
            <a:ext cx="410845" cy="1714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632440" y="3645535"/>
            <a:ext cx="584835" cy="1689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06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1390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账款管理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b="32945"/>
          <a:stretch>
            <a:fillRect/>
          </a:stretch>
        </p:blipFill>
        <p:spPr>
          <a:xfrm>
            <a:off x="479425" y="4556125"/>
            <a:ext cx="10998200" cy="17551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130425"/>
            <a:ext cx="10998000" cy="236411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一、账款信息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138366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【账款管理】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【账款信息】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账款编号：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账款编号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可进入账款详情页面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账款状态：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可查阅账款目前所属状态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操作：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可发起账款的确认、融资和作废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58390" y="3354705"/>
            <a:ext cx="754380" cy="11131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704830" y="3570605"/>
            <a:ext cx="487045" cy="177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200005" y="3138805"/>
            <a:ext cx="425450" cy="13290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7080" y="2850515"/>
            <a:ext cx="496570" cy="2114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63115" y="4653280"/>
            <a:ext cx="552450" cy="2705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32215" y="2204720"/>
            <a:ext cx="2466340" cy="2933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215" y="2133600"/>
            <a:ext cx="10998000" cy="1496563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二、账款作废审核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" y="690245"/>
            <a:ext cx="11030585" cy="138366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【账款管理】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【账款作废审核】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账款编号：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账款编号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可进入账款详情页面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账款状态：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可查阅账款目前所属状态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操作：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可发起账款作废的办理和流程追踪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</a:rPr>
            </a:fld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51405" y="3140710"/>
            <a:ext cx="789305" cy="2393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83215" y="3155950"/>
            <a:ext cx="723900" cy="1670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95325" y="3068955"/>
            <a:ext cx="654050" cy="2857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167755" y="2924810"/>
            <a:ext cx="847725" cy="4292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789045"/>
            <a:ext cx="10998000" cy="226057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495550" y="2276475"/>
            <a:ext cx="582295" cy="2393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40710" y="3942715"/>
            <a:ext cx="387985" cy="1746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23160" y="4580890"/>
            <a:ext cx="789305" cy="10509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456045" y="4580890"/>
            <a:ext cx="446405" cy="10693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07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1390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兑付管理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" y="2130425"/>
            <a:ext cx="10998000" cy="2116770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一、兑付管理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009630" cy="138239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兑付管理：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可查看账款的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兑付状态，可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导出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兑付清单台账。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兑付确认：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对“已到核算日、兑付方式为线下兑付、兑付状态为未兑付“的账款，在实际已收到兑付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款项后，须点击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兑付确认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按钮，选择兑付日期，进行兑付确认。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注：勾选需兑付的账款后，点击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兑付确认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，选择打款日期，点击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endParaRPr lang="en-US" alt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791190" y="2203450"/>
            <a:ext cx="561975" cy="2571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28635" y="3093720"/>
            <a:ext cx="831215" cy="11042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47850" y="3355975"/>
            <a:ext cx="204470" cy="1593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0" y="4436745"/>
            <a:ext cx="3810000" cy="200025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319645" y="6021070"/>
            <a:ext cx="561975" cy="3511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08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41445" y="3394103"/>
            <a:ext cx="4627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账款导入与作废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0" y="1229995"/>
            <a:ext cx="10998000" cy="125379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2600" y="690245"/>
            <a:ext cx="11115040" cy="47625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【账款管理】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【账款信息】，点击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一、账款导入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单笔导入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912350" y="1358900"/>
            <a:ext cx="302260" cy="220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7520" y="2543810"/>
            <a:ext cx="11072495" cy="4368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填写账款信息，其中带</a:t>
            </a:r>
            <a:r>
              <a:rPr lang="en-US" altLang="zh-CN" sz="1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*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号为必填。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815" y="2000885"/>
            <a:ext cx="960120" cy="1727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" y="3091815"/>
            <a:ext cx="10998000" cy="293356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847215" y="3945255"/>
            <a:ext cx="9230995" cy="20008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144270"/>
            <a:ext cx="10998000" cy="1860929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7865"/>
            <a:ext cx="11028045" cy="4457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新增合同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录入合同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订单信息，上传合同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订单影像件，点击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048750" y="1452245"/>
            <a:ext cx="317690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新增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，增加合同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701020" y="1249045"/>
            <a:ext cx="490855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80550" y="2211070"/>
            <a:ext cx="1098550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88070" y="8105140"/>
            <a:ext cx="321945" cy="222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13894" b="10193"/>
          <a:stretch>
            <a:fillRect/>
          </a:stretch>
        </p:blipFill>
        <p:spPr>
          <a:xfrm>
            <a:off x="479425" y="2562860"/>
            <a:ext cx="10998200" cy="39344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55595" y="2924810"/>
            <a:ext cx="3091180" cy="21742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27350" y="5224145"/>
            <a:ext cx="467360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688070" y="6235700"/>
            <a:ext cx="321945" cy="222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56680" y="3929380"/>
            <a:ext cx="23844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上传后的合同</a:t>
            </a:r>
            <a:r>
              <a:rPr lang="en-US" altLang="zh-CN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/</a:t>
            </a: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订单可在此预览</a:t>
            </a:r>
            <a:endParaRPr lang="zh-CN" altLang="en-US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83880" y="2427605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查看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，查看已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编辑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，编辑已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删除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，删除已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上传的合同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/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订单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4008" b="14856"/>
          <a:stretch>
            <a:fillRect/>
          </a:stretch>
        </p:blipFill>
        <p:spPr>
          <a:xfrm>
            <a:off x="482600" y="3634740"/>
            <a:ext cx="10998200" cy="2712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111250"/>
            <a:ext cx="10998000" cy="2188747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90245"/>
            <a:ext cx="11024235" cy="4483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上传发票信息：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，可选择三种录入方式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848340" y="1168400"/>
            <a:ext cx="504825" cy="2857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200005" y="2788920"/>
            <a:ext cx="95694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848340" y="1348740"/>
            <a:ext cx="79819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新增发票</a:t>
            </a:r>
            <a:endParaRPr lang="zh-CN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43925" y="3077210"/>
            <a:ext cx="389064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查看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，查看已上传的</a:t>
            </a:r>
            <a:r>
              <a:rPr 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发票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编辑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，编辑已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上传的发票信息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“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删除</a:t>
            </a:r>
            <a:r>
              <a:rPr lang="en-US" altLang="zh-CN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”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，删除已</a:t>
            </a: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上传的发票信息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3944" b="11591"/>
          <a:stretch>
            <a:fillRect/>
          </a:stretch>
        </p:blipFill>
        <p:spPr>
          <a:xfrm>
            <a:off x="482600" y="1111250"/>
            <a:ext cx="10998200" cy="244792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655820" y="1856105"/>
            <a:ext cx="1316990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8790" y="69278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1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）方式一：上传发票影像，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可打开文件夹选择文件，或拖拽文件到对应上传区域；选择好文件后，点击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影像识别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23610" y="3274060"/>
            <a:ext cx="56070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148455"/>
            <a:ext cx="10998000" cy="167036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78790" y="370395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2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）方式二：录入发票信息，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可手动录入发票信息，点击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点击上传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，上传发票影像件，无误后点击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" y="5781675"/>
            <a:ext cx="10998000" cy="35032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6092825"/>
            <a:ext cx="10998000" cy="212051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898140" y="4135120"/>
            <a:ext cx="2988945" cy="16656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5" name="矩形 24"/>
          <p:cNvSpPr/>
          <p:nvPr/>
        </p:nvSpPr>
        <p:spPr>
          <a:xfrm flipV="1">
            <a:off x="2927350" y="5876925"/>
            <a:ext cx="683895" cy="2851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6" name="矩形 25"/>
          <p:cNvSpPr/>
          <p:nvPr/>
        </p:nvSpPr>
        <p:spPr>
          <a:xfrm flipV="1">
            <a:off x="8656955" y="6104890"/>
            <a:ext cx="354330" cy="2000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71945" y="5149215"/>
            <a:ext cx="238442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上传后的发票可在此预览</a:t>
            </a:r>
            <a:endParaRPr lang="zh-CN" altLang="en-US" sz="12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" y="5085080"/>
            <a:ext cx="10998000" cy="8225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96975"/>
            <a:ext cx="10998000" cy="2215757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683196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二、上传资产资料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上传合同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订单影像件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 flipV="1">
            <a:off x="4655820" y="2132965"/>
            <a:ext cx="1354455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43475" y="1700530"/>
            <a:ext cx="636270" cy="2463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8790" y="690245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（</a:t>
            </a:r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3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）方式三：上传发票信息表格，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下载发票信息模板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，填写完成后，上传填写完成后的文件，点击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发票解析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 flipV="1">
            <a:off x="7176135" y="3068955"/>
            <a:ext cx="448945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b="62171"/>
          <a:stretch>
            <a:fillRect/>
          </a:stretch>
        </p:blipFill>
        <p:spPr>
          <a:xfrm>
            <a:off x="482600" y="3463925"/>
            <a:ext cx="10998200" cy="8299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86410" y="4495800"/>
            <a:ext cx="11002010" cy="43307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3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资料上传完成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确认账款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，提交信息，账款生成。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 flipV="1">
            <a:off x="6727190" y="5661025"/>
            <a:ext cx="448945" cy="177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6448425"/>
            <a:ext cx="10998000" cy="3679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3590290"/>
            <a:ext cx="10998000" cy="2841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" y="1196340"/>
            <a:ext cx="10998000" cy="125970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2600" y="690245"/>
            <a:ext cx="11115040" cy="47625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【账款管理】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【账款信息】，点击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批量导入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pic>
        <p:nvPicPr>
          <p:cNvPr id="3" name="图片 2" descr="徽标&#10;&#10;中度可信度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0994842" y="182848"/>
            <a:ext cx="993091" cy="438582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 flipV="1">
            <a:off x="0" y="-2"/>
            <a:ext cx="12192000" cy="111760"/>
          </a:xfrm>
          <a:prstGeom prst="rect">
            <a:avLst/>
          </a:prstGeom>
          <a:solidFill>
            <a:srgbClr val="066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1800" ker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-1792" y="0"/>
            <a:ext cx="2712464" cy="111758"/>
          </a:xfrm>
          <a:prstGeom prst="rect">
            <a:avLst/>
          </a:prstGeom>
          <a:solidFill>
            <a:srgbClr val="FF9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1800" kern="0"/>
          </a:p>
        </p:txBody>
      </p:sp>
      <p:cxnSp>
        <p:nvCxnSpPr>
          <p:cNvPr id="6" name="直线连接符 5"/>
          <p:cNvCxnSpPr/>
          <p:nvPr/>
        </p:nvCxnSpPr>
        <p:spPr>
          <a:xfrm>
            <a:off x="10861894" y="239579"/>
            <a:ext cx="0" cy="32512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-3926" y="8278"/>
            <a:ext cx="389432" cy="696115"/>
          </a:xfrm>
          <a:custGeom>
            <a:avLst/>
            <a:gdLst>
              <a:gd name="connsiteX0" fmla="*/ 0 w 206108"/>
              <a:gd name="connsiteY0" fmla="*/ 0 h 670715"/>
              <a:gd name="connsiteX1" fmla="*/ 206108 w 206108"/>
              <a:gd name="connsiteY1" fmla="*/ 0 h 670715"/>
              <a:gd name="connsiteX2" fmla="*/ 206108 w 206108"/>
              <a:gd name="connsiteY2" fmla="*/ 670715 h 670715"/>
              <a:gd name="connsiteX3" fmla="*/ 0 w 206108"/>
              <a:gd name="connsiteY3" fmla="*/ 670715 h 670715"/>
              <a:gd name="connsiteX4" fmla="*/ 0 w 206108"/>
              <a:gd name="connsiteY4" fmla="*/ 0 h 670715"/>
              <a:gd name="connsiteX0-1" fmla="*/ 0 w 385990"/>
              <a:gd name="connsiteY0-2" fmla="*/ 0 h 670715"/>
              <a:gd name="connsiteX1-3" fmla="*/ 385990 w 385990"/>
              <a:gd name="connsiteY1-4" fmla="*/ 22485 h 670715"/>
              <a:gd name="connsiteX2-5" fmla="*/ 206108 w 385990"/>
              <a:gd name="connsiteY2-6" fmla="*/ 670715 h 670715"/>
              <a:gd name="connsiteX3-7" fmla="*/ 0 w 385990"/>
              <a:gd name="connsiteY3-8" fmla="*/ 670715 h 670715"/>
              <a:gd name="connsiteX4-9" fmla="*/ 0 w 385990"/>
              <a:gd name="connsiteY4-10" fmla="*/ 0 h 670715"/>
              <a:gd name="connsiteX0-11" fmla="*/ 3442 w 389432"/>
              <a:gd name="connsiteY0-12" fmla="*/ 0 h 696115"/>
              <a:gd name="connsiteX1-13" fmla="*/ 389432 w 389432"/>
              <a:gd name="connsiteY1-14" fmla="*/ 22485 h 696115"/>
              <a:gd name="connsiteX2-15" fmla="*/ 0 w 389432"/>
              <a:gd name="connsiteY2-16" fmla="*/ 696115 h 696115"/>
              <a:gd name="connsiteX3-17" fmla="*/ 3442 w 389432"/>
              <a:gd name="connsiteY3-18" fmla="*/ 670715 h 696115"/>
              <a:gd name="connsiteX4-19" fmla="*/ 3442 w 389432"/>
              <a:gd name="connsiteY4-20" fmla="*/ 0 h 6961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89432" h="696115">
                <a:moveTo>
                  <a:pt x="3442" y="0"/>
                </a:moveTo>
                <a:lnTo>
                  <a:pt x="389432" y="22485"/>
                </a:lnTo>
                <a:lnTo>
                  <a:pt x="0" y="696115"/>
                </a:lnTo>
                <a:lnTo>
                  <a:pt x="3442" y="670715"/>
                </a:lnTo>
                <a:lnTo>
                  <a:pt x="3442" y="0"/>
                </a:lnTo>
                <a:close/>
              </a:path>
            </a:pathLst>
          </a:custGeom>
          <a:solidFill>
            <a:srgbClr val="FF9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1800" ker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5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三、账款导入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批量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导入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272395" y="1340485"/>
            <a:ext cx="511810" cy="220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7520" y="2543810"/>
            <a:ext cx="11072495" cy="98552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（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1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）先选择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项目名称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和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资金方名称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endParaRPr lang="en-US" altLang="zh-CN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（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2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）点击下载模板</a:t>
            </a:r>
            <a:endParaRPr lang="zh-CN" altLang="en-US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（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3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）填写模板，上传模板，点击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下一步</a:t>
            </a:r>
            <a:r>
              <a:rPr lang="en-US" altLang="zh-CN" sz="12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endParaRPr lang="en-US" altLang="zh-CN" sz="12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815" y="1929130"/>
            <a:ext cx="960120" cy="273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15865" y="4959985"/>
            <a:ext cx="2859405" cy="2882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83880" y="4959985"/>
            <a:ext cx="2859405" cy="2882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43250" y="4580890"/>
            <a:ext cx="461010" cy="2279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51405" y="5733415"/>
            <a:ext cx="1108710" cy="2279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51855" y="6525260"/>
            <a:ext cx="461010" cy="2279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1196340"/>
            <a:ext cx="10998000" cy="108261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2600" y="690245"/>
            <a:ext cx="11115040" cy="47625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 startAt="2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提交后，回到【账款信息】界面，点击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确认账款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则正式生成账款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三、账款导入</a:t>
            </a:r>
            <a:r>
              <a:rPr lang="en-US" alt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批量</a:t>
            </a: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导入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344150" y="1988820"/>
            <a:ext cx="839470" cy="220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180" y="1484630"/>
            <a:ext cx="960120" cy="273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2600" y="2680970"/>
            <a:ext cx="11115040" cy="47625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注：账款状态为“未确认”时，可点击【编辑】、【删除】进行修改与删除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284855"/>
            <a:ext cx="10998000" cy="2496408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0" y="2488565"/>
            <a:ext cx="10998000" cy="300259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2600" y="690245"/>
            <a:ext cx="11115040" cy="171386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【账款管理】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【账款信息】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步骤一：选择账款，点击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作废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步骤二：点击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确认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；</a:t>
            </a:r>
            <a:endParaRPr lang="en-US" alt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步骤三：等待甲方审核通过，通过后，作废成功；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注：甲方确权后的资产才可发起作废。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黑体" panose="02010609060101010101" charset="-122"/>
            </a:endParaRPr>
          </a:p>
        </p:txBody>
      </p:sp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四、账款</a:t>
            </a:r>
            <a:r>
              <a:rPr lang="zh-CN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作废</a:t>
            </a:r>
            <a:endParaRPr lang="zh-CN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0920095" y="3756660"/>
            <a:ext cx="253365" cy="15887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1180" y="3138805"/>
            <a:ext cx="960120" cy="273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28155" y="5187950"/>
            <a:ext cx="371475" cy="1720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728333" y="2370207"/>
            <a:ext cx="808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09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21250" y="3394103"/>
            <a:ext cx="272288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65J" panose="00020600040101010101" charset="-122"/>
                <a:sym typeface="+mn-ea"/>
              </a:rPr>
              <a:t>账户中心</a:t>
            </a:r>
            <a:endParaRPr kumimoji="0" lang="zh-CN" altLang="en-US" sz="5000" b="1" i="0" u="none" strike="noStrike" kern="1200" cap="none" spc="0" normalizeH="0" baseline="0" noProof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65J" panose="00020600040101010101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2074545"/>
            <a:ext cx="10998000" cy="2864542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一、企业信息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050" y="690245"/>
            <a:ext cx="10953750" cy="138811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【账户中心】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【企业信息】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【银行账户】：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可新增、修改和删除企业账户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28600" indent="-2286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新增账户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或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修改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28600" indent="-2286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录入账户信息，选择开户行；录入完成后，点击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按钮，操作结束；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开户行名称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或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大额支付行号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有误时，请联系平台运营。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22935" y="4001770"/>
            <a:ext cx="83883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415905" y="2849245"/>
            <a:ext cx="650875" cy="1631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51405" y="2201545"/>
            <a:ext cx="57340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48340" y="2201545"/>
            <a:ext cx="504190" cy="2070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b="13359"/>
          <a:stretch>
            <a:fillRect/>
          </a:stretch>
        </p:blipFill>
        <p:spPr>
          <a:xfrm>
            <a:off x="4007485" y="2851150"/>
            <a:ext cx="4134485" cy="352933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079240" y="2851150"/>
            <a:ext cx="3818890" cy="8445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2767330"/>
            <a:ext cx="10998000" cy="2185795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一、企业信息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050" y="690245"/>
            <a:ext cx="10953750" cy="183451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no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【账户中心】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【企业信息】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ukey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信息】：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可新增、修改和删除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ukey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信息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28600" indent="-2286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28600" indent="-2286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录入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ukey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序列号，点击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环境检测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28600" indent="-2286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环境检测通过后，点击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en-US" altLang="zh-CN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注：特定行方，在融资时需使用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UKEY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验证，才需要进行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UKEY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绑定。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22935" y="4651375"/>
            <a:ext cx="838835" cy="2165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28025" y="4363720"/>
            <a:ext cx="379095" cy="1873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55595" y="2917825"/>
            <a:ext cx="564515" cy="1625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60100" y="2851150"/>
            <a:ext cx="405765" cy="2133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31765" y="3747135"/>
            <a:ext cx="2646045" cy="349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2463800"/>
            <a:ext cx="10998000" cy="2841534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二、角色权限配置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446510" cy="17068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【账户中心】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【角色权限配置】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按钮可新增角色，点击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编辑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按钮可编辑已有角色。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权限分配：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分配对应角色拥有的菜单权限；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勾选需要分配给该角色的菜单；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勾选菜单的功能按钮权限；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22935" y="4579620"/>
            <a:ext cx="1074420" cy="304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92485" y="2563495"/>
            <a:ext cx="376555" cy="1733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560050" y="3427095"/>
            <a:ext cx="358775" cy="1701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0" y="3429000"/>
            <a:ext cx="5560695" cy="288036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3647440" y="3789045"/>
            <a:ext cx="180340" cy="6203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21425" y="4076700"/>
            <a:ext cx="242570" cy="22326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03295" y="4708525"/>
            <a:ext cx="173990" cy="13055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31540" y="5965190"/>
            <a:ext cx="1537335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点击可展开子菜单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 bwMode="auto">
          <a:xfrm>
            <a:off x="856615" y="909955"/>
            <a:ext cx="10851515" cy="1417955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lIns="91440" rIns="91440" rtlCol="0">
            <a:noAutofit/>
          </a:bodyPr>
          <a:lstStyle>
            <a:lvl1pPr>
              <a:lnSpc>
                <a:spcPct val="150000"/>
              </a:lnSpc>
              <a:defRPr sz="1600">
                <a:solidFill>
                  <a:srgbClr val="7F7F7F"/>
                </a:solidFill>
                <a:latin typeface="黑体-简"/>
                <a:ea typeface="黑体-简"/>
                <a:cs typeface="黑体-简"/>
              </a:defRPr>
            </a:lvl1pPr>
          </a:lstStyle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对于各业务需新增经办人，企业被授权人可在登录平台首页，点击右上角的当前企业名称，在展示的下拉项中选择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新增经办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注：经办人不展示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新增经办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的按钮，经办人只能由企业被授权人新增。</a:t>
            </a: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对于新增的平台经办人，若平台邀请码有效期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天内为登录平台，可点击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重发邀请码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重新邀请该经办人。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Clr>
                <a:srgbClr val="ED7D31"/>
              </a:buClr>
              <a:buFont typeface="Wingdings" panose="05000000000000000000" charset="0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可对经办人进行删除。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</a:pPr>
            <a:endParaRPr lang="zh-CN" altLang="en-US" sz="14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2FD15-9033-4F94-B8D6-B6F4D93F27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5" y="2327910"/>
            <a:ext cx="10938510" cy="2697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3496310"/>
            <a:ext cx="10939145" cy="3225165"/>
          </a:xfrm>
          <a:prstGeom prst="rect">
            <a:avLst/>
          </a:prstGeom>
        </p:spPr>
      </p:pic>
      <p:sp>
        <p:nvSpPr>
          <p:cNvPr id="9" name="联易融简介/COMPANY PROFILE"/>
          <p:cNvSpPr txBox="1"/>
          <p:nvPr>
            <p:custDataLst>
              <p:tags r:id="rId3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二、用户角色配置（新增经办）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2573020"/>
            <a:ext cx="10998000" cy="3773372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二、用户角色配置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446510" cy="17068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【账户中心】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【用户角色配置】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编辑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按钮可编辑已有用户，点击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冻结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按钮可冻结已有用户。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新增用户：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录入用户信息；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勾选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我已阅读并同意《管理人设立子账户授权书》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确定授权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22935" y="4869180"/>
            <a:ext cx="1074420" cy="3041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95025" y="2636520"/>
            <a:ext cx="376555" cy="17335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632440" y="3644900"/>
            <a:ext cx="480695" cy="1784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02660" y="3645535"/>
            <a:ext cx="5109845" cy="65659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31765" y="6093460"/>
            <a:ext cx="1558290" cy="1962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59150" y="4379595"/>
            <a:ext cx="521335" cy="1600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87395" y="4448810"/>
            <a:ext cx="183642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2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</a:rPr>
              <a:t>点击可添加多位用户</a:t>
            </a:r>
            <a:endParaRPr lang="zh-CN" altLang="en-US" sz="120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83880" y="6093460"/>
            <a:ext cx="457200" cy="1968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2708910"/>
            <a:ext cx="10998000" cy="2893302"/>
          </a:xfrm>
          <a:prstGeom prst="rect">
            <a:avLst/>
          </a:prstGeom>
        </p:spPr>
      </p:pic>
      <p:sp>
        <p:nvSpPr>
          <p:cNvPr id="49" name="矩形"/>
          <p:cNvSpPr/>
          <p:nvPr/>
        </p:nvSpPr>
        <p:spPr>
          <a:xfrm>
            <a:off x="0" y="-12680"/>
            <a:ext cx="12192000" cy="691673"/>
          </a:xfrm>
          <a:prstGeom prst="rect">
            <a:avLst/>
          </a:prstGeom>
          <a:solidFill>
            <a:schemeClr val="bg1">
              <a:lumMod val="85000"/>
              <a:alpha val="2176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pPr>
            <a:endParaRPr sz="1800" kern="0">
              <a:latin typeface="微软雅黑" panose="020B0503020204020204" charset="-122"/>
              <a:ea typeface="微软雅黑" panose="020B0503020204020204" charset="-122"/>
              <a:cs typeface="Heiti SC Light"/>
            </a:endParaRPr>
          </a:p>
        </p:txBody>
      </p:sp>
      <p:sp>
        <p:nvSpPr>
          <p:cNvPr id="4" name="联易融简介/COMPANY PROFILE"/>
          <p:cNvSpPr txBox="1"/>
          <p:nvPr>
            <p:custDataLst>
              <p:tags r:id="rId2"/>
            </p:custDataLst>
          </p:nvPr>
        </p:nvSpPr>
        <p:spPr>
          <a:xfrm>
            <a:off x="482600" y="216535"/>
            <a:ext cx="525970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864FF"/>
                </a:solidFill>
                <a:latin typeface="Source Han Sans CN Medium" panose="020B0500000000000000" charset="-122"/>
                <a:ea typeface="Source Han Sans CN Medium" panose="020B0500000000000000" charset="-122"/>
                <a:cs typeface="Source Han Sans CN Medium" panose="020B0500000000000000" charset="-122"/>
                <a:sym typeface="Source Han Sans CN Medium" panose="020B0500000000000000" charset="-122"/>
              </a:defRPr>
            </a:pPr>
            <a:r>
              <a:rPr lang="zh-CN" altLang="en-US" sz="2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三、审核流程配置</a:t>
            </a:r>
            <a:endParaRPr lang="zh-CN" altLang="en-US" sz="2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2600" y="689610"/>
            <a:ext cx="11446510" cy="1706880"/>
          </a:xfrm>
          <a:prstGeom prst="rect">
            <a:avLst/>
          </a:prstGeom>
          <a:solidFill>
            <a:srgbClr val="FF9001">
              <a:alpha val="5000"/>
            </a:srgbClr>
          </a:solidFill>
        </p:spPr>
        <p:txBody>
          <a:bodyPr wrap="square" rtlCol="0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【账户中心】</a:t>
            </a:r>
            <a:r>
              <a: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-</a:t>
            </a: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【审核流程配置】：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系统默认为一级审核，若需配置多级审核，可自行配置，点击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编辑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黑体" panose="02010609060101010101" charset="-122"/>
              </a:rPr>
              <a:t>”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</a:pPr>
            <a:r>
              <a:rPr lang="zh-CN" altLang="en-US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编辑流程：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下拉选择“当前审核层级”（可设置1-6级审核，同一级审核下可设置多个经办人）；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勾选审核操作权限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；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选择拥有该层级审核的角色或用户，无误后，点击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“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保存</a:t>
            </a:r>
            <a:r>
              <a:rPr lang="en-US" altLang="zh-CN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”</a:t>
            </a: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iti SC Light"/>
                <a:sym typeface="+mn-ea"/>
              </a:rPr>
              <a:t>。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iti SC Light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22935" y="5325110"/>
            <a:ext cx="1069975" cy="21526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15905" y="3644900"/>
            <a:ext cx="257810" cy="177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260" y="3356610"/>
            <a:ext cx="8203565" cy="24765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575685" y="3644900"/>
            <a:ext cx="1645285" cy="3371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07260" y="3933190"/>
            <a:ext cx="833755" cy="6229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84730" y="4712970"/>
            <a:ext cx="4995545" cy="82740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71895" y="5611495"/>
            <a:ext cx="316865" cy="1625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rgbClr val="4B4B4B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2540" y="0"/>
            <a:ext cx="11753850" cy="6855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627" y="4432"/>
            <a:ext cx="6874592" cy="6858000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368737" y="0"/>
            <a:ext cx="4093845" cy="686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16200000">
            <a:off x="3753139" y="1315726"/>
            <a:ext cx="6858000" cy="42265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6656">
                <a:moveTo>
                  <a:pt x="10800" y="4693"/>
                </a:moveTo>
                <a:lnTo>
                  <a:pt x="10800" y="6656"/>
                </a:lnTo>
                <a:lnTo>
                  <a:pt x="5401" y="3566"/>
                </a:lnTo>
                <a:lnTo>
                  <a:pt x="0" y="6656"/>
                </a:lnTo>
                <a:lnTo>
                  <a:pt x="0" y="3090"/>
                </a:lnTo>
                <a:lnTo>
                  <a:pt x="5401" y="0"/>
                </a:lnTo>
                <a:lnTo>
                  <a:pt x="10800" y="3090"/>
                </a:lnTo>
                <a:lnTo>
                  <a:pt x="10800" y="4693"/>
                </a:lnTo>
                <a:close/>
              </a:path>
            </a:pathLst>
          </a:custGeom>
          <a:gradFill>
            <a:gsLst>
              <a:gs pos="0">
                <a:srgbClr val="BCBEC0">
                  <a:alpha val="17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086770" y="453517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9" name="等腰三角形 8"/>
          <p:cNvSpPr/>
          <p:nvPr/>
        </p:nvSpPr>
        <p:spPr>
          <a:xfrm flipV="1">
            <a:off x="6086770" y="0"/>
            <a:ext cx="2726690" cy="2322830"/>
          </a:xfrm>
          <a:prstGeom prst="triangle">
            <a:avLst/>
          </a:pr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7" name="任意多边形 6"/>
          <p:cNvSpPr/>
          <p:nvPr/>
        </p:nvSpPr>
        <p:spPr>
          <a:xfrm rot="16200000">
            <a:off x="493201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5" name="任意多边形 4"/>
          <p:cNvSpPr/>
          <p:nvPr/>
        </p:nvSpPr>
        <p:spPr>
          <a:xfrm rot="16200000">
            <a:off x="4788507" y="1824678"/>
            <a:ext cx="6858000" cy="3208645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0800" h="5053">
                <a:moveTo>
                  <a:pt x="0" y="3090"/>
                </a:moveTo>
                <a:lnTo>
                  <a:pt x="5401" y="0"/>
                </a:lnTo>
                <a:lnTo>
                  <a:pt x="10800" y="3090"/>
                </a:lnTo>
                <a:lnTo>
                  <a:pt x="10800" y="5053"/>
                </a:lnTo>
                <a:lnTo>
                  <a:pt x="5401" y="1963"/>
                </a:lnTo>
                <a:lnTo>
                  <a:pt x="0" y="5053"/>
                </a:lnTo>
                <a:lnTo>
                  <a:pt x="0" y="3090"/>
                </a:lnTo>
                <a:close/>
              </a:path>
            </a:pathLst>
          </a:custGeom>
          <a:gradFill>
            <a:gsLst>
              <a:gs pos="19000">
                <a:srgbClr val="4A53A2"/>
              </a:gs>
              <a:gs pos="100000">
                <a:srgbClr val="29A3D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 rot="16200000">
            <a:off x="6574398" y="142554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21" name="任意多边形 20"/>
          <p:cNvSpPr/>
          <p:nvPr/>
        </p:nvSpPr>
        <p:spPr>
          <a:xfrm rot="5400000" flipV="1">
            <a:off x="6577573" y="4854889"/>
            <a:ext cx="2142210" cy="185710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374" h="2925">
                <a:moveTo>
                  <a:pt x="1693" y="0"/>
                </a:moveTo>
                <a:lnTo>
                  <a:pt x="3374" y="962"/>
                </a:lnTo>
                <a:lnTo>
                  <a:pt x="3374" y="2925"/>
                </a:lnTo>
                <a:lnTo>
                  <a:pt x="0" y="994"/>
                </a:lnTo>
                <a:lnTo>
                  <a:pt x="1693" y="0"/>
                </a:lnTo>
                <a:close/>
              </a:path>
            </a:pathLst>
          </a:custGeom>
          <a:gradFill>
            <a:gsLst>
              <a:gs pos="68000">
                <a:schemeClr val="tx1"/>
              </a:gs>
              <a:gs pos="57000">
                <a:schemeClr val="tx1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cs typeface="+mn-cs"/>
            </a:endParaRPr>
          </a:p>
        </p:txBody>
      </p:sp>
      <p:sp>
        <p:nvSpPr>
          <p:cNvPr id="3" name="副标题 14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913948" y="3822644"/>
            <a:ext cx="2974079" cy="749740"/>
          </a:xfrm>
          <a:prstGeom prst="rect">
            <a:avLst/>
          </a:prstGeom>
          <a:effectLst/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400" b="0" i="0" u="none" strike="noStrike" kern="1200" cap="none" spc="150" normalizeH="0" baseline="0" noProof="1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雅酷黑-95J" panose="00020600040101010101" charset="-122"/>
                <a:sym typeface="+mn-ea"/>
              </a:rPr>
              <a:t>THANKS   </a:t>
            </a:r>
            <a:endParaRPr kumimoji="0" lang="en-US" altLang="zh-CN" sz="4400" b="0" i="0" u="none" strike="noStrike" kern="1200" cap="none" spc="150" normalizeH="0" baseline="0" noProof="1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-95J" panose="0002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26660" y="2909818"/>
            <a:ext cx="2991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36EA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君黑-45简" panose="020B0604020202020204" charset="-122"/>
              </a:rPr>
              <a:t>谢  谢！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236EA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君黑-45简" panose="020B0604020202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38" y="371394"/>
            <a:ext cx="2504128" cy="510696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AICARD_INVALID" val="Invalid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AICARD_INVALID" val="Invalid"/>
</p:tagLst>
</file>

<file path=ppt/tags/tag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1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2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3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4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5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1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1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2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3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4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5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6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7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8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29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4.1}"/>
</p:tagLst>
</file>

<file path=ppt/tags/tag30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31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32.xml><?xml version="1.0" encoding="utf-8"?>
<p:tagLst xmlns:p="http://schemas.openxmlformats.org/presentationml/2006/main">
  <p:tag name="KSO_WM_DIAGRAM_VIRTUALLY_FRAME" val="{&quot;height&quot;:317.06267716535433,&quot;left&quot;:36.55,&quot;top&quot;:165.04086614173227,&quot;width&quot;:832.95}"/>
</p:tagLst>
</file>

<file path=ppt/tags/tag33.xml><?xml version="1.0" encoding="utf-8"?>
<p:tagLst xmlns:p="http://schemas.openxmlformats.org/presentationml/2006/main">
  <p:tag name="KSO_WM_AICARD_INVALID" val="Invalid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AICARD_INVALID" val="Invalid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AICARD_INVALID" val="Invalid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AICARD_INVALID" val="Invalid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DIAGRAM_VIRTUALLY_FRAME" val="{&quot;height&quot;:350.7,&quot;left&quot;:37.7,&quot;top&quot;:55.5,&quot;width&quot;:866.3}"/>
</p:tagLst>
</file>

<file path=ppt/tags/tag43.xml><?xml version="1.0" encoding="utf-8"?>
<p:tagLst xmlns:p="http://schemas.openxmlformats.org/presentationml/2006/main">
  <p:tag name="KSO_WM_DIAGRAM_VIRTUALLY_FRAME" val="{&quot;height&quot;:350.7,&quot;left&quot;:37.7,&quot;top&quot;:55.5,&quot;width&quot;:866.3}"/>
</p:tagLst>
</file>

<file path=ppt/tags/tag44.xml><?xml version="1.0" encoding="utf-8"?>
<p:tagLst xmlns:p="http://schemas.openxmlformats.org/presentationml/2006/main">
  <p:tag name="KSO_WM_DIAGRAM_VIRTUALLY_FRAME" val="{&quot;height&quot;:350.7,&quot;left&quot;:37.7,&quot;top&quot;:55.5,&quot;width&quot;:866.3}"/>
</p:tagLst>
</file>

<file path=ppt/tags/tag45.xml><?xml version="1.0" encoding="utf-8"?>
<p:tagLst xmlns:p="http://schemas.openxmlformats.org/presentationml/2006/main">
  <p:tag name="KSO_WM_DIAGRAM_VIRTUALLY_FRAME" val="{&quot;height&quot;:350.7,&quot;left&quot;:37.7,&quot;top&quot;:55.5,&quot;width&quot;:866.3}"/>
</p:tagLst>
</file>

<file path=ppt/tags/tag46.xml><?xml version="1.0" encoding="utf-8"?>
<p:tagLst xmlns:p="http://schemas.openxmlformats.org/presentationml/2006/main">
  <p:tag name="KSO_WM_DIAGRAM_VIRTUALLY_FRAME" val="{&quot;height&quot;:350.7,&quot;left&quot;:37.7,&quot;top&quot;:55.5,&quot;width&quot;:866.3}"/>
</p:tagLst>
</file>

<file path=ppt/tags/tag47.xml><?xml version="1.0" encoding="utf-8"?>
<p:tagLst xmlns:p="http://schemas.openxmlformats.org/presentationml/2006/main">
  <p:tag name="KSO_WM_AICARD_INVALID" val="Invalid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AICARD_INVALID" val="Invalid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AICARD_INVALID" val="Invalid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AICARD_INVALID" val="Invalid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AICARD_INVALID" val="Invalid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AICARD_INVALID" val="Invalid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AICARD_INVALID" val="Invalid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AICARD_INVALID" val="Invalid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AICARD_INVALID" val="Invalid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AICARD_INVALID" val="Invalid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AICARD_INVALID" val="Invalid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AICARD_INVALID" val="Invalid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AICARD_INVALID" val="Invalid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AICARD_INVALID" val="Invalid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AICARD_INVALID" val="Invalid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AICARD_INVALID" val="Invalid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AICARD_INVALID" val="Invalid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AICARD_INVALID" val="Invalid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AICARD_INVALID" val="Invalid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AICARD_INVALID" val="Invalid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AICARD_INVALID" val="Invalid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AICARD_INVALID" val="Invalid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AICARD_INVALID" val="Invalid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AICARD_INVALID" val="Invalid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AICARD_INVALID" val="Invalid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AICARD_INVALID" val="Invalid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AICARD_INVALID" val="Invalid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AICARD_INVALID" val="Invalid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heme/theme1.xml><?xml version="1.0" encoding="utf-8"?>
<a:theme xmlns:a="http://schemas.openxmlformats.org/drawingml/2006/main" name="1_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5617</Words>
  <Application>WPS 演示</Application>
  <PresentationFormat>宽屏</PresentationFormat>
  <Paragraphs>639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65</vt:i4>
      </vt:variant>
    </vt:vector>
  </HeadingPairs>
  <TitlesOfParts>
    <vt:vector size="93" baseType="lpstr">
      <vt:lpstr>Arial</vt:lpstr>
      <vt:lpstr>宋体</vt:lpstr>
      <vt:lpstr>Wingdings</vt:lpstr>
      <vt:lpstr>微软雅黑</vt:lpstr>
      <vt:lpstr>汉仪君黑-45简</vt:lpstr>
      <vt:lpstr>Wingdings</vt:lpstr>
      <vt:lpstr>汉仪雅酷黑-95J</vt:lpstr>
      <vt:lpstr>黑体</vt:lpstr>
      <vt:lpstr>Calibri</vt:lpstr>
      <vt:lpstr>Heiti SC Light</vt:lpstr>
      <vt:lpstr>Source Han Sans CN Medium</vt:lpstr>
      <vt:lpstr>WeibeiSC-Bold</vt:lpstr>
      <vt:lpstr>Helvetica</vt:lpstr>
      <vt:lpstr>Calibri</vt:lpstr>
      <vt:lpstr>Libian SC Regular</vt:lpstr>
      <vt:lpstr>等线</vt:lpstr>
      <vt:lpstr>Wingdings</vt:lpstr>
      <vt:lpstr>汉仪雅酷黑-65J</vt:lpstr>
      <vt:lpstr>黑体-简</vt:lpstr>
      <vt:lpstr>Arial Unicode MS</vt:lpstr>
      <vt:lpstr>Franklin Gothic Book</vt:lpstr>
      <vt:lpstr>Arial Black</vt:lpstr>
      <vt:lpstr>Segoe Print</vt:lpstr>
      <vt:lpstr>Franklin Gothic Medium</vt:lpstr>
      <vt:lpstr>隶书</vt:lpstr>
      <vt:lpstr>1_WPS​​</vt:lpstr>
      <vt:lpstr>自定义设计方案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郑亚强</cp:lastModifiedBy>
  <cp:revision>10</cp:revision>
  <dcterms:created xsi:type="dcterms:W3CDTF">2023-08-09T12:44:00Z</dcterms:created>
  <dcterms:modified xsi:type="dcterms:W3CDTF">2026-10-10T08:32:00Z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2052-12.8.2.20324</vt:lpwstr>
  </property>
  <property fmtid="{D5CDD505-2E9C-101B-9397-08002B2CF9AE}" pid="3" name="ICV">
    <vt:lpwstr>16F5CF91D6374F58A4BC9B62D4B3AD9B_13</vt:lpwstr>
  </property>
</Properties>
</file>